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Lst>
  <p:notesMasterIdLst>
    <p:notesMasterId r:id="rId42"/>
  </p:notesMasterIdLst>
  <p:sldIdLst>
    <p:sldId id="256" r:id="rId2"/>
    <p:sldId id="310" r:id="rId3"/>
    <p:sldId id="313" r:id="rId4"/>
    <p:sldId id="319" r:id="rId5"/>
    <p:sldId id="347" r:id="rId6"/>
    <p:sldId id="311" r:id="rId7"/>
    <p:sldId id="346" r:id="rId8"/>
    <p:sldId id="348" r:id="rId9"/>
    <p:sldId id="314" r:id="rId10"/>
    <p:sldId id="334" r:id="rId11"/>
    <p:sldId id="335" r:id="rId12"/>
    <p:sldId id="320" r:id="rId13"/>
    <p:sldId id="321" r:id="rId14"/>
    <p:sldId id="322" r:id="rId15"/>
    <p:sldId id="323" r:id="rId16"/>
    <p:sldId id="338" r:id="rId17"/>
    <p:sldId id="340" r:id="rId18"/>
    <p:sldId id="339" r:id="rId19"/>
    <p:sldId id="341" r:id="rId20"/>
    <p:sldId id="325" r:id="rId21"/>
    <p:sldId id="343" r:id="rId22"/>
    <p:sldId id="342" r:id="rId23"/>
    <p:sldId id="344" r:id="rId24"/>
    <p:sldId id="327" r:id="rId25"/>
    <p:sldId id="345" r:id="rId26"/>
    <p:sldId id="352" r:id="rId27"/>
    <p:sldId id="326" r:id="rId28"/>
    <p:sldId id="350" r:id="rId29"/>
    <p:sldId id="353" r:id="rId30"/>
    <p:sldId id="328" r:id="rId31"/>
    <p:sldId id="351" r:id="rId32"/>
    <p:sldId id="354" r:id="rId33"/>
    <p:sldId id="336" r:id="rId34"/>
    <p:sldId id="329" r:id="rId35"/>
    <p:sldId id="337" r:id="rId36"/>
    <p:sldId id="330" r:id="rId37"/>
    <p:sldId id="331" r:id="rId38"/>
    <p:sldId id="332" r:id="rId39"/>
    <p:sldId id="333" r:id="rId40"/>
    <p:sldId id="355" r:id="rId4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81" d="100"/>
          <a:sy n="81" d="100"/>
        </p:scale>
        <p:origin x="1498" y="67"/>
      </p:cViewPr>
      <p:guideLst>
        <p:guide orient="horz" pos="2160"/>
        <p:guide pos="2880"/>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页眉占位符 3073">
            <a:extLst>
              <a:ext uri="{FF2B5EF4-FFF2-40B4-BE49-F238E27FC236}">
                <a16:creationId xmlns:a16="http://schemas.microsoft.com/office/drawing/2014/main" id="{8E22AB4F-7108-4D63-8902-F084C139C1B1}"/>
              </a:ext>
            </a:extLst>
          </p:cNvPr>
          <p:cNvSpPr>
            <a:spLocks noGrp="1"/>
          </p:cNvSpPr>
          <p:nvPr>
            <p:ph type="hdr" sz="quarter"/>
          </p:nvPr>
        </p:nvSpPr>
        <p:spPr>
          <a:xfrm>
            <a:off x="0" y="0"/>
            <a:ext cx="2971800" cy="457200"/>
          </a:xfrm>
          <a:prstGeom prst="rect">
            <a:avLst/>
          </a:prstGeom>
          <a:noFill/>
          <a:ln w="9525">
            <a:noFill/>
          </a:ln>
        </p:spPr>
        <p:txBody>
          <a:bodyPr vert="horz" wrap="square" lIns="91440" tIns="45720" rIns="91440" bIns="45720" numCol="1" anchor="t" anchorCtr="0" compatLnSpc="1">
            <a:prstTxWarp prst="textNoShape">
              <a:avLst/>
            </a:prstTxWarp>
          </a:bodyPr>
          <a:lstStyle>
            <a:lvl1pPr eaLnBrk="1" hangingPunct="1">
              <a:buFont typeface="Arial" panose="020B0604020202020204" pitchFamily="34" charset="0"/>
              <a:buNone/>
              <a:defRPr sz="1200"/>
            </a:lvl1pPr>
          </a:lstStyle>
          <a:p>
            <a:endParaRPr lang="en-US" altLang="en-US"/>
          </a:p>
        </p:txBody>
      </p:sp>
      <p:sp>
        <p:nvSpPr>
          <p:cNvPr id="3075" name="日期占位符 3074">
            <a:extLst>
              <a:ext uri="{FF2B5EF4-FFF2-40B4-BE49-F238E27FC236}">
                <a16:creationId xmlns:a16="http://schemas.microsoft.com/office/drawing/2014/main" id="{15328D59-FBE1-4FA4-BDD9-6FC5513A145E}"/>
              </a:ext>
            </a:extLst>
          </p:cNvPr>
          <p:cNvSpPr>
            <a:spLocks noGrp="1"/>
          </p:cNvSpPr>
          <p:nvPr>
            <p:ph type="dt" idx="1"/>
          </p:nvPr>
        </p:nvSpPr>
        <p:spPr>
          <a:xfrm>
            <a:off x="3884613" y="0"/>
            <a:ext cx="2971800" cy="457200"/>
          </a:xfrm>
          <a:prstGeom prst="rect">
            <a:avLst/>
          </a:prstGeom>
          <a:noFill/>
          <a:ln w="9525">
            <a:noFill/>
          </a:ln>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vl1pPr>
          </a:lstStyle>
          <a:p>
            <a:endParaRPr lang="en-US" altLang="en-US"/>
          </a:p>
        </p:txBody>
      </p:sp>
      <p:sp>
        <p:nvSpPr>
          <p:cNvPr id="3076" name="幻灯片图像占位符 3075">
            <a:extLst>
              <a:ext uri="{FF2B5EF4-FFF2-40B4-BE49-F238E27FC236}">
                <a16:creationId xmlns:a16="http://schemas.microsoft.com/office/drawing/2014/main" id="{4D260971-A7B9-4967-822D-E225D3B383B6}"/>
              </a:ext>
            </a:extLst>
          </p:cNvPr>
          <p:cNvSpPr>
            <a:spLocks noGrp="1" noRot="1" noChangeAspect="1" noChangeArrowheads="1"/>
          </p:cNvSpPr>
          <p:nvPr>
            <p:ph type="sldImg" idx="4294967295"/>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文本占位符 3076">
            <a:extLst>
              <a:ext uri="{FF2B5EF4-FFF2-40B4-BE49-F238E27FC236}">
                <a16:creationId xmlns:a16="http://schemas.microsoft.com/office/drawing/2014/main" id="{D2C797B8-9931-4BCC-910C-EF3E724AEE1C}"/>
              </a:ext>
            </a:extLst>
          </p:cNvPr>
          <p:cNvSpPr>
            <a:spLocks noGrp="1" noRot="1" noChangeArrowheads="1"/>
          </p:cNvSpPr>
          <p:nvPr>
            <p:ph type="body" sz="quarter" idx="4294967295"/>
          </p:nvPr>
        </p:nvSpPr>
        <p:spPr bwMode="auto">
          <a:xfrm>
            <a:off x="685800" y="4343400"/>
            <a:ext cx="5486400" cy="4114800"/>
          </a:xfrm>
          <a:prstGeom prst="rect">
            <a:avLst/>
          </a:prstGeom>
          <a:noFill/>
          <a:ln>
            <a:noFill/>
          </a:ln>
        </p:spPr>
        <p:txBody>
          <a:bodyPr vert="horz" wrap="square" lIns="91440" tIns="45720" rIns="91440" bIns="45720" numCol="1" anchor="ctr"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078" name="页脚占位符 3077">
            <a:extLst>
              <a:ext uri="{FF2B5EF4-FFF2-40B4-BE49-F238E27FC236}">
                <a16:creationId xmlns:a16="http://schemas.microsoft.com/office/drawing/2014/main" id="{5052B142-7C23-4D40-B0DE-4147DCF8413D}"/>
              </a:ext>
            </a:extLst>
          </p:cNvPr>
          <p:cNvSpPr>
            <a:spLocks noGrp="1"/>
          </p:cNvSpPr>
          <p:nvPr>
            <p:ph type="ftr" sz="quarter" idx="4"/>
          </p:nvPr>
        </p:nvSpPr>
        <p:spPr>
          <a:xfrm>
            <a:off x="0" y="8685213"/>
            <a:ext cx="2971800" cy="457200"/>
          </a:xfrm>
          <a:prstGeom prst="rect">
            <a:avLst/>
          </a:prstGeom>
          <a:noFill/>
          <a:ln w="9525">
            <a:noFill/>
          </a:ln>
        </p:spPr>
        <p:txBody>
          <a:bodyPr vert="horz" wrap="square" lIns="91440" tIns="45720" rIns="91440" bIns="45720" numCol="1" anchor="b" anchorCtr="0" compatLnSpc="1">
            <a:prstTxWarp prst="textNoShape">
              <a:avLst/>
            </a:prstTxWarp>
          </a:bodyPr>
          <a:lstStyle>
            <a:lvl1pPr eaLnBrk="1" hangingPunct="1">
              <a:buFont typeface="Arial" panose="020B0604020202020204" pitchFamily="34" charset="0"/>
              <a:buNone/>
              <a:defRPr sz="1200"/>
            </a:lvl1pPr>
          </a:lstStyle>
          <a:p>
            <a:endParaRPr lang="en-US" altLang="en-US"/>
          </a:p>
        </p:txBody>
      </p:sp>
      <p:sp>
        <p:nvSpPr>
          <p:cNvPr id="3079" name="灯片编号占位符 3078">
            <a:extLst>
              <a:ext uri="{FF2B5EF4-FFF2-40B4-BE49-F238E27FC236}">
                <a16:creationId xmlns:a16="http://schemas.microsoft.com/office/drawing/2014/main" id="{F55F25D3-DAAA-424D-8F2F-DAB33A418824}"/>
              </a:ext>
            </a:extLst>
          </p:cNvPr>
          <p:cNvSpPr>
            <a:spLocks noGrp="1"/>
          </p:cNvSpPr>
          <p:nvPr>
            <p:ph type="sldNum" sz="quarter" idx="5"/>
          </p:nvPr>
        </p:nvSpPr>
        <p:spPr>
          <a:xfrm>
            <a:off x="3884613" y="8685213"/>
            <a:ext cx="2971800" cy="457200"/>
          </a:xfrm>
          <a:prstGeom prst="rect">
            <a:avLst/>
          </a:prstGeom>
          <a:noFill/>
          <a:ln w="9525">
            <a:noFill/>
          </a:ln>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a:lvl1pPr>
          </a:lstStyle>
          <a:p>
            <a:fld id="{28A9C768-8852-4CD6-A8FF-8010131A9099}"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buFont typeface="Arial" panose="020B0604020202020204" pitchFamily="34" charset="0"/>
      <a:defRPr sz="1200" kern="1200">
        <a:solidFill>
          <a:schemeClr val="tx1"/>
        </a:solidFill>
        <a:latin typeface="Arial" panose="020B0604020202020204" pitchFamily="34" charset="0"/>
        <a:ea typeface="Arial" panose="020B0604020202020204" pitchFamily="34" charset="0"/>
        <a:cs typeface="Arial" panose="020B0604020202020204" pitchFamily="34" charset="0"/>
      </a:defRPr>
    </a:lvl1pPr>
    <a:lvl2pPr marL="457200" lvl="1" algn="l" rtl="0" eaLnBrk="0" fontAlgn="base" hangingPunct="0">
      <a:spcBef>
        <a:spcPct val="30000"/>
      </a:spcBef>
      <a:spcAft>
        <a:spcPct val="0"/>
      </a:spcAft>
      <a:buFont typeface="Arial" panose="020B0604020202020204" pitchFamily="34" charset="0"/>
      <a:defRPr sz="1200" kern="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914400" lvl="2" algn="l" rtl="0" eaLnBrk="0" fontAlgn="base" hangingPunct="0">
      <a:spcBef>
        <a:spcPct val="30000"/>
      </a:spcBef>
      <a:spcAft>
        <a:spcPct val="0"/>
      </a:spcAft>
      <a:buFont typeface="Arial" panose="020B0604020202020204" pitchFamily="34" charset="0"/>
      <a:defRPr sz="1200" kern="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371600" lvl="3" algn="l" rtl="0" eaLnBrk="0" fontAlgn="base" hangingPunct="0">
      <a:spcBef>
        <a:spcPct val="30000"/>
      </a:spcBef>
      <a:spcAft>
        <a:spcPct val="0"/>
      </a:spcAft>
      <a:buFont typeface="Arial" panose="020B0604020202020204" pitchFamily="34" charset="0"/>
      <a:defRPr sz="1200" kern="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828800" lvl="4" algn="l" rtl="0" eaLnBrk="0" fontAlgn="base" hangingPunct="0">
      <a:spcBef>
        <a:spcPct val="30000"/>
      </a:spcBef>
      <a:spcAft>
        <a:spcPct val="0"/>
      </a:spcAft>
      <a:buFont typeface="Arial" panose="020B0604020202020204" pitchFamily="34" charset="0"/>
      <a:defRPr sz="1200" kern="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9DC6F7EA-CEAB-4547-94FC-232A63DC0CCD}"/>
              </a:ext>
            </a:extLst>
          </p:cNvPr>
          <p:cNvSpPr>
            <a:spLocks noGrp="1" noRot="1" noChangeAspect="1" noChangeArrowheads="1" noTextEdit="1"/>
          </p:cNvSpPr>
          <p:nvPr>
            <p:ph type="sldImg"/>
          </p:nvPr>
        </p:nvSpPr>
        <p:spPr/>
      </p:sp>
      <p:sp>
        <p:nvSpPr>
          <p:cNvPr id="8195" name="备注占位符 2">
            <a:extLst>
              <a:ext uri="{FF2B5EF4-FFF2-40B4-BE49-F238E27FC236}">
                <a16:creationId xmlns:a16="http://schemas.microsoft.com/office/drawing/2014/main" id="{81688AEE-358F-4F58-9625-3369B708CA2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ea typeface="宋体" panose="02010600030101010101" pitchFamily="2" charset="-122"/>
            </a:endParaRPr>
          </a:p>
        </p:txBody>
      </p:sp>
      <p:sp>
        <p:nvSpPr>
          <p:cNvPr id="8196" name="灯片编号占位符 3">
            <a:extLst>
              <a:ext uri="{FF2B5EF4-FFF2-40B4-BE49-F238E27FC236}">
                <a16:creationId xmlns:a16="http://schemas.microsoft.com/office/drawing/2014/main" id="{E0188CC0-DC9E-4543-AC83-3BE53AB7D31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cs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cs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cs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fld id="{F726E48A-DC4E-42FF-B18A-41B96B7995BA}" type="slidenum">
              <a:rPr lang="en-US" altLang="en-US"/>
              <a:pPr/>
              <a:t>8</a:t>
            </a:fld>
            <a:endParaRPr lang="en-US" altLang="en-US"/>
          </a:p>
        </p:txBody>
      </p:sp>
    </p:spTree>
    <p:extLst>
      <p:ext uri="{BB962C8B-B14F-4D97-AF65-F5344CB8AC3E}">
        <p14:creationId xmlns:p14="http://schemas.microsoft.com/office/powerpoint/2010/main" val="1095114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9DC6F7EA-CEAB-4547-94FC-232A63DC0CCD}"/>
              </a:ext>
            </a:extLst>
          </p:cNvPr>
          <p:cNvSpPr>
            <a:spLocks noGrp="1" noRot="1" noChangeAspect="1" noChangeArrowheads="1" noTextEdit="1"/>
          </p:cNvSpPr>
          <p:nvPr>
            <p:ph type="sldImg"/>
          </p:nvPr>
        </p:nvSpPr>
        <p:spPr/>
      </p:sp>
      <p:sp>
        <p:nvSpPr>
          <p:cNvPr id="8195" name="备注占位符 2">
            <a:extLst>
              <a:ext uri="{FF2B5EF4-FFF2-40B4-BE49-F238E27FC236}">
                <a16:creationId xmlns:a16="http://schemas.microsoft.com/office/drawing/2014/main" id="{81688AEE-358F-4F58-9625-3369B708CA2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ea typeface="宋体" panose="02010600030101010101" pitchFamily="2" charset="-122"/>
            </a:endParaRPr>
          </a:p>
        </p:txBody>
      </p:sp>
      <p:sp>
        <p:nvSpPr>
          <p:cNvPr id="8196" name="灯片编号占位符 3">
            <a:extLst>
              <a:ext uri="{FF2B5EF4-FFF2-40B4-BE49-F238E27FC236}">
                <a16:creationId xmlns:a16="http://schemas.microsoft.com/office/drawing/2014/main" id="{E0188CC0-DC9E-4543-AC83-3BE53AB7D31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cs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cs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cs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fld id="{F726E48A-DC4E-42FF-B18A-41B96B7995BA}" type="slidenum">
              <a:rPr lang="en-US" altLang="en-US"/>
              <a:pPr/>
              <a:t>9</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9DC6F7EA-CEAB-4547-94FC-232A63DC0CCD}"/>
              </a:ext>
            </a:extLst>
          </p:cNvPr>
          <p:cNvSpPr>
            <a:spLocks noGrp="1" noRot="1" noChangeAspect="1" noChangeArrowheads="1" noTextEdit="1"/>
          </p:cNvSpPr>
          <p:nvPr>
            <p:ph type="sldImg"/>
          </p:nvPr>
        </p:nvSpPr>
        <p:spPr/>
      </p:sp>
      <p:sp>
        <p:nvSpPr>
          <p:cNvPr id="8195" name="备注占位符 2">
            <a:extLst>
              <a:ext uri="{FF2B5EF4-FFF2-40B4-BE49-F238E27FC236}">
                <a16:creationId xmlns:a16="http://schemas.microsoft.com/office/drawing/2014/main" id="{81688AEE-358F-4F58-9625-3369B708CA2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ea typeface="宋体" panose="02010600030101010101" pitchFamily="2" charset="-122"/>
            </a:endParaRPr>
          </a:p>
        </p:txBody>
      </p:sp>
      <p:sp>
        <p:nvSpPr>
          <p:cNvPr id="8196" name="灯片编号占位符 3">
            <a:extLst>
              <a:ext uri="{FF2B5EF4-FFF2-40B4-BE49-F238E27FC236}">
                <a16:creationId xmlns:a16="http://schemas.microsoft.com/office/drawing/2014/main" id="{E0188CC0-DC9E-4543-AC83-3BE53AB7D31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cs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cs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cs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fld id="{F726E48A-DC4E-42FF-B18A-41B96B7995BA}" type="slidenum">
              <a:rPr lang="en-US" altLang="en-US"/>
              <a:pPr/>
              <a:t>10</a:t>
            </a:fld>
            <a:endParaRPr lang="en-US" altLang="en-US"/>
          </a:p>
        </p:txBody>
      </p:sp>
    </p:spTree>
    <p:extLst>
      <p:ext uri="{BB962C8B-B14F-4D97-AF65-F5344CB8AC3E}">
        <p14:creationId xmlns:p14="http://schemas.microsoft.com/office/powerpoint/2010/main" val="1674040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9DC6F7EA-CEAB-4547-94FC-232A63DC0CCD}"/>
              </a:ext>
            </a:extLst>
          </p:cNvPr>
          <p:cNvSpPr>
            <a:spLocks noGrp="1" noRot="1" noChangeAspect="1" noChangeArrowheads="1" noTextEdit="1"/>
          </p:cNvSpPr>
          <p:nvPr>
            <p:ph type="sldImg"/>
          </p:nvPr>
        </p:nvSpPr>
        <p:spPr/>
      </p:sp>
      <p:sp>
        <p:nvSpPr>
          <p:cNvPr id="8195" name="备注占位符 2">
            <a:extLst>
              <a:ext uri="{FF2B5EF4-FFF2-40B4-BE49-F238E27FC236}">
                <a16:creationId xmlns:a16="http://schemas.microsoft.com/office/drawing/2014/main" id="{81688AEE-358F-4F58-9625-3369B708CA2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ea typeface="宋体" panose="02010600030101010101" pitchFamily="2" charset="-122"/>
            </a:endParaRPr>
          </a:p>
        </p:txBody>
      </p:sp>
      <p:sp>
        <p:nvSpPr>
          <p:cNvPr id="8196" name="灯片编号占位符 3">
            <a:extLst>
              <a:ext uri="{FF2B5EF4-FFF2-40B4-BE49-F238E27FC236}">
                <a16:creationId xmlns:a16="http://schemas.microsoft.com/office/drawing/2014/main" id="{E0188CC0-DC9E-4543-AC83-3BE53AB7D31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cs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cs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cs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fld id="{F726E48A-DC4E-42FF-B18A-41B96B7995BA}" type="slidenum">
              <a:rPr lang="en-US" altLang="en-US"/>
              <a:pPr/>
              <a:t>11</a:t>
            </a:fld>
            <a:endParaRPr lang="en-US" altLang="en-US"/>
          </a:p>
        </p:txBody>
      </p:sp>
    </p:spTree>
    <p:extLst>
      <p:ext uri="{BB962C8B-B14F-4D97-AF65-F5344CB8AC3E}">
        <p14:creationId xmlns:p14="http://schemas.microsoft.com/office/powerpoint/2010/main" val="17717456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&lt;v0,b&gt;</a:t>
            </a:r>
            <a:r>
              <a:rPr lang="zh-CN" altLang="en-US" dirty="0"/>
              <a:t>和</a:t>
            </a:r>
            <a:r>
              <a:rPr lang="en-US" altLang="zh-CN" dirty="0"/>
              <a:t>&lt;v1,b&gt;</a:t>
            </a:r>
            <a:r>
              <a:rPr lang="zh-CN" altLang="en-US" dirty="0"/>
              <a:t>、</a:t>
            </a:r>
            <a:r>
              <a:rPr lang="en-US" altLang="zh-CN" dirty="0"/>
              <a:t>&lt;v2,b&gt;</a:t>
            </a:r>
            <a:r>
              <a:rPr lang="zh-CN" altLang="en-US" dirty="0"/>
              <a:t>可共享，不能和</a:t>
            </a:r>
            <a:r>
              <a:rPr lang="en-US" altLang="zh-CN" dirty="0"/>
              <a:t>&lt;v3,b&gt;</a:t>
            </a:r>
            <a:r>
              <a:rPr lang="zh-CN" altLang="en-US" dirty="0"/>
              <a:t>共享。</a:t>
            </a:r>
          </a:p>
        </p:txBody>
      </p:sp>
      <p:sp>
        <p:nvSpPr>
          <p:cNvPr id="4" name="灯片编号占位符 3"/>
          <p:cNvSpPr>
            <a:spLocks noGrp="1"/>
          </p:cNvSpPr>
          <p:nvPr>
            <p:ph type="sldNum" sz="quarter" idx="5"/>
          </p:nvPr>
        </p:nvSpPr>
        <p:spPr/>
        <p:txBody>
          <a:bodyPr/>
          <a:lstStyle/>
          <a:p>
            <a:fld id="{28A9C768-8852-4CD6-A8FF-8010131A9099}" type="slidenum">
              <a:rPr lang="en-US" altLang="en-US" smtClean="0"/>
              <a:pPr/>
              <a:t>18</a:t>
            </a:fld>
            <a:endParaRPr lang="en-US" altLang="en-US"/>
          </a:p>
        </p:txBody>
      </p:sp>
    </p:spTree>
    <p:extLst>
      <p:ext uri="{BB962C8B-B14F-4D97-AF65-F5344CB8AC3E}">
        <p14:creationId xmlns:p14="http://schemas.microsoft.com/office/powerpoint/2010/main" val="677097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8A9C768-8852-4CD6-A8FF-8010131A9099}" type="slidenum">
              <a:rPr lang="en-US" altLang="en-US" smtClean="0"/>
              <a:pPr/>
              <a:t>22</a:t>
            </a:fld>
            <a:endParaRPr lang="en-US" altLang="en-US"/>
          </a:p>
        </p:txBody>
      </p:sp>
    </p:spTree>
    <p:extLst>
      <p:ext uri="{BB962C8B-B14F-4D97-AF65-F5344CB8AC3E}">
        <p14:creationId xmlns:p14="http://schemas.microsoft.com/office/powerpoint/2010/main" val="3610176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spTree>
      <p:nvGrpSpPr>
        <p:cNvPr id="1" name=""/>
        <p:cNvGrpSpPr/>
        <p:nvPr/>
      </p:nvGrpSpPr>
      <p:grpSpPr>
        <a:xfrm>
          <a:off x="0" y="0"/>
          <a:ext cx="0" cy="0"/>
          <a:chOff x="0" y="0"/>
          <a:chExt cx="0" cy="0"/>
        </a:xfrm>
      </p:grpSpPr>
      <p:sp>
        <p:nvSpPr>
          <p:cNvPr id="4" name="任意多边形 2052">
            <a:extLst>
              <a:ext uri="{FF2B5EF4-FFF2-40B4-BE49-F238E27FC236}">
                <a16:creationId xmlns:a16="http://schemas.microsoft.com/office/drawing/2014/main" id="{2820C548-80B6-46A5-84A9-3E26B953B7D9}"/>
              </a:ext>
            </a:extLst>
          </p:cNvPr>
          <p:cNvSpPr>
            <a:spLocks noChangeArrowheads="1"/>
          </p:cNvSpPr>
          <p:nvPr/>
        </p:nvSpPr>
        <p:spPr bwMode="auto">
          <a:xfrm>
            <a:off x="609600" y="1219200"/>
            <a:ext cx="7924800" cy="9144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25400">
            <a:solidFill>
              <a:schemeClr val="accent1"/>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None/>
              <a:defRPr/>
            </a:pPr>
            <a:endParaRPr lang="zh-CN" altLang="en-US">
              <a:ea typeface="宋体" panose="02010600030101010101" pitchFamily="2" charset="-122"/>
            </a:endParaRPr>
          </a:p>
        </p:txBody>
      </p:sp>
      <p:sp>
        <p:nvSpPr>
          <p:cNvPr id="5" name="直接连接符 2053">
            <a:extLst>
              <a:ext uri="{FF2B5EF4-FFF2-40B4-BE49-F238E27FC236}">
                <a16:creationId xmlns:a16="http://schemas.microsoft.com/office/drawing/2014/main" id="{8E2542C6-15C3-4737-8707-6B92D3F923B4}"/>
              </a:ext>
            </a:extLst>
          </p:cNvPr>
          <p:cNvSpPr>
            <a:spLocks noChangeShapeType="1"/>
          </p:cNvSpPr>
          <p:nvPr/>
        </p:nvSpPr>
        <p:spPr bwMode="auto">
          <a:xfrm>
            <a:off x="1981200" y="3962400"/>
            <a:ext cx="6511925"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 name="标题 2049"/>
          <p:cNvSpPr>
            <a:spLocks noGrp="1"/>
          </p:cNvSpPr>
          <p:nvPr>
            <p:ph type="ctrTitle"/>
          </p:nvPr>
        </p:nvSpPr>
        <p:spPr>
          <a:xfrm>
            <a:off x="914400" y="1524000"/>
            <a:ext cx="7623175" cy="1752600"/>
          </a:xfrm>
          <a:prstGeom prst="rect">
            <a:avLst/>
          </a:prstGeom>
          <a:noFill/>
          <a:ln w="9525">
            <a:noFill/>
          </a:ln>
        </p:spPr>
        <p:txBody>
          <a:bodyPr/>
          <a:lstStyle>
            <a:lvl1pPr lvl="0">
              <a:defRPr sz="5000" kern="1200"/>
            </a:lvl1pPr>
          </a:lstStyle>
          <a:p>
            <a:pPr lvl="0"/>
            <a:r>
              <a:rPr lang="en-US" altLang="zh-CN" noProof="1"/>
              <a:t>Click to edit Master title style</a:t>
            </a:r>
          </a:p>
        </p:txBody>
      </p:sp>
      <p:sp>
        <p:nvSpPr>
          <p:cNvPr id="2051" name="副标题 2050"/>
          <p:cNvSpPr>
            <a:spLocks noGrp="1"/>
          </p:cNvSpPr>
          <p:nvPr>
            <p:ph type="subTitle" idx="1"/>
          </p:nvPr>
        </p:nvSpPr>
        <p:spPr>
          <a:xfrm>
            <a:off x="1981200" y="3962400"/>
            <a:ext cx="6553200" cy="1752600"/>
          </a:xfrm>
          <a:prstGeom prst="rect">
            <a:avLst/>
          </a:prstGeom>
          <a:noFill/>
          <a:ln w="9525">
            <a:noFill/>
          </a:ln>
        </p:spPr>
        <p:txBody>
          <a:bodyPr/>
          <a:lstStyle>
            <a:lvl1pPr marL="0" lvl="0" indent="0">
              <a:buNone/>
              <a:defRPr sz="2800" kern="1200"/>
            </a:lvl1pPr>
            <a:lvl2pPr marL="344805" lvl="1" indent="-344805" algn="ctr">
              <a:buNone/>
              <a:defRPr sz="2800" kern="1200"/>
            </a:lvl2pPr>
            <a:lvl3pPr marL="671830" lvl="2" indent="-671830" algn="ctr">
              <a:buNone/>
              <a:defRPr sz="2800" kern="1200"/>
            </a:lvl3pPr>
            <a:lvl4pPr marL="1024255" lvl="3" indent="-1024255" algn="ctr">
              <a:buNone/>
              <a:defRPr sz="2800" kern="1200"/>
            </a:lvl4pPr>
            <a:lvl5pPr marL="1341755" lvl="4" indent="-1341755" algn="ctr">
              <a:buNone/>
              <a:defRPr sz="2800" kern="1200"/>
            </a:lvl5pPr>
          </a:lstStyle>
          <a:p>
            <a:pPr lvl="0"/>
            <a:r>
              <a:rPr lang="en-US" altLang="zh-CN" noProof="1"/>
              <a:t>Click to edit Master subtitle style</a:t>
            </a:r>
          </a:p>
        </p:txBody>
      </p:sp>
      <p:sp>
        <p:nvSpPr>
          <p:cNvPr id="6" name="灯片编号占位符 2051">
            <a:extLst>
              <a:ext uri="{FF2B5EF4-FFF2-40B4-BE49-F238E27FC236}">
                <a16:creationId xmlns:a16="http://schemas.microsoft.com/office/drawing/2014/main" id="{97321361-F3AC-4725-9615-A5F7D0D0C379}"/>
              </a:ext>
            </a:extLst>
          </p:cNvPr>
          <p:cNvSpPr>
            <a:spLocks noGrp="1"/>
          </p:cNvSpPr>
          <p:nvPr>
            <p:ph type="sldNum" sz="quarter" idx="10"/>
          </p:nvPr>
        </p:nvSpPr>
        <p:spPr/>
        <p:txBody>
          <a:bodyPr/>
          <a:lstStyle>
            <a:lvl1pPr>
              <a:defRPr/>
            </a:lvl1pPr>
          </a:lstStyle>
          <a:p>
            <a:fld id="{C816B708-5CB4-40FC-98D1-7E8370242471}" type="slidenum">
              <a:rPr lang="en-US" altLang="zh-CN"/>
              <a:pPr/>
              <a:t>‹#›</a:t>
            </a:fld>
            <a:endParaRPr lang="en-US" altLang="zh-CN"/>
          </a:p>
        </p:txBody>
      </p:sp>
    </p:spTree>
    <p:extLst>
      <p:ext uri="{BB962C8B-B14F-4D97-AF65-F5344CB8AC3E}">
        <p14:creationId xmlns:p14="http://schemas.microsoft.com/office/powerpoint/2010/main" val="3682086936"/>
      </p:ext>
    </p:extLst>
  </p:cSld>
  <p:clrMapOvr>
    <a:masterClrMapping/>
  </p:clrMapOvr>
  <p:hf sldNum="0"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1027">
            <a:extLst>
              <a:ext uri="{FF2B5EF4-FFF2-40B4-BE49-F238E27FC236}">
                <a16:creationId xmlns:a16="http://schemas.microsoft.com/office/drawing/2014/main" id="{9088C739-72C4-481F-93CC-0ACEBFB189FA}"/>
              </a:ext>
            </a:extLst>
          </p:cNvPr>
          <p:cNvSpPr>
            <a:spLocks noGrp="1"/>
          </p:cNvSpPr>
          <p:nvPr>
            <p:ph type="sldNum" sz="quarter" idx="10"/>
          </p:nvPr>
        </p:nvSpPr>
        <p:spPr>
          <a:ln/>
        </p:spPr>
        <p:txBody>
          <a:bodyPr/>
          <a:lstStyle>
            <a:lvl1pPr>
              <a:defRPr/>
            </a:lvl1pPr>
          </a:lstStyle>
          <a:p>
            <a:fld id="{188E9242-516B-4A4D-AEA9-AE3D9D506879}" type="slidenum">
              <a:rPr lang="en-US" altLang="zh-CN"/>
              <a:pPr/>
              <a:t>‹#›</a:t>
            </a:fld>
            <a:endParaRPr lang="en-US" altLang="zh-CN"/>
          </a:p>
        </p:txBody>
      </p:sp>
    </p:spTree>
    <p:extLst>
      <p:ext uri="{BB962C8B-B14F-4D97-AF65-F5344CB8AC3E}">
        <p14:creationId xmlns:p14="http://schemas.microsoft.com/office/powerpoint/2010/main" val="276997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灯片编号占位符 1027">
            <a:extLst>
              <a:ext uri="{FF2B5EF4-FFF2-40B4-BE49-F238E27FC236}">
                <a16:creationId xmlns:a16="http://schemas.microsoft.com/office/drawing/2014/main" id="{9D173040-13F0-46E6-A9C0-27C6E3DA2FAF}"/>
              </a:ext>
            </a:extLst>
          </p:cNvPr>
          <p:cNvSpPr>
            <a:spLocks noGrp="1"/>
          </p:cNvSpPr>
          <p:nvPr>
            <p:ph type="sldNum" sz="quarter" idx="10"/>
          </p:nvPr>
        </p:nvSpPr>
        <p:spPr>
          <a:ln/>
        </p:spPr>
        <p:txBody>
          <a:bodyPr/>
          <a:lstStyle>
            <a:lvl1pPr>
              <a:defRPr/>
            </a:lvl1pPr>
          </a:lstStyle>
          <a:p>
            <a:fld id="{E65D9FE7-301D-4710-A3DC-704CD1E96769}" type="slidenum">
              <a:rPr lang="en-US" altLang="zh-CN"/>
              <a:pPr/>
              <a:t>‹#›</a:t>
            </a:fld>
            <a:endParaRPr lang="en-US" altLang="zh-CN"/>
          </a:p>
        </p:txBody>
      </p:sp>
    </p:spTree>
    <p:extLst>
      <p:ext uri="{BB962C8B-B14F-4D97-AF65-F5344CB8AC3E}">
        <p14:creationId xmlns:p14="http://schemas.microsoft.com/office/powerpoint/2010/main" val="3844333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307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307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灯片编号占位符 1027">
            <a:extLst>
              <a:ext uri="{FF2B5EF4-FFF2-40B4-BE49-F238E27FC236}">
                <a16:creationId xmlns:a16="http://schemas.microsoft.com/office/drawing/2014/main" id="{819269D0-C5FC-46DC-9189-75624D636496}"/>
              </a:ext>
            </a:extLst>
          </p:cNvPr>
          <p:cNvSpPr>
            <a:spLocks noGrp="1"/>
          </p:cNvSpPr>
          <p:nvPr>
            <p:ph type="sldNum" sz="quarter" idx="10"/>
          </p:nvPr>
        </p:nvSpPr>
        <p:spPr>
          <a:ln/>
        </p:spPr>
        <p:txBody>
          <a:bodyPr/>
          <a:lstStyle>
            <a:lvl1pPr>
              <a:defRPr/>
            </a:lvl1pPr>
          </a:lstStyle>
          <a:p>
            <a:fld id="{5197FD61-2F5E-402C-827E-5E51810CB5BE}" type="slidenum">
              <a:rPr lang="en-US" altLang="zh-CN"/>
              <a:pPr/>
              <a:t>‹#›</a:t>
            </a:fld>
            <a:endParaRPr lang="en-US" altLang="zh-CN"/>
          </a:p>
        </p:txBody>
      </p:sp>
    </p:spTree>
    <p:extLst>
      <p:ext uri="{BB962C8B-B14F-4D97-AF65-F5344CB8AC3E}">
        <p14:creationId xmlns:p14="http://schemas.microsoft.com/office/powerpoint/2010/main" val="5494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灯片编号占位符 1027">
            <a:extLst>
              <a:ext uri="{FF2B5EF4-FFF2-40B4-BE49-F238E27FC236}">
                <a16:creationId xmlns:a16="http://schemas.microsoft.com/office/drawing/2014/main" id="{A9D0D123-5457-496E-9FCB-CE945EC8EE37}"/>
              </a:ext>
            </a:extLst>
          </p:cNvPr>
          <p:cNvSpPr>
            <a:spLocks noGrp="1"/>
          </p:cNvSpPr>
          <p:nvPr>
            <p:ph type="sldNum" sz="quarter" idx="10"/>
          </p:nvPr>
        </p:nvSpPr>
        <p:spPr>
          <a:ln/>
        </p:spPr>
        <p:txBody>
          <a:bodyPr/>
          <a:lstStyle>
            <a:lvl1pPr>
              <a:defRPr/>
            </a:lvl1pPr>
          </a:lstStyle>
          <a:p>
            <a:fld id="{00ED66B9-1A35-4F0B-83BB-DB6199AF5271}" type="slidenum">
              <a:rPr lang="en-US" altLang="zh-CN"/>
              <a:pPr/>
              <a:t>‹#›</a:t>
            </a:fld>
            <a:endParaRPr lang="en-US" altLang="zh-CN"/>
          </a:p>
        </p:txBody>
      </p:sp>
    </p:spTree>
    <p:extLst>
      <p:ext uri="{BB962C8B-B14F-4D97-AF65-F5344CB8AC3E}">
        <p14:creationId xmlns:p14="http://schemas.microsoft.com/office/powerpoint/2010/main" val="3246124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灯片编号占位符 1027">
            <a:extLst>
              <a:ext uri="{FF2B5EF4-FFF2-40B4-BE49-F238E27FC236}">
                <a16:creationId xmlns:a16="http://schemas.microsoft.com/office/drawing/2014/main" id="{A5E851E3-4BCF-4565-84E7-424683A6E7A1}"/>
              </a:ext>
            </a:extLst>
          </p:cNvPr>
          <p:cNvSpPr>
            <a:spLocks noGrp="1"/>
          </p:cNvSpPr>
          <p:nvPr>
            <p:ph type="sldNum" sz="quarter" idx="10"/>
          </p:nvPr>
        </p:nvSpPr>
        <p:spPr>
          <a:ln/>
        </p:spPr>
        <p:txBody>
          <a:bodyPr/>
          <a:lstStyle>
            <a:lvl1pPr>
              <a:defRPr/>
            </a:lvl1pPr>
          </a:lstStyle>
          <a:p>
            <a:fld id="{03EBC154-F3EF-4A1A-9A78-38F6D4963EA5}" type="slidenum">
              <a:rPr lang="en-US" altLang="zh-CN"/>
              <a:pPr/>
              <a:t>‹#›</a:t>
            </a:fld>
            <a:endParaRPr lang="en-US" altLang="zh-CN"/>
          </a:p>
        </p:txBody>
      </p:sp>
    </p:spTree>
    <p:extLst>
      <p:ext uri="{BB962C8B-B14F-4D97-AF65-F5344CB8AC3E}">
        <p14:creationId xmlns:p14="http://schemas.microsoft.com/office/powerpoint/2010/main" val="2708178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027">
            <a:extLst>
              <a:ext uri="{FF2B5EF4-FFF2-40B4-BE49-F238E27FC236}">
                <a16:creationId xmlns:a16="http://schemas.microsoft.com/office/drawing/2014/main" id="{0D7531FE-5F9A-439A-84DA-3B5B209A6E0B}"/>
              </a:ext>
            </a:extLst>
          </p:cNvPr>
          <p:cNvSpPr>
            <a:spLocks noGrp="1"/>
          </p:cNvSpPr>
          <p:nvPr>
            <p:ph type="sldNum" sz="quarter" idx="10"/>
          </p:nvPr>
        </p:nvSpPr>
        <p:spPr>
          <a:ln/>
        </p:spPr>
        <p:txBody>
          <a:bodyPr/>
          <a:lstStyle>
            <a:lvl1pPr>
              <a:defRPr/>
            </a:lvl1pPr>
          </a:lstStyle>
          <a:p>
            <a:fld id="{2A7409ED-4346-4E46-85A3-4EC6575C32F3}" type="slidenum">
              <a:rPr lang="en-US" altLang="zh-CN"/>
              <a:pPr/>
              <a:t>‹#›</a:t>
            </a:fld>
            <a:endParaRPr lang="en-US" altLang="zh-CN"/>
          </a:p>
        </p:txBody>
      </p:sp>
    </p:spTree>
    <p:extLst>
      <p:ext uri="{BB962C8B-B14F-4D97-AF65-F5344CB8AC3E}">
        <p14:creationId xmlns:p14="http://schemas.microsoft.com/office/powerpoint/2010/main" val="2840356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灯片编号占位符 1027">
            <a:extLst>
              <a:ext uri="{FF2B5EF4-FFF2-40B4-BE49-F238E27FC236}">
                <a16:creationId xmlns:a16="http://schemas.microsoft.com/office/drawing/2014/main" id="{AB134DB9-D23E-4D6D-B10E-BE7F5C423F51}"/>
              </a:ext>
            </a:extLst>
          </p:cNvPr>
          <p:cNvSpPr>
            <a:spLocks noGrp="1"/>
          </p:cNvSpPr>
          <p:nvPr>
            <p:ph type="sldNum" sz="quarter" idx="10"/>
          </p:nvPr>
        </p:nvSpPr>
        <p:spPr>
          <a:ln/>
        </p:spPr>
        <p:txBody>
          <a:bodyPr/>
          <a:lstStyle>
            <a:lvl1pPr>
              <a:defRPr/>
            </a:lvl1pPr>
          </a:lstStyle>
          <a:p>
            <a:fld id="{F06B4069-43B5-40A2-9BC3-BE17E00D2457}" type="slidenum">
              <a:rPr lang="en-US" altLang="zh-CN"/>
              <a:pPr/>
              <a:t>‹#›</a:t>
            </a:fld>
            <a:endParaRPr lang="en-US" altLang="zh-CN"/>
          </a:p>
        </p:txBody>
      </p:sp>
    </p:spTree>
    <p:extLst>
      <p:ext uri="{BB962C8B-B14F-4D97-AF65-F5344CB8AC3E}">
        <p14:creationId xmlns:p14="http://schemas.microsoft.com/office/powerpoint/2010/main" val="3870196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灯片编号占位符 1027">
            <a:extLst>
              <a:ext uri="{FF2B5EF4-FFF2-40B4-BE49-F238E27FC236}">
                <a16:creationId xmlns:a16="http://schemas.microsoft.com/office/drawing/2014/main" id="{0BE72AC9-47D7-4A26-AD4D-9BF9DFFE8D4E}"/>
              </a:ext>
            </a:extLst>
          </p:cNvPr>
          <p:cNvSpPr>
            <a:spLocks noGrp="1"/>
          </p:cNvSpPr>
          <p:nvPr>
            <p:ph type="sldNum" sz="quarter" idx="10"/>
          </p:nvPr>
        </p:nvSpPr>
        <p:spPr>
          <a:ln/>
        </p:spPr>
        <p:txBody>
          <a:bodyPr/>
          <a:lstStyle>
            <a:lvl1pPr>
              <a:defRPr/>
            </a:lvl1pPr>
          </a:lstStyle>
          <a:p>
            <a:fld id="{E969FAB3-5E98-43B6-AEB9-1E4045CBB338}" type="slidenum">
              <a:rPr lang="en-US" altLang="zh-CN"/>
              <a:pPr/>
              <a:t>‹#›</a:t>
            </a:fld>
            <a:endParaRPr lang="en-US" altLang="zh-CN"/>
          </a:p>
        </p:txBody>
      </p:sp>
    </p:spTree>
    <p:extLst>
      <p:ext uri="{BB962C8B-B14F-4D97-AF65-F5344CB8AC3E}">
        <p14:creationId xmlns:p14="http://schemas.microsoft.com/office/powerpoint/2010/main" val="3345632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1027">
            <a:extLst>
              <a:ext uri="{FF2B5EF4-FFF2-40B4-BE49-F238E27FC236}">
                <a16:creationId xmlns:a16="http://schemas.microsoft.com/office/drawing/2014/main" id="{92FECD77-782C-42DF-B254-DBA0468C25FF}"/>
              </a:ext>
            </a:extLst>
          </p:cNvPr>
          <p:cNvSpPr>
            <a:spLocks noGrp="1"/>
          </p:cNvSpPr>
          <p:nvPr>
            <p:ph type="sldNum" sz="quarter" idx="10"/>
          </p:nvPr>
        </p:nvSpPr>
        <p:spPr>
          <a:ln/>
        </p:spPr>
        <p:txBody>
          <a:bodyPr/>
          <a:lstStyle>
            <a:lvl1pPr>
              <a:defRPr/>
            </a:lvl1pPr>
          </a:lstStyle>
          <a:p>
            <a:fld id="{C7B0D10C-A62A-4D6C-8C56-C5E67141B086}" type="slidenum">
              <a:rPr lang="en-US" altLang="zh-CN"/>
              <a:pPr/>
              <a:t>‹#›</a:t>
            </a:fld>
            <a:endParaRPr lang="en-US" altLang="zh-CN"/>
          </a:p>
        </p:txBody>
      </p:sp>
    </p:spTree>
    <p:extLst>
      <p:ext uri="{BB962C8B-B14F-4D97-AF65-F5344CB8AC3E}">
        <p14:creationId xmlns:p14="http://schemas.microsoft.com/office/powerpoint/2010/main" val="446765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7813"/>
            <a:ext cx="605293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1027">
            <a:extLst>
              <a:ext uri="{FF2B5EF4-FFF2-40B4-BE49-F238E27FC236}">
                <a16:creationId xmlns:a16="http://schemas.microsoft.com/office/drawing/2014/main" id="{0A7877E9-286A-46ED-A477-57D12A3286EF}"/>
              </a:ext>
            </a:extLst>
          </p:cNvPr>
          <p:cNvSpPr>
            <a:spLocks noGrp="1"/>
          </p:cNvSpPr>
          <p:nvPr>
            <p:ph type="sldNum" sz="quarter" idx="10"/>
          </p:nvPr>
        </p:nvSpPr>
        <p:spPr>
          <a:ln/>
        </p:spPr>
        <p:txBody>
          <a:bodyPr/>
          <a:lstStyle>
            <a:lvl1pPr>
              <a:defRPr/>
            </a:lvl1pPr>
          </a:lstStyle>
          <a:p>
            <a:fld id="{7E6A3F4B-C01B-4258-BFA0-4187986BA195}" type="slidenum">
              <a:rPr lang="en-US" altLang="zh-CN"/>
              <a:pPr/>
              <a:t>‹#›</a:t>
            </a:fld>
            <a:endParaRPr lang="en-US" altLang="zh-CN"/>
          </a:p>
        </p:txBody>
      </p:sp>
    </p:spTree>
    <p:extLst>
      <p:ext uri="{BB962C8B-B14F-4D97-AF65-F5344CB8AC3E}">
        <p14:creationId xmlns:p14="http://schemas.microsoft.com/office/powerpoint/2010/main" val="2973038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 1025">
            <a:extLst>
              <a:ext uri="{FF2B5EF4-FFF2-40B4-BE49-F238E27FC236}">
                <a16:creationId xmlns:a16="http://schemas.microsoft.com/office/drawing/2014/main" id="{06724119-68D8-4FDE-A760-B5B62214837E}"/>
              </a:ext>
            </a:extLst>
          </p:cNvPr>
          <p:cNvSpPr>
            <a:spLocks noGrp="1" noChangeArrowheads="1"/>
          </p:cNvSpPr>
          <p:nvPr>
            <p:ph type="title" idx="4294967295"/>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title style</a:t>
            </a:r>
          </a:p>
        </p:txBody>
      </p:sp>
      <p:sp>
        <p:nvSpPr>
          <p:cNvPr id="1027" name="文本占位符 1026">
            <a:extLst>
              <a:ext uri="{FF2B5EF4-FFF2-40B4-BE49-F238E27FC236}">
                <a16:creationId xmlns:a16="http://schemas.microsoft.com/office/drawing/2014/main" id="{C13B76E7-D38D-4421-A69B-934459F1CCE1}"/>
              </a:ext>
            </a:extLst>
          </p:cNvPr>
          <p:cNvSpPr>
            <a:spLocks noGrp="1" noChangeArrowheads="1"/>
          </p:cNvSpPr>
          <p:nvPr>
            <p:ph type="body" idx="4294967295"/>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灯片编号占位符 1027">
            <a:extLst>
              <a:ext uri="{FF2B5EF4-FFF2-40B4-BE49-F238E27FC236}">
                <a16:creationId xmlns:a16="http://schemas.microsoft.com/office/drawing/2014/main" id="{7556F08E-FFD6-4AAC-8648-4F38469EC19A}"/>
              </a:ext>
            </a:extLst>
          </p:cNvPr>
          <p:cNvSpPr>
            <a:spLocks noGrp="1"/>
          </p:cNvSpPr>
          <p:nvPr>
            <p:ph type="sldNum" sz="quarter" idx="4"/>
          </p:nvPr>
        </p:nvSpPr>
        <p:spPr>
          <a:xfrm>
            <a:off x="6553200" y="6243638"/>
            <a:ext cx="2133600" cy="457200"/>
          </a:xfrm>
          <a:prstGeom prst="rect">
            <a:avLst/>
          </a:prstGeom>
          <a:noFill/>
          <a:ln w="9525">
            <a:noFill/>
          </a:ln>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a:latin typeface="Garamond" panose="02020404030301010803" pitchFamily="18" charset="0"/>
                <a:ea typeface="宋体" panose="02010600030101010101" pitchFamily="2" charset="-122"/>
              </a:defRPr>
            </a:lvl1pPr>
          </a:lstStyle>
          <a:p>
            <a:fld id="{BB825D58-8A8F-4D62-9399-48E1A475345C}" type="slidenum">
              <a:rPr lang="en-US" altLang="zh-CN"/>
              <a:pPr/>
              <a:t>‹#›</a:t>
            </a:fld>
            <a:endParaRPr lang="en-US" altLang="zh-CN"/>
          </a:p>
        </p:txBody>
      </p:sp>
      <p:sp>
        <p:nvSpPr>
          <p:cNvPr id="1029" name="任意多边形 1028">
            <a:extLst>
              <a:ext uri="{FF2B5EF4-FFF2-40B4-BE49-F238E27FC236}">
                <a16:creationId xmlns:a16="http://schemas.microsoft.com/office/drawing/2014/main" id="{381A6753-ECB5-4D6A-969C-1F10B4336172}"/>
              </a:ext>
            </a:extLst>
          </p:cNvPr>
          <p:cNvSpPr>
            <a:spLocks noChangeArrowheads="1"/>
          </p:cNvSpPr>
          <p:nvPr/>
        </p:nvSpPr>
        <p:spPr bwMode="auto">
          <a:xfrm>
            <a:off x="381000" y="228600"/>
            <a:ext cx="8229600" cy="6096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19050">
            <a:solidFill>
              <a:schemeClr val="accent1"/>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None/>
              <a:defRPr/>
            </a:pPr>
            <a:endParaRPr lang="zh-CN" altLang="en-US">
              <a:ea typeface="宋体" panose="02010600030101010101" pitchFamily="2" charset="-122"/>
            </a:endParaRPr>
          </a:p>
        </p:txBody>
      </p:sp>
      <p:sp>
        <p:nvSpPr>
          <p:cNvPr id="1030" name="直接连接符 1029">
            <a:extLst>
              <a:ext uri="{FF2B5EF4-FFF2-40B4-BE49-F238E27FC236}">
                <a16:creationId xmlns:a16="http://schemas.microsoft.com/office/drawing/2014/main" id="{DD15A422-9C01-4F0D-9B67-4BA31DB19ED4}"/>
              </a:ext>
            </a:extLst>
          </p:cNvPr>
          <p:cNvSpPr>
            <a:spLocks noChangeShapeType="1"/>
          </p:cNvSpPr>
          <p:nvPr/>
        </p:nvSpPr>
        <p:spPr bwMode="auto">
          <a:xfrm>
            <a:off x="457200" y="617220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79"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sldNum="0" hdr="0"/>
  <p:txStyles>
    <p:titleStyle>
      <a:lvl1pPr algn="l" rtl="0" eaLnBrk="0" fontAlgn="base" hangingPunct="0">
        <a:spcBef>
          <a:spcPct val="0"/>
        </a:spcBef>
        <a:spcAft>
          <a:spcPct val="0"/>
        </a:spcAft>
        <a:buFont typeface="Arial" panose="020B0604020202020204" pitchFamily="34" charset="0"/>
        <a:defRPr sz="4200" kern="1200">
          <a:solidFill>
            <a:schemeClr val="tx2"/>
          </a:solidFill>
          <a:latin typeface="+mj-lt"/>
          <a:ea typeface="+mj-ea"/>
          <a:cs typeface="Arial" panose="020B0604020202020204" pitchFamily="34" charset="0"/>
        </a:defRPr>
      </a:lvl1pPr>
      <a:lvl2pPr algn="l" rtl="0" eaLnBrk="0" fontAlgn="base" hangingPunct="0">
        <a:spcBef>
          <a:spcPct val="0"/>
        </a:spcBef>
        <a:spcAft>
          <a:spcPct val="0"/>
        </a:spcAft>
        <a:buFont typeface="Arial" panose="020B0604020202020204" pitchFamily="34" charset="0"/>
        <a:defRPr sz="4200">
          <a:solidFill>
            <a:schemeClr val="tx2"/>
          </a:solidFill>
          <a:latin typeface="Garamond" panose="02020404030301010803" pitchFamily="18" charset="0"/>
          <a:cs typeface="Arial" panose="020B0604020202020204" pitchFamily="34" charset="0"/>
        </a:defRPr>
      </a:lvl2pPr>
      <a:lvl3pPr algn="l" rtl="0" eaLnBrk="0" fontAlgn="base" hangingPunct="0">
        <a:spcBef>
          <a:spcPct val="0"/>
        </a:spcBef>
        <a:spcAft>
          <a:spcPct val="0"/>
        </a:spcAft>
        <a:buFont typeface="Arial" panose="020B0604020202020204" pitchFamily="34" charset="0"/>
        <a:defRPr sz="4200">
          <a:solidFill>
            <a:schemeClr val="tx2"/>
          </a:solidFill>
          <a:latin typeface="Garamond" panose="02020404030301010803" pitchFamily="18" charset="0"/>
          <a:cs typeface="Arial" panose="020B0604020202020204" pitchFamily="34" charset="0"/>
        </a:defRPr>
      </a:lvl3pPr>
      <a:lvl4pPr algn="l" rtl="0" eaLnBrk="0" fontAlgn="base" hangingPunct="0">
        <a:spcBef>
          <a:spcPct val="0"/>
        </a:spcBef>
        <a:spcAft>
          <a:spcPct val="0"/>
        </a:spcAft>
        <a:buFont typeface="Arial" panose="020B0604020202020204" pitchFamily="34" charset="0"/>
        <a:defRPr sz="4200">
          <a:solidFill>
            <a:schemeClr val="tx2"/>
          </a:solidFill>
          <a:latin typeface="Garamond" panose="02020404030301010803" pitchFamily="18" charset="0"/>
          <a:cs typeface="Arial" panose="020B0604020202020204" pitchFamily="34" charset="0"/>
        </a:defRPr>
      </a:lvl4pPr>
      <a:lvl5pPr algn="l" rtl="0" eaLnBrk="0" fontAlgn="base" hangingPunct="0">
        <a:spcBef>
          <a:spcPct val="0"/>
        </a:spcBef>
        <a:spcAft>
          <a:spcPct val="0"/>
        </a:spcAft>
        <a:buFont typeface="Arial" panose="020B0604020202020204" pitchFamily="34" charset="0"/>
        <a:defRPr sz="4200">
          <a:solidFill>
            <a:schemeClr val="tx2"/>
          </a:solidFill>
          <a:latin typeface="Garamond" panose="02020404030301010803" pitchFamily="18" charset="0"/>
          <a:cs typeface="Arial" panose="020B0604020202020204" pitchFamily="34" charset="0"/>
        </a:defRPr>
      </a:lvl5pPr>
      <a:lvl6pPr marL="457200" algn="l" rtl="0" fontAlgn="base">
        <a:spcBef>
          <a:spcPct val="0"/>
        </a:spcBef>
        <a:spcAft>
          <a:spcPct val="0"/>
        </a:spcAft>
        <a:buFont typeface="Arial" panose="020B0604020202020204" pitchFamily="34" charset="0"/>
        <a:defRPr sz="4200">
          <a:solidFill>
            <a:schemeClr val="tx2"/>
          </a:solidFill>
          <a:latin typeface="Garamond" panose="02020404030301010803" pitchFamily="18" charset="0"/>
          <a:cs typeface="Arial" panose="020B0604020202020204" pitchFamily="34" charset="0"/>
        </a:defRPr>
      </a:lvl6pPr>
      <a:lvl7pPr marL="914400" algn="l" rtl="0" fontAlgn="base">
        <a:spcBef>
          <a:spcPct val="0"/>
        </a:spcBef>
        <a:spcAft>
          <a:spcPct val="0"/>
        </a:spcAft>
        <a:buFont typeface="Arial" panose="020B0604020202020204" pitchFamily="34" charset="0"/>
        <a:defRPr sz="4200">
          <a:solidFill>
            <a:schemeClr val="tx2"/>
          </a:solidFill>
          <a:latin typeface="Garamond" panose="02020404030301010803" pitchFamily="18" charset="0"/>
          <a:cs typeface="Arial" panose="020B0604020202020204" pitchFamily="34" charset="0"/>
        </a:defRPr>
      </a:lvl7pPr>
      <a:lvl8pPr marL="1371600" algn="l" rtl="0" fontAlgn="base">
        <a:spcBef>
          <a:spcPct val="0"/>
        </a:spcBef>
        <a:spcAft>
          <a:spcPct val="0"/>
        </a:spcAft>
        <a:buFont typeface="Arial" panose="020B0604020202020204" pitchFamily="34" charset="0"/>
        <a:defRPr sz="4200">
          <a:solidFill>
            <a:schemeClr val="tx2"/>
          </a:solidFill>
          <a:latin typeface="Garamond" panose="02020404030301010803" pitchFamily="18" charset="0"/>
          <a:cs typeface="Arial" panose="020B0604020202020204" pitchFamily="34" charset="0"/>
        </a:defRPr>
      </a:lvl8pPr>
      <a:lvl9pPr marL="1828800" algn="l" rtl="0" fontAlgn="base">
        <a:spcBef>
          <a:spcPct val="0"/>
        </a:spcBef>
        <a:spcAft>
          <a:spcPct val="0"/>
        </a:spcAft>
        <a:buFont typeface="Arial" panose="020B0604020202020204" pitchFamily="34" charset="0"/>
        <a:defRPr sz="4200">
          <a:solidFill>
            <a:schemeClr val="tx2"/>
          </a:solidFill>
          <a:latin typeface="Garamond" panose="02020404030301010803" pitchFamily="18" charset="0"/>
          <a:cs typeface="Arial" panose="020B0604020202020204" pitchFamily="34"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kern="1200">
          <a:solidFill>
            <a:schemeClr val="tx1"/>
          </a:solidFill>
          <a:latin typeface="+mn-lt"/>
          <a:ea typeface="+mn-ea"/>
          <a:cs typeface="Arial" panose="020B0604020202020204" pitchFamily="34" charset="0"/>
        </a:defRPr>
      </a:lvl1pPr>
      <a:lvl2pPr marL="669925" lvl="1"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Arial" panose="020B0604020202020204" pitchFamily="34" charset="0"/>
        </a:defRPr>
      </a:lvl2pPr>
      <a:lvl3pPr marL="1022350" lvl="2"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Arial" panose="020B0604020202020204" pitchFamily="34" charset="0"/>
        </a:defRPr>
      </a:lvl3pPr>
      <a:lvl4pPr marL="1339850" lvl="3"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Arial" panose="020B0604020202020204" pitchFamily="34" charset="0"/>
        </a:defRPr>
      </a:lvl4pPr>
      <a:lvl5pPr marL="1681163" lvl="4"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Arial" panose="020B0604020202020204" pitchFamily="34" charset="0"/>
        </a:defRPr>
      </a:lvl5pPr>
      <a:lvl6pPr marL="2514600" lvl="5" indent="-228600" algn="l" defTabSz="91440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4097">
            <a:extLst>
              <a:ext uri="{FF2B5EF4-FFF2-40B4-BE49-F238E27FC236}">
                <a16:creationId xmlns:a16="http://schemas.microsoft.com/office/drawing/2014/main" id="{A129638D-7D86-4A91-AEC4-39D03FA2E647}"/>
              </a:ext>
            </a:extLst>
          </p:cNvPr>
          <p:cNvSpPr>
            <a:spLocks noGrp="1" noChangeArrowheads="1"/>
          </p:cNvSpPr>
          <p:nvPr>
            <p:ph type="ctrTitle"/>
          </p:nvPr>
        </p:nvSpPr>
        <p:spPr/>
        <p:txBody>
          <a:bodyPr/>
          <a:lstStyle/>
          <a:p>
            <a:pPr eaLnBrk="1" hangingPunct="1"/>
            <a:r>
              <a:rPr lang="zh-CN" altLang="en-US" sz="4000" dirty="0">
                <a:ea typeface="宋体" panose="02010600030101010101" pitchFamily="2" charset="-122"/>
              </a:rPr>
              <a:t>面向虚拟机失效的可靠虚拟数据中心映射</a:t>
            </a:r>
          </a:p>
        </p:txBody>
      </p:sp>
      <p:sp>
        <p:nvSpPr>
          <p:cNvPr id="4099" name="副标题 4098">
            <a:extLst>
              <a:ext uri="{FF2B5EF4-FFF2-40B4-BE49-F238E27FC236}">
                <a16:creationId xmlns:a16="http://schemas.microsoft.com/office/drawing/2014/main" id="{16A0A1DA-C36A-479A-BA67-DEE3A87A43BC}"/>
              </a:ext>
            </a:extLst>
          </p:cNvPr>
          <p:cNvSpPr>
            <a:spLocks noGrp="1" noChangeArrowheads="1"/>
          </p:cNvSpPr>
          <p:nvPr>
            <p:ph type="subTitle" idx="1"/>
          </p:nvPr>
        </p:nvSpPr>
        <p:spPr/>
        <p:txBody>
          <a:bodyPr/>
          <a:lstStyle/>
          <a:p>
            <a:pPr eaLnBrk="1" hangingPunct="1"/>
            <a:r>
              <a:rPr lang="en-US" altLang="zh-CN" dirty="0" err="1">
                <a:ea typeface="宋体" panose="02010600030101010101" pitchFamily="2" charset="-122"/>
              </a:rPr>
              <a:t>BlankSpace</a:t>
            </a:r>
            <a:endParaRPr lang="en-US" altLang="zh-CN" dirty="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9982"/>
    </mc:Choice>
    <mc:Fallback xmlns="">
      <p:transition spd="slow" advTm="998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5121">
            <a:extLst>
              <a:ext uri="{FF2B5EF4-FFF2-40B4-BE49-F238E27FC236}">
                <a16:creationId xmlns:a16="http://schemas.microsoft.com/office/drawing/2014/main" id="{553AF801-ECE4-4ED3-A3E3-9DF297DBBD84}"/>
              </a:ext>
            </a:extLst>
          </p:cNvPr>
          <p:cNvSpPr>
            <a:spLocks noGrp="1" noChangeArrowheads="1"/>
          </p:cNvSpPr>
          <p:nvPr>
            <p:ph type="title"/>
          </p:nvPr>
        </p:nvSpPr>
        <p:spPr/>
        <p:txBody>
          <a:bodyPr/>
          <a:lstStyle/>
          <a:p>
            <a:pPr eaLnBrk="1" hangingPunct="1"/>
            <a:r>
              <a:rPr lang="zh-CN" altLang="en-US">
                <a:ea typeface="宋体" panose="02010600030101010101" pitchFamily="2" charset="-122"/>
              </a:rPr>
              <a:t>目录</a:t>
            </a:r>
            <a:endParaRPr lang="en-US" altLang="zh-CN">
              <a:ea typeface="宋体" panose="02010600030101010101" pitchFamily="2" charset="-122"/>
            </a:endParaRPr>
          </a:p>
        </p:txBody>
      </p:sp>
      <p:sp>
        <p:nvSpPr>
          <p:cNvPr id="5123" name="文本占位符 5122">
            <a:extLst>
              <a:ext uri="{FF2B5EF4-FFF2-40B4-BE49-F238E27FC236}">
                <a16:creationId xmlns:a16="http://schemas.microsoft.com/office/drawing/2014/main" id="{4819C023-A7A7-4404-9EC5-BA06DCB0AF03}"/>
              </a:ext>
            </a:extLst>
          </p:cNvPr>
          <p:cNvSpPr>
            <a:spLocks noGrp="1" noChangeArrowheads="1"/>
          </p:cNvSpPr>
          <p:nvPr>
            <p:ph type="body" idx="1"/>
          </p:nvPr>
        </p:nvSpPr>
        <p:spPr>
          <a:xfrm>
            <a:off x="457200" y="1763713"/>
            <a:ext cx="8229600" cy="3722687"/>
          </a:xfrm>
        </p:spPr>
        <p:txBody>
          <a:bodyPr/>
          <a:lstStyle/>
          <a:p>
            <a:pPr eaLnBrk="1" hangingPunct="1">
              <a:lnSpc>
                <a:spcPct val="90000"/>
              </a:lnSpc>
            </a:pPr>
            <a:r>
              <a:rPr lang="zh-CN" altLang="en-US" dirty="0">
                <a:ea typeface="宋体" panose="02010600030101010101" pitchFamily="2" charset="-122"/>
              </a:rPr>
              <a:t>参考文献</a:t>
            </a:r>
            <a:endParaRPr lang="en-US" altLang="en-US" dirty="0"/>
          </a:p>
          <a:p>
            <a:pPr eaLnBrk="1" hangingPunct="1">
              <a:lnSpc>
                <a:spcPct val="90000"/>
              </a:lnSpc>
            </a:pPr>
            <a:r>
              <a:rPr lang="zh-CN" altLang="en-US" dirty="0">
                <a:ea typeface="宋体" panose="02010600030101010101" pitchFamily="2" charset="-122"/>
              </a:rPr>
              <a:t>背景及研究现状</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网络模型及问题描述 </a:t>
            </a:r>
          </a:p>
          <a:p>
            <a:pPr eaLnBrk="1" hangingPunct="1">
              <a:lnSpc>
                <a:spcPct val="90000"/>
              </a:lnSpc>
            </a:pPr>
            <a:r>
              <a:rPr lang="zh-CN" altLang="en-US" dirty="0">
                <a:ea typeface="宋体" panose="02010600030101010101" pitchFamily="2" charset="-122"/>
              </a:rPr>
              <a:t>虚拟数据中心的可靠增强策略</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虚拟数据中心虚拟机失效容忍算法</a:t>
            </a:r>
          </a:p>
          <a:p>
            <a:pPr eaLnBrk="1" hangingPunct="1">
              <a:lnSpc>
                <a:spcPct val="90000"/>
              </a:lnSpc>
            </a:pPr>
            <a:r>
              <a:rPr lang="zh-CN" altLang="en-US" dirty="0">
                <a:ea typeface="宋体" panose="02010600030101010101" pitchFamily="2" charset="-122"/>
              </a:rPr>
              <a:t>仿真结果与分析</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内容小结</a:t>
            </a:r>
            <a:endParaRPr lang="en-US" altLang="zh-CN" dirty="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807"/>
    </mc:Choice>
    <mc:Fallback xmlns="">
      <p:transition spd="slow" advTm="180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1265">
            <a:extLst>
              <a:ext uri="{FF2B5EF4-FFF2-40B4-BE49-F238E27FC236}">
                <a16:creationId xmlns:a16="http://schemas.microsoft.com/office/drawing/2014/main" id="{091CCAB2-54AC-452B-9E0A-94509158CEBA}"/>
              </a:ext>
            </a:extLst>
          </p:cNvPr>
          <p:cNvSpPr>
            <a:spLocks noGrp="1" noChangeArrowheads="1"/>
          </p:cNvSpPr>
          <p:nvPr>
            <p:ph type="title"/>
          </p:nvPr>
        </p:nvSpPr>
        <p:spPr/>
        <p:txBody>
          <a:bodyPr/>
          <a:lstStyle/>
          <a:p>
            <a:pPr eaLnBrk="1" hangingPunct="1"/>
            <a:r>
              <a:rPr lang="zh-CN" altLang="en-US">
                <a:ea typeface="宋体" panose="02010600030101010101" pitchFamily="2" charset="-122"/>
              </a:rPr>
              <a:t>参考文献</a:t>
            </a:r>
            <a:r>
              <a:rPr lang="en-US" altLang="zh-CN">
                <a:ea typeface="宋体" panose="02010600030101010101" pitchFamily="2" charset="-122"/>
              </a:rPr>
              <a:t> </a:t>
            </a:r>
          </a:p>
        </p:txBody>
      </p:sp>
      <p:sp>
        <p:nvSpPr>
          <p:cNvPr id="22531" name="文本占位符 11266">
            <a:extLst>
              <a:ext uri="{FF2B5EF4-FFF2-40B4-BE49-F238E27FC236}">
                <a16:creationId xmlns:a16="http://schemas.microsoft.com/office/drawing/2014/main" id="{AF9965D3-8319-493B-9298-298531A5B4C8}"/>
              </a:ext>
            </a:extLst>
          </p:cNvPr>
          <p:cNvSpPr>
            <a:spLocks noGrp="1" noChangeArrowheads="1"/>
          </p:cNvSpPr>
          <p:nvPr>
            <p:ph type="body" idx="1"/>
          </p:nvPr>
        </p:nvSpPr>
        <p:spPr/>
        <p:txBody>
          <a:bodyPr/>
          <a:lstStyle/>
          <a:p>
            <a:pPr eaLnBrk="1" hangingPunct="1"/>
            <a:r>
              <a:rPr lang="en-US" altLang="zh-CN" sz="1800">
                <a:ea typeface="宋体" panose="02010600030101010101" pitchFamily="2" charset="-122"/>
              </a:rPr>
              <a:t>[ 1 ] A survey of network virtualization</a:t>
            </a:r>
          </a:p>
          <a:p>
            <a:pPr eaLnBrk="1" hangingPunct="1">
              <a:spcBef>
                <a:spcPct val="0"/>
              </a:spcBef>
            </a:pPr>
            <a:r>
              <a:rPr lang="en-US" altLang="zh-CN" sz="1800">
                <a:ea typeface="宋体" panose="02010600030101010101" pitchFamily="2" charset="-122"/>
              </a:rPr>
              <a:t>[ 2 ] Algorithms for Assigning Substrate Network Resources to Virtual Network Components</a:t>
            </a:r>
          </a:p>
          <a:p>
            <a:pPr eaLnBrk="1" hangingPunct="1">
              <a:spcBef>
                <a:spcPct val="0"/>
              </a:spcBef>
            </a:pPr>
            <a:r>
              <a:rPr lang="en-US" altLang="zh-CN" sz="1800">
                <a:ea typeface="宋体" panose="02010600030101010101" pitchFamily="2" charset="-122"/>
              </a:rPr>
              <a:t>[ 3 ] Virtual network embedding through topology awareness and optimization</a:t>
            </a:r>
          </a:p>
          <a:p>
            <a:pPr eaLnBrk="1" hangingPunct="1">
              <a:spcBef>
                <a:spcPct val="0"/>
              </a:spcBef>
            </a:pPr>
            <a:r>
              <a:rPr lang="en-US" altLang="zh-CN" sz="1800">
                <a:ea typeface="宋体" panose="02010600030101010101" pitchFamily="2" charset="-122"/>
              </a:rPr>
              <a:t>[ 4 ] Virtual Network Embedding with Coordinated Node and Link Mapping</a:t>
            </a:r>
          </a:p>
          <a:p>
            <a:pPr eaLnBrk="1" hangingPunct="1">
              <a:spcBef>
                <a:spcPct val="0"/>
              </a:spcBef>
            </a:pPr>
            <a:r>
              <a:rPr lang="en-US" altLang="zh-CN" sz="1800">
                <a:ea typeface="宋体" panose="02010600030101010101" pitchFamily="2" charset="-122"/>
              </a:rPr>
              <a:t>[ 5 ] A Cost Efficient Design of Virtual Infrastructures with Joint Node and Link Mapping</a:t>
            </a:r>
          </a:p>
          <a:p>
            <a:pPr eaLnBrk="1" hangingPunct="1">
              <a:spcBef>
                <a:spcPct val="0"/>
              </a:spcBef>
            </a:pPr>
            <a:r>
              <a:rPr lang="en-US" altLang="zh-CN" sz="1800">
                <a:ea typeface="宋体" panose="02010600030101010101" pitchFamily="2" charset="-122"/>
              </a:rPr>
              <a:t>[ 6 ] A virtual network mapping algorithm based on subgraph isomorphism detection</a:t>
            </a:r>
          </a:p>
          <a:p>
            <a:pPr eaLnBrk="1" hangingPunct="1">
              <a:spcBef>
                <a:spcPct val="0"/>
              </a:spcBef>
            </a:pPr>
            <a:r>
              <a:rPr lang="en-US" altLang="zh-CN" sz="1800">
                <a:ea typeface="宋体" panose="02010600030101010101" pitchFamily="2" charset="-122"/>
              </a:rPr>
              <a:t>[ 7 ] VNE-AC: Virtual Network Embedding Algorithm Based on Ant Colony Metaheuristic</a:t>
            </a:r>
          </a:p>
          <a:p>
            <a:pPr eaLnBrk="1" hangingPunct="1">
              <a:spcBef>
                <a:spcPct val="0"/>
              </a:spcBef>
            </a:pPr>
            <a:r>
              <a:rPr lang="en-US" altLang="zh-CN" sz="1800">
                <a:ea typeface="宋体" panose="02010600030101010101" pitchFamily="2" charset="-122"/>
              </a:rPr>
              <a:t>[ 8 ] Virtual network embedding through topology-aware node ranking</a:t>
            </a:r>
          </a:p>
          <a:p>
            <a:pPr eaLnBrk="1" hangingPunct="1">
              <a:spcBef>
                <a:spcPct val="0"/>
              </a:spcBef>
            </a:pPr>
            <a:r>
              <a:rPr lang="en-US" altLang="zh-CN" sz="1800">
                <a:ea typeface="宋体" panose="02010600030101010101" pitchFamily="2" charset="-122"/>
              </a:rPr>
              <a:t>[ 9 ] Introducing the Virtual Network Mapping Problem with Delay, Routing and Location Constraints</a:t>
            </a:r>
          </a:p>
        </p:txBody>
      </p:sp>
    </p:spTree>
  </p:cSld>
  <p:clrMapOvr>
    <a:masterClrMapping/>
  </p:clrMapOvr>
  <mc:AlternateContent xmlns:mc="http://schemas.openxmlformats.org/markup-compatibility/2006" xmlns:p14="http://schemas.microsoft.com/office/powerpoint/2010/main">
    <mc:Choice Requires="p14">
      <p:transition spd="slow" p14:dur="2000" advTm="390"/>
    </mc:Choice>
    <mc:Fallback xmlns="">
      <p:transition spd="slow" advTm="39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1265">
            <a:extLst>
              <a:ext uri="{FF2B5EF4-FFF2-40B4-BE49-F238E27FC236}">
                <a16:creationId xmlns:a16="http://schemas.microsoft.com/office/drawing/2014/main" id="{B53E4E3D-5F91-46AD-BD1A-D0B6467F1218}"/>
              </a:ext>
            </a:extLst>
          </p:cNvPr>
          <p:cNvSpPr>
            <a:spLocks noGrp="1" noChangeArrowheads="1"/>
          </p:cNvSpPr>
          <p:nvPr>
            <p:ph type="title"/>
          </p:nvPr>
        </p:nvSpPr>
        <p:spPr/>
        <p:txBody>
          <a:bodyPr/>
          <a:lstStyle/>
          <a:p>
            <a:pPr eaLnBrk="1" hangingPunct="1"/>
            <a:r>
              <a:rPr lang="zh-CN" altLang="en-US">
                <a:ea typeface="宋体" panose="02010600030101010101" pitchFamily="2" charset="-122"/>
              </a:rPr>
              <a:t>参考文献</a:t>
            </a:r>
            <a:r>
              <a:rPr lang="en-US" altLang="zh-CN">
                <a:ea typeface="宋体" panose="02010600030101010101" pitchFamily="2" charset="-122"/>
              </a:rPr>
              <a:t> </a:t>
            </a:r>
          </a:p>
        </p:txBody>
      </p:sp>
      <p:sp>
        <p:nvSpPr>
          <p:cNvPr id="11266" name="文本占位符 11266">
            <a:extLst>
              <a:ext uri="{FF2B5EF4-FFF2-40B4-BE49-F238E27FC236}">
                <a16:creationId xmlns:a16="http://schemas.microsoft.com/office/drawing/2014/main" id="{29C66029-C10E-4DEC-8D18-A43EEF1EF5CC}"/>
              </a:ext>
            </a:extLst>
          </p:cNvPr>
          <p:cNvSpPr>
            <a:spLocks noGrp="1" noChangeArrowheads="1"/>
          </p:cNvSpPr>
          <p:nvPr>
            <p:ph type="body" idx="1"/>
          </p:nvPr>
        </p:nvSpPr>
        <p:spPr/>
        <p:txBody>
          <a:bodyPr/>
          <a:lstStyle/>
          <a:p>
            <a:pPr eaLnBrk="1" hangingPunct="1">
              <a:spcBef>
                <a:spcPts val="0"/>
              </a:spcBef>
              <a:defRPr/>
            </a:pPr>
            <a:r>
              <a:rPr lang="en-US" altLang="zh-CN" sz="1800" dirty="0">
                <a:ea typeface="宋体" panose="02010600030101010101" pitchFamily="2" charset="-122"/>
              </a:rPr>
              <a:t>[ 10 ] FELL: A Flexible Virtual Network Embedding Algorithm with Guaranteed Load Balancing</a:t>
            </a:r>
          </a:p>
          <a:p>
            <a:pPr eaLnBrk="1" hangingPunct="1">
              <a:spcBef>
                <a:spcPts val="0"/>
              </a:spcBef>
              <a:defRPr/>
            </a:pPr>
            <a:r>
              <a:rPr lang="en-US" altLang="zh-CN" sz="1800" dirty="0">
                <a:ea typeface="宋体" panose="02010600030101010101" pitchFamily="2" charset="-122"/>
              </a:rPr>
              <a:t>[ 11 ] Rethinking Virtual Network Embedding : Substrate Support for Path Splitting and Migration</a:t>
            </a:r>
          </a:p>
          <a:p>
            <a:pPr eaLnBrk="1" hangingPunct="1">
              <a:spcBef>
                <a:spcPts val="0"/>
              </a:spcBef>
              <a:defRPr/>
            </a:pPr>
            <a:r>
              <a:rPr lang="en-US" altLang="zh-CN" sz="1800" dirty="0">
                <a:ea typeface="宋体" panose="02010600030101010101" pitchFamily="2" charset="-122"/>
              </a:rPr>
              <a:t>[ 12 ] Virtual Network Embedding for Evolving Networks</a:t>
            </a:r>
          </a:p>
          <a:p>
            <a:pPr eaLnBrk="1" hangingPunct="1">
              <a:spcBef>
                <a:spcPts val="0"/>
              </a:spcBef>
              <a:defRPr/>
            </a:pPr>
            <a:r>
              <a:rPr lang="en-US" altLang="zh-CN" sz="1800" dirty="0">
                <a:ea typeface="宋体" panose="02010600030101010101" pitchFamily="2" charset="-122"/>
              </a:rPr>
              <a:t>[ 13 ] Survivable Virtual Network Embedding</a:t>
            </a:r>
          </a:p>
          <a:p>
            <a:pPr eaLnBrk="1" hangingPunct="1">
              <a:spcBef>
                <a:spcPts val="0"/>
              </a:spcBef>
              <a:defRPr/>
            </a:pPr>
            <a:r>
              <a:rPr lang="en-US" altLang="zh-CN" sz="1800" dirty="0">
                <a:ea typeface="宋体" panose="02010600030101010101" pitchFamily="2" charset="-122"/>
              </a:rPr>
              <a:t>[ 14 ] Shared Backup Network Provision for Virtual Network Embedding</a:t>
            </a:r>
          </a:p>
          <a:p>
            <a:pPr eaLnBrk="1" hangingPunct="1">
              <a:spcBef>
                <a:spcPts val="0"/>
              </a:spcBef>
              <a:defRPr/>
            </a:pPr>
            <a:r>
              <a:rPr lang="en-US" altLang="zh-CN" sz="1800" dirty="0">
                <a:ea typeface="宋体" panose="02010600030101010101" pitchFamily="2" charset="-122"/>
              </a:rPr>
              <a:t>[ 15 ] Robust Application Specific and Agile Private (ASAP) networks withstanding multi-layer failures</a:t>
            </a:r>
          </a:p>
          <a:p>
            <a:pPr eaLnBrk="1" hangingPunct="1">
              <a:spcBef>
                <a:spcPts val="0"/>
              </a:spcBef>
              <a:defRPr/>
            </a:pPr>
            <a:r>
              <a:rPr lang="en-US" altLang="zh-CN" sz="1800" dirty="0">
                <a:ea typeface="宋体" panose="02010600030101010101" pitchFamily="2" charset="-122"/>
              </a:rPr>
              <a:t>[ 16 ] Survivable Virtual Infrastructure Mapping in a Federated Computing and Networking System under Single Regional Failures</a:t>
            </a:r>
          </a:p>
          <a:p>
            <a:pPr eaLnBrk="1" hangingPunct="1">
              <a:spcBef>
                <a:spcPts val="0"/>
              </a:spcBef>
              <a:defRPr/>
            </a:pPr>
            <a:r>
              <a:rPr lang="en-US" altLang="zh-CN" sz="1800" dirty="0">
                <a:ea typeface="宋体" panose="02010600030101010101" pitchFamily="2" charset="-122"/>
              </a:rPr>
              <a:t>[ 17 ] The Framework and Algorithms for the Survivable Mapping of Virtual Network onto a Substrate Network</a:t>
            </a:r>
          </a:p>
          <a:p>
            <a:pPr eaLnBrk="1" hangingPunct="1">
              <a:spcBef>
                <a:spcPts val="0"/>
              </a:spcBef>
              <a:defRPr/>
            </a:pPr>
            <a:r>
              <a:rPr lang="en-US" altLang="zh-CN" sz="1800" dirty="0">
                <a:ea typeface="宋体" panose="02010600030101010101" pitchFamily="2" charset="-122"/>
              </a:rPr>
              <a:t>[ 18 ] Designing and Embedding Reliable Virtual Infrastructures</a:t>
            </a:r>
            <a:endParaRPr lang="zh-CN" altLang="en-US" sz="1800" dirty="0">
              <a:ea typeface="宋体" panose="02010600030101010101" pitchFamily="2" charset="-122"/>
            </a:endParaRPr>
          </a:p>
          <a:p>
            <a:pPr marL="0" indent="0" eaLnBrk="1" hangingPunct="1">
              <a:buFont typeface="Wingdings" panose="05000000000000000000" pitchFamily="2" charset="2"/>
              <a:buNone/>
              <a:defRPr/>
            </a:pPr>
            <a:endParaRPr lang="en-US" altLang="zh-CN" sz="1600" dirty="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29"/>
    </mc:Choice>
    <mc:Fallback xmlns="">
      <p:transition spd="slow" advTm="12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6145">
            <a:extLst>
              <a:ext uri="{FF2B5EF4-FFF2-40B4-BE49-F238E27FC236}">
                <a16:creationId xmlns:a16="http://schemas.microsoft.com/office/drawing/2014/main" id="{666012F1-647C-439F-9D8C-9AE4C46BE5E8}"/>
              </a:ext>
            </a:extLst>
          </p:cNvPr>
          <p:cNvSpPr>
            <a:spLocks noGrp="1" noChangeArrowheads="1"/>
          </p:cNvSpPr>
          <p:nvPr>
            <p:ph type="title"/>
          </p:nvPr>
        </p:nvSpPr>
        <p:spPr/>
        <p:txBody>
          <a:bodyPr/>
          <a:lstStyle/>
          <a:p>
            <a:pPr eaLnBrk="1" hangingPunct="1"/>
            <a:r>
              <a:rPr lang="zh-CN" altLang="en-US">
                <a:latin typeface="宋体" panose="02010600030101010101" pitchFamily="2" charset="-122"/>
                <a:ea typeface="宋体" panose="02010600030101010101" pitchFamily="2" charset="-122"/>
              </a:rPr>
              <a:t>背景及研究现状</a:t>
            </a:r>
          </a:p>
        </p:txBody>
      </p:sp>
      <p:sp>
        <p:nvSpPr>
          <p:cNvPr id="6147" name="文本占位符 6146">
            <a:extLst>
              <a:ext uri="{FF2B5EF4-FFF2-40B4-BE49-F238E27FC236}">
                <a16:creationId xmlns:a16="http://schemas.microsoft.com/office/drawing/2014/main" id="{FC9BC6C8-51F0-4927-85C4-F35277FEF8BB}"/>
              </a:ext>
            </a:extLst>
          </p:cNvPr>
          <p:cNvSpPr>
            <a:spLocks noGrp="1" noChangeArrowheads="1"/>
          </p:cNvSpPr>
          <p:nvPr>
            <p:ph type="body" idx="1"/>
          </p:nvPr>
        </p:nvSpPr>
        <p:spPr>
          <a:xfrm>
            <a:off x="457200" y="1219258"/>
            <a:ext cx="8229600" cy="4800474"/>
          </a:xfrm>
        </p:spPr>
        <p:txBody>
          <a:bodyPr/>
          <a:lstStyle/>
          <a:p>
            <a:pPr eaLnBrk="1" hangingPunct="1"/>
            <a:r>
              <a:rPr lang="zh-CN" altLang="en-US" sz="2400" dirty="0">
                <a:ea typeface="宋体" panose="02010600030101010101" pitchFamily="2" charset="-122"/>
              </a:rPr>
              <a:t>随着网络虚拟化技术的出现，多个虚拟数据中心可以共享底层物理数据中心的资源，提高了数据中心计算资源和带宽资源的利用率。</a:t>
            </a:r>
            <a:endParaRPr lang="en-US" altLang="zh-CN" sz="2400" dirty="0">
              <a:ea typeface="宋体" panose="02010600030101010101" pitchFamily="2" charset="-122"/>
            </a:endParaRPr>
          </a:p>
          <a:p>
            <a:pPr eaLnBrk="1" hangingPunct="1"/>
            <a:r>
              <a:rPr lang="zh-CN" altLang="en-US" sz="2400" dirty="0">
                <a:ea typeface="宋体" panose="02010600030101010101" pitchFamily="2" charset="-122"/>
              </a:rPr>
              <a:t>随着虚拟数据中心的流行，如何在保证发生物理链路失效时虚拟数据中心的高可靠性的前提下实现资源的高效利用引起了越来越多的关注。</a:t>
            </a:r>
            <a:endParaRPr lang="en-US" altLang="zh-CN" sz="2400" dirty="0">
              <a:ea typeface="宋体" panose="02010600030101010101" pitchFamily="2" charset="-122"/>
            </a:endParaRPr>
          </a:p>
          <a:p>
            <a:pPr eaLnBrk="1" hangingPunct="1"/>
            <a:r>
              <a:rPr lang="zh-CN" altLang="en-US" sz="2400" dirty="0">
                <a:ea typeface="宋体" panose="02010600030101010101" pitchFamily="2" charset="-122"/>
              </a:rPr>
              <a:t>可能遇到的风险如链路失效、虚拟机失效。</a:t>
            </a:r>
            <a:endParaRPr lang="en-US" altLang="zh-CN" sz="2400" dirty="0">
              <a:ea typeface="宋体" panose="02010600030101010101" pitchFamily="2" charset="-122"/>
            </a:endParaRPr>
          </a:p>
          <a:p>
            <a:pPr eaLnBrk="1" hangingPunct="1"/>
            <a:r>
              <a:rPr lang="zh-CN" altLang="en-US" sz="2400" dirty="0">
                <a:ea typeface="宋体" panose="02010600030101010101" pitchFamily="2" charset="-122"/>
              </a:rPr>
              <a:t>针对可能发生的虚拟机失效问题，提出单节点冗余保护算法和</a:t>
            </a:r>
            <a:r>
              <a:rPr lang="en-US" altLang="zh-CN" sz="2400" dirty="0">
                <a:ea typeface="宋体" panose="02010600030101010101" pitchFamily="2" charset="-122"/>
              </a:rPr>
              <a:t>K</a:t>
            </a:r>
            <a:r>
              <a:rPr lang="zh-CN" altLang="en-US" sz="2400" dirty="0">
                <a:ea typeface="宋体" panose="02010600030101010101" pitchFamily="2" charset="-122"/>
              </a:rPr>
              <a:t>节点冗余保护算法，通过对原始的虚拟数据中心进行可靠性增强，以及在数据中心上合理地放置虚拟资源，保证了虚拟数据中心不会受到任意单物理服务器失效的影响，从而提高虚拟数据中心的可靠性。</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880232946"/>
      </p:ext>
    </p:extLst>
  </p:cSld>
  <p:clrMapOvr>
    <a:masterClrMapping/>
  </p:clrMapOvr>
  <mc:AlternateContent xmlns:mc="http://schemas.openxmlformats.org/markup-compatibility/2006" xmlns:p14="http://schemas.microsoft.com/office/powerpoint/2010/main">
    <mc:Choice Requires="p14">
      <p:transition spd="slow" p14:dur="2000" advTm="52602"/>
    </mc:Choice>
    <mc:Fallback xmlns="">
      <p:transition spd="slow" advTm="5260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6145">
            <a:extLst>
              <a:ext uri="{FF2B5EF4-FFF2-40B4-BE49-F238E27FC236}">
                <a16:creationId xmlns:a16="http://schemas.microsoft.com/office/drawing/2014/main" id="{666012F1-647C-439F-9D8C-9AE4C46BE5E8}"/>
              </a:ext>
            </a:extLst>
          </p:cNvPr>
          <p:cNvSpPr>
            <a:spLocks noGrp="1" noChangeArrowheads="1"/>
          </p:cNvSpPr>
          <p:nvPr>
            <p:ph type="title"/>
          </p:nvPr>
        </p:nvSpPr>
        <p:spPr/>
        <p:txBody>
          <a:bodyPr/>
          <a:lstStyle/>
          <a:p>
            <a:pPr eaLnBrk="1" hangingPunct="1"/>
            <a:r>
              <a:rPr lang="zh-CN" altLang="en-US">
                <a:latin typeface="宋体" panose="02010600030101010101" pitchFamily="2" charset="-122"/>
                <a:ea typeface="宋体" panose="02010600030101010101" pitchFamily="2" charset="-122"/>
              </a:rPr>
              <a:t>背景及研究现状</a:t>
            </a:r>
          </a:p>
        </p:txBody>
      </p:sp>
      <p:sp>
        <p:nvSpPr>
          <p:cNvPr id="6147" name="文本占位符 6146">
            <a:extLst>
              <a:ext uri="{FF2B5EF4-FFF2-40B4-BE49-F238E27FC236}">
                <a16:creationId xmlns:a16="http://schemas.microsoft.com/office/drawing/2014/main" id="{FC9BC6C8-51F0-4927-85C4-F35277FEF8BB}"/>
              </a:ext>
            </a:extLst>
          </p:cNvPr>
          <p:cNvSpPr>
            <a:spLocks noGrp="1" noChangeArrowheads="1"/>
          </p:cNvSpPr>
          <p:nvPr>
            <p:ph type="body" idx="1"/>
          </p:nvPr>
        </p:nvSpPr>
        <p:spPr>
          <a:xfrm>
            <a:off x="457200" y="1219258"/>
            <a:ext cx="8229600" cy="4800474"/>
          </a:xfrm>
        </p:spPr>
        <p:txBody>
          <a:bodyPr/>
          <a:lstStyle/>
          <a:p>
            <a:pPr marL="1588" indent="-1588" eaLnBrk="1" hangingPunct="1"/>
            <a:r>
              <a:rPr lang="en-US" altLang="zh-CN" sz="2000" dirty="0">
                <a:ea typeface="宋体" panose="02010600030101010101" pitchFamily="2" charset="-122"/>
              </a:rPr>
              <a:t> [1]~[3] </a:t>
            </a:r>
            <a:r>
              <a:rPr lang="zh-CN" altLang="en-US" sz="2000" dirty="0">
                <a:ea typeface="宋体" panose="02010600030101010101" pitchFamily="2" charset="-122"/>
              </a:rPr>
              <a:t>节点映射和链路映射分别独立完成，首先进行虚拟节点映射，接着运用最短路、</a:t>
            </a:r>
            <a:r>
              <a:rPr lang="en-US" altLang="zh-CN" sz="2000" dirty="0">
                <a:ea typeface="宋体" panose="02010600030101010101" pitchFamily="2" charset="-122"/>
              </a:rPr>
              <a:t>K</a:t>
            </a:r>
            <a:r>
              <a:rPr lang="zh-CN" altLang="en-US" sz="2000" dirty="0">
                <a:ea typeface="宋体" panose="02010600030101010101" pitchFamily="2" charset="-122"/>
              </a:rPr>
              <a:t>最短路以及多商品流算法处理链路映射。但是这些分别处理虚拟节点和链路的算法由于在进行节点映射的时候没有考虑链路映射情况，其运行效果并不理想。</a:t>
            </a:r>
            <a:endParaRPr lang="en-US" altLang="zh-CN" sz="2000" dirty="0">
              <a:ea typeface="宋体" panose="02010600030101010101" pitchFamily="2" charset="-122"/>
            </a:endParaRPr>
          </a:p>
          <a:p>
            <a:pPr marL="1588" indent="-1588" eaLnBrk="1" hangingPunct="1"/>
            <a:r>
              <a:rPr lang="en-US" altLang="zh-CN" sz="2000" dirty="0">
                <a:ea typeface="宋体" panose="02010600030101010101" pitchFamily="2" charset="-122"/>
              </a:rPr>
              <a:t> [4]~[8] </a:t>
            </a:r>
            <a:r>
              <a:rPr lang="zh-CN" altLang="en-US" sz="2000" dirty="0">
                <a:ea typeface="宋体" panose="02010600030101010101" pitchFamily="2" charset="-122"/>
              </a:rPr>
              <a:t>运用</a:t>
            </a:r>
            <a:r>
              <a:rPr lang="en-US" altLang="zh-CN" sz="2000" dirty="0">
                <a:ea typeface="宋体" panose="02010600030101010101" pitchFamily="2" charset="-122"/>
              </a:rPr>
              <a:t>ILP</a:t>
            </a:r>
            <a:r>
              <a:rPr lang="zh-CN" altLang="en-US" sz="2000" dirty="0">
                <a:ea typeface="宋体" panose="02010600030101010101" pitchFamily="2" charset="-122"/>
              </a:rPr>
              <a:t>建模、启发式算法等通过调节虚拟节点映射和链路映射两个阶段达到联合优化的效果。</a:t>
            </a:r>
            <a:endParaRPr lang="en-US" altLang="zh-CN" sz="2000" dirty="0">
              <a:ea typeface="宋体" panose="02010600030101010101" pitchFamily="2" charset="-122"/>
            </a:endParaRPr>
          </a:p>
          <a:p>
            <a:pPr marL="1588" indent="-1588" eaLnBrk="1" hangingPunct="1"/>
            <a:r>
              <a:rPr lang="en-US" altLang="zh-CN" sz="2000" dirty="0">
                <a:ea typeface="宋体" panose="02010600030101010101" pitchFamily="2" charset="-122"/>
              </a:rPr>
              <a:t> [9]~[10] </a:t>
            </a:r>
            <a:r>
              <a:rPr lang="zh-CN" altLang="en-US" sz="2000" dirty="0">
                <a:ea typeface="宋体" panose="02010600030101010101" pitchFamily="2" charset="-122"/>
              </a:rPr>
              <a:t>考虑了</a:t>
            </a:r>
            <a:r>
              <a:rPr lang="en-US" altLang="zh-CN" sz="2000" dirty="0">
                <a:ea typeface="宋体" panose="02010600030101010101" pitchFamily="2" charset="-122"/>
              </a:rPr>
              <a:t>QoS</a:t>
            </a:r>
            <a:r>
              <a:rPr lang="zh-CN" altLang="en-US" sz="2000" dirty="0">
                <a:ea typeface="宋体" panose="02010600030101010101" pitchFamily="2" charset="-122"/>
              </a:rPr>
              <a:t>限制及映射中的负载均衡。</a:t>
            </a:r>
            <a:endParaRPr lang="en-US" altLang="zh-CN" sz="2000" dirty="0">
              <a:ea typeface="宋体" panose="02010600030101010101" pitchFamily="2" charset="-122"/>
            </a:endParaRPr>
          </a:p>
          <a:p>
            <a:pPr marL="1588" indent="-1588" eaLnBrk="1" hangingPunct="1"/>
            <a:r>
              <a:rPr lang="en-US" altLang="zh-CN" sz="2000" dirty="0">
                <a:ea typeface="宋体" panose="02010600030101010101" pitchFamily="2" charset="-122"/>
              </a:rPr>
              <a:t> [11] </a:t>
            </a:r>
            <a:r>
              <a:rPr lang="zh-CN" altLang="en-US" sz="2000" dirty="0">
                <a:ea typeface="宋体" panose="02010600030101010101" pitchFamily="2" charset="-122"/>
              </a:rPr>
              <a:t>为提高收益和底层资源利用率，提出了两种不同的方法：将虚拟变分拆过后映射到底层多个物理路径；采用迁移机制对映射结果进行重优化，提高底层网络的资源利用率。</a:t>
            </a:r>
            <a:endParaRPr lang="en-US" altLang="zh-CN" sz="2000" dirty="0">
              <a:ea typeface="宋体" panose="02010600030101010101" pitchFamily="2" charset="-122"/>
            </a:endParaRPr>
          </a:p>
          <a:p>
            <a:pPr marL="1588" indent="-1588" eaLnBrk="1" hangingPunct="1"/>
            <a:r>
              <a:rPr lang="en-US" altLang="zh-CN" sz="2000" dirty="0">
                <a:ea typeface="宋体" panose="02010600030101010101" pitchFamily="2" charset="-122"/>
              </a:rPr>
              <a:t> [12] </a:t>
            </a:r>
            <a:r>
              <a:rPr lang="zh-CN" altLang="en-US" sz="2000" dirty="0">
                <a:ea typeface="宋体" panose="02010600030101010101" pitchFamily="2" charset="-122"/>
              </a:rPr>
              <a:t>研究了动态情况下虚拟网络的重构和重新部署问题。</a:t>
            </a:r>
            <a:endParaRPr lang="en-US" altLang="zh-CN" sz="2000" dirty="0">
              <a:ea typeface="宋体" panose="02010600030101010101" pitchFamily="2" charset="-122"/>
            </a:endParaRPr>
          </a:p>
          <a:p>
            <a:pPr marL="1588" indent="-1588" eaLnBrk="1" hangingPunct="1"/>
            <a:r>
              <a:rPr lang="en-US" altLang="zh-CN" sz="2000" dirty="0">
                <a:ea typeface="宋体" panose="02010600030101010101" pitchFamily="2" charset="-122"/>
              </a:rPr>
              <a:t> [13] </a:t>
            </a:r>
            <a:r>
              <a:rPr lang="zh-CN" altLang="en-US" sz="2000" dirty="0">
                <a:ea typeface="宋体" panose="02010600030101010101" pitchFamily="2" charset="-122"/>
              </a:rPr>
              <a:t>提出了一种链路失效下的保护方法，该方法基于快速路由策略以及提前为每一条物理链路配置冗余的带宽资源，但是受失效影响的工作带宽不保证全部恢复。</a:t>
            </a:r>
            <a:endParaRPr lang="en-US" altLang="zh-CN" sz="2000" dirty="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6690"/>
    </mc:Choice>
    <mc:Fallback xmlns="">
      <p:transition spd="slow" advTm="1669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6145">
            <a:extLst>
              <a:ext uri="{FF2B5EF4-FFF2-40B4-BE49-F238E27FC236}">
                <a16:creationId xmlns:a16="http://schemas.microsoft.com/office/drawing/2014/main" id="{666012F1-647C-439F-9D8C-9AE4C46BE5E8}"/>
              </a:ext>
            </a:extLst>
          </p:cNvPr>
          <p:cNvSpPr>
            <a:spLocks noGrp="1" noChangeArrowheads="1"/>
          </p:cNvSpPr>
          <p:nvPr>
            <p:ph type="title"/>
          </p:nvPr>
        </p:nvSpPr>
        <p:spPr/>
        <p:txBody>
          <a:bodyPr/>
          <a:lstStyle/>
          <a:p>
            <a:pPr eaLnBrk="1" hangingPunct="1"/>
            <a:r>
              <a:rPr lang="zh-CN" altLang="en-US">
                <a:latin typeface="宋体" panose="02010600030101010101" pitchFamily="2" charset="-122"/>
                <a:ea typeface="宋体" panose="02010600030101010101" pitchFamily="2" charset="-122"/>
              </a:rPr>
              <a:t>背景及研究现状</a:t>
            </a:r>
          </a:p>
        </p:txBody>
      </p:sp>
      <p:sp>
        <p:nvSpPr>
          <p:cNvPr id="6147" name="文本占位符 6146">
            <a:extLst>
              <a:ext uri="{FF2B5EF4-FFF2-40B4-BE49-F238E27FC236}">
                <a16:creationId xmlns:a16="http://schemas.microsoft.com/office/drawing/2014/main" id="{FC9BC6C8-51F0-4927-85C4-F35277FEF8BB}"/>
              </a:ext>
            </a:extLst>
          </p:cNvPr>
          <p:cNvSpPr>
            <a:spLocks noGrp="1" noChangeArrowheads="1"/>
          </p:cNvSpPr>
          <p:nvPr>
            <p:ph type="body" idx="1"/>
          </p:nvPr>
        </p:nvSpPr>
        <p:spPr>
          <a:xfrm>
            <a:off x="457200" y="1219258"/>
            <a:ext cx="8229600" cy="4800474"/>
          </a:xfrm>
        </p:spPr>
        <p:txBody>
          <a:bodyPr/>
          <a:lstStyle/>
          <a:p>
            <a:pPr marL="1588" indent="-1588" eaLnBrk="1" hangingPunct="1"/>
            <a:r>
              <a:rPr lang="en-US" altLang="zh-CN" sz="2000" dirty="0">
                <a:ea typeface="宋体" panose="02010600030101010101" pitchFamily="2" charset="-122"/>
              </a:rPr>
              <a:t> [14] </a:t>
            </a:r>
            <a:r>
              <a:rPr lang="zh-CN" altLang="en-US" sz="2000" dirty="0">
                <a:ea typeface="宋体" panose="02010600030101010101" pitchFamily="2" charset="-122"/>
              </a:rPr>
              <a:t>提出了多个虚拟网络请求的共享备份网络，主要包括基于需求的保护方法和既有预分配的共享保护方法。</a:t>
            </a:r>
            <a:endParaRPr lang="en-US" altLang="zh-CN" sz="2000" dirty="0">
              <a:ea typeface="宋体" panose="02010600030101010101" pitchFamily="2" charset="-122"/>
            </a:endParaRPr>
          </a:p>
          <a:p>
            <a:pPr marL="1588" indent="-1588" eaLnBrk="1" hangingPunct="1"/>
            <a:r>
              <a:rPr lang="en-US" altLang="zh-CN" sz="2000" dirty="0">
                <a:ea typeface="宋体" panose="02010600030101010101" pitchFamily="2" charset="-122"/>
              </a:rPr>
              <a:t> [15] </a:t>
            </a:r>
            <a:r>
              <a:rPr lang="zh-CN" altLang="en-US" sz="2000" dirty="0">
                <a:ea typeface="宋体" panose="02010600030101010101" pitchFamily="2" charset="-122"/>
              </a:rPr>
              <a:t>提出的方法可以容忍底层物理节点失效和链路失效，但是采用的方法是将虚拟节点复制两倍甚至更多，需要太多的冗余资源。</a:t>
            </a:r>
            <a:endParaRPr lang="en-US" altLang="zh-CN" sz="2000" dirty="0">
              <a:ea typeface="宋体" panose="02010600030101010101" pitchFamily="2" charset="-122"/>
            </a:endParaRPr>
          </a:p>
          <a:p>
            <a:pPr marL="1588" indent="-1588" eaLnBrk="1" hangingPunct="1"/>
            <a:r>
              <a:rPr lang="en-US" altLang="zh-CN" sz="2000" dirty="0">
                <a:ea typeface="宋体" panose="02010600030101010101" pitchFamily="2" charset="-122"/>
              </a:rPr>
              <a:t> [16]~[17] </a:t>
            </a:r>
            <a:r>
              <a:rPr lang="zh-CN" altLang="en-US" sz="2000" dirty="0">
                <a:ea typeface="宋体" panose="02010600030101010101" pitchFamily="2" charset="-122"/>
              </a:rPr>
              <a:t>考虑了区域失败（区域内虚拟机和链路同时失效）情况下的虚拟网络映射问题，同时提出来了</a:t>
            </a:r>
            <a:r>
              <a:rPr lang="en-US" altLang="zh-CN" sz="2000" dirty="0">
                <a:ea typeface="宋体" panose="02010600030101010101" pitchFamily="2" charset="-122"/>
              </a:rPr>
              <a:t>MILP</a:t>
            </a:r>
            <a:r>
              <a:rPr lang="zh-CN" altLang="en-US" sz="2000" dirty="0">
                <a:ea typeface="宋体" panose="02010600030101010101" pitchFamily="2" charset="-122"/>
              </a:rPr>
              <a:t>模型。</a:t>
            </a:r>
            <a:endParaRPr lang="en-US" altLang="zh-CN" sz="2000" dirty="0">
              <a:ea typeface="宋体" panose="02010600030101010101" pitchFamily="2" charset="-122"/>
            </a:endParaRPr>
          </a:p>
          <a:p>
            <a:pPr marL="1588" indent="-1588" eaLnBrk="1" hangingPunct="1"/>
            <a:r>
              <a:rPr lang="en-US" altLang="zh-CN" sz="2000" dirty="0">
                <a:ea typeface="宋体" panose="02010600030101010101" pitchFamily="2" charset="-122"/>
              </a:rPr>
              <a:t> [18] </a:t>
            </a:r>
            <a:r>
              <a:rPr lang="zh-CN" altLang="en-US" sz="2000">
                <a:ea typeface="宋体" panose="02010600030101010101" pitchFamily="2" charset="-122"/>
              </a:rPr>
              <a:t>研究了不同虚拟网络请求之间的备份网络资源共享，同时提出了冗余虚拟资源池的概念，但是它并没有考虑同一个虚拟网络请求在映射过程中的资源共享问题。</a:t>
            </a:r>
            <a:endParaRPr lang="en-US" altLang="zh-CN" sz="2000" dirty="0">
              <a:ea typeface="宋体" panose="02010600030101010101" pitchFamily="2" charset="-122"/>
            </a:endParaRPr>
          </a:p>
        </p:txBody>
      </p:sp>
    </p:spTree>
    <p:extLst>
      <p:ext uri="{BB962C8B-B14F-4D97-AF65-F5344CB8AC3E}">
        <p14:creationId xmlns:p14="http://schemas.microsoft.com/office/powerpoint/2010/main" val="387865431"/>
      </p:ext>
    </p:extLst>
  </p:cSld>
  <p:clrMapOvr>
    <a:masterClrMapping/>
  </p:clrMapOvr>
  <mc:AlternateContent xmlns:mc="http://schemas.openxmlformats.org/markup-compatibility/2006" xmlns:p14="http://schemas.microsoft.com/office/powerpoint/2010/main">
    <mc:Choice Requires="p14">
      <p:transition spd="slow" p14:dur="2000" advTm="1658"/>
    </mc:Choice>
    <mc:Fallback xmlns="">
      <p:transition spd="slow" advTm="165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文本占位符 7170">
            <a:extLst>
              <a:ext uri="{FF2B5EF4-FFF2-40B4-BE49-F238E27FC236}">
                <a16:creationId xmlns:a16="http://schemas.microsoft.com/office/drawing/2014/main" id="{5D601CF2-62E2-4843-B15C-75279DE5D1BA}"/>
              </a:ext>
            </a:extLst>
          </p:cNvPr>
          <p:cNvSpPr>
            <a:spLocks noGrp="1" noChangeArrowheads="1"/>
          </p:cNvSpPr>
          <p:nvPr>
            <p:ph type="body" idx="1"/>
          </p:nvPr>
        </p:nvSpPr>
        <p:spPr/>
        <p:txBody>
          <a:bodyPr/>
          <a:lstStyle/>
          <a:p>
            <a:pPr eaLnBrk="1" hangingPunct="1"/>
            <a:r>
              <a:rPr lang="zh-CN" altLang="en-US" sz="2600" dirty="0">
                <a:ea typeface="宋体" panose="02010600030101010101" pitchFamily="2" charset="-122"/>
              </a:rPr>
              <a:t>虚拟数据中心请求</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租户的一个虚拟中心请求包括具有计算资源请求的虚拟机和虚拟机之间的网络连接。</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这些计算资源包括：</a:t>
            </a:r>
            <a:r>
              <a:rPr lang="en-US" altLang="zh-CN" sz="2600" dirty="0">
                <a:ea typeface="宋体" panose="02010600030101010101" pitchFamily="2" charset="-122"/>
              </a:rPr>
              <a:t>CPU</a:t>
            </a:r>
            <a:r>
              <a:rPr lang="zh-CN" altLang="en-US" sz="2600" dirty="0">
                <a:ea typeface="宋体" panose="02010600030101010101" pitchFamily="2" charset="-122"/>
              </a:rPr>
              <a:t>资源、内存资源、存储资源等。</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网络连接必须保证虚拟机之间的带宽以及时延要求。</a:t>
            </a:r>
            <a:endParaRPr lang="en-US" altLang="zh-CN" sz="2600" dirty="0">
              <a:ea typeface="宋体" panose="02010600030101010101" pitchFamily="2" charset="-122"/>
            </a:endParaRPr>
          </a:p>
        </p:txBody>
      </p:sp>
      <p:sp>
        <p:nvSpPr>
          <p:cNvPr id="7170" name="标题 7169">
            <a:extLst>
              <a:ext uri="{FF2B5EF4-FFF2-40B4-BE49-F238E27FC236}">
                <a16:creationId xmlns:a16="http://schemas.microsoft.com/office/drawing/2014/main" id="{5F503A32-A72E-495B-9F64-F23F85BB0F62}"/>
              </a:ext>
            </a:extLst>
          </p:cNvPr>
          <p:cNvSpPr>
            <a:spLocks noGrp="1" noChangeArrowheads="1"/>
          </p:cNvSpPr>
          <p:nvPr>
            <p:ph type="title"/>
          </p:nvPr>
        </p:nvSpPr>
        <p:spPr/>
        <p:txBody>
          <a:bodyPr/>
          <a:lstStyle/>
          <a:p>
            <a:pPr eaLnBrk="1" hangingPunct="1"/>
            <a:r>
              <a:rPr lang="zh-CN" altLang="en-US">
                <a:ea typeface="宋体" panose="02010600030101010101" pitchFamily="2" charset="-122"/>
              </a:rPr>
              <a:t>网络模型及问题描述</a:t>
            </a:r>
          </a:p>
        </p:txBody>
      </p:sp>
    </p:spTree>
    <p:extLst>
      <p:ext uri="{BB962C8B-B14F-4D97-AF65-F5344CB8AC3E}">
        <p14:creationId xmlns:p14="http://schemas.microsoft.com/office/powerpoint/2010/main" val="747146116"/>
      </p:ext>
    </p:extLst>
  </p:cSld>
  <p:clrMapOvr>
    <a:masterClrMapping/>
  </p:clrMapOvr>
  <mc:AlternateContent xmlns:mc="http://schemas.openxmlformats.org/markup-compatibility/2006" xmlns:p14="http://schemas.microsoft.com/office/powerpoint/2010/main">
    <mc:Choice Requires="p14">
      <p:transition spd="slow" p14:dur="2000" advTm="526"/>
    </mc:Choice>
    <mc:Fallback xmlns="">
      <p:transition spd="slow" advTm="52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171" name="文本占位符 7170">
                <a:extLst>
                  <a:ext uri="{FF2B5EF4-FFF2-40B4-BE49-F238E27FC236}">
                    <a16:creationId xmlns:a16="http://schemas.microsoft.com/office/drawing/2014/main" id="{5D601CF2-62E2-4843-B15C-75279DE5D1BA}"/>
                  </a:ext>
                </a:extLst>
              </p:cNvPr>
              <p:cNvSpPr>
                <a:spLocks noGrp="1" noChangeArrowheads="1"/>
              </p:cNvSpPr>
              <p:nvPr>
                <p:ph type="body" idx="1"/>
              </p:nvPr>
            </p:nvSpPr>
            <p:spPr/>
            <p:txBody>
              <a:bodyPr/>
              <a:lstStyle/>
              <a:p>
                <a:pPr eaLnBrk="1" hangingPunct="1"/>
                <a:r>
                  <a:rPr lang="zh-CN" altLang="en-US" sz="2600" dirty="0">
                    <a:ea typeface="宋体" panose="02010600030101010101" pitchFamily="2" charset="-122"/>
                  </a:rPr>
                  <a:t>虚拟数据中心请求</a:t>
                </a:r>
                <a:endParaRPr lang="en-US" altLang="zh-CN" sz="2600" dirty="0">
                  <a:ea typeface="宋体" panose="02010600030101010101" pitchFamily="2" charset="-122"/>
                </a:endParaRPr>
              </a:p>
              <a:p>
                <a:pPr marL="0" indent="0" eaLnBrk="1" hangingPunct="1">
                  <a:buNone/>
                </a:pPr>
                <a14:m>
                  <m:oMath xmlns:m="http://schemas.openxmlformats.org/officeDocument/2006/math">
                    <m:r>
                      <a:rPr lang="en-US" altLang="zh-CN" sz="2600" b="0" i="1" smtClean="0">
                        <a:latin typeface="Cambria Math" panose="02040503050406030204" pitchFamily="18" charset="0"/>
                        <a:ea typeface="宋体" panose="02010600030101010101" pitchFamily="2" charset="-122"/>
                      </a:rPr>
                      <m:t>𝐺</m:t>
                    </m:r>
                    <m:r>
                      <m:rPr>
                        <m:sty m:val="p"/>
                      </m:rPr>
                      <a:rPr lang="en-US" altLang="zh-CN" sz="2600" i="1">
                        <a:latin typeface="Cambria Math" panose="02040503050406030204" pitchFamily="18" charset="0"/>
                        <a:ea typeface="宋体" panose="02010600030101010101" pitchFamily="2" charset="-122"/>
                      </a:rPr>
                      <m:t>v</m:t>
                    </m:r>
                    <m:r>
                      <a:rPr lang="en-US" altLang="zh-CN" sz="2600" b="0" i="1" smtClean="0">
                        <a:latin typeface="Cambria Math" panose="02040503050406030204" pitchFamily="18" charset="0"/>
                        <a:ea typeface="宋体" panose="02010600030101010101" pitchFamily="2" charset="-122"/>
                      </a:rPr>
                      <m:t>=</m:t>
                    </m:r>
                    <m:d>
                      <m:dPr>
                        <m:ctrlPr>
                          <a:rPr lang="en-US" altLang="zh-CN" sz="2600" b="0" i="1" smtClean="0">
                            <a:latin typeface="Cambria Math" panose="02040503050406030204" pitchFamily="18" charset="0"/>
                            <a:ea typeface="宋体" panose="02010600030101010101" pitchFamily="2" charset="-122"/>
                          </a:rPr>
                        </m:ctrlPr>
                      </m:dPr>
                      <m:e>
                        <m:r>
                          <a:rPr lang="en-US" altLang="zh-CN" sz="2600" b="0" i="1" smtClean="0">
                            <a:latin typeface="Cambria Math" panose="02040503050406030204" pitchFamily="18" charset="0"/>
                            <a:ea typeface="宋体" panose="02010600030101010101" pitchFamily="2" charset="-122"/>
                          </a:rPr>
                          <m:t>𝑁𝑣</m:t>
                        </m:r>
                        <m:r>
                          <a:rPr lang="en-US" altLang="zh-CN" sz="2600" b="0" i="1" smtClean="0">
                            <a:latin typeface="Cambria Math" panose="02040503050406030204" pitchFamily="18" charset="0"/>
                            <a:ea typeface="宋体" panose="02010600030101010101" pitchFamily="2" charset="-122"/>
                          </a:rPr>
                          <m:t>,  </m:t>
                        </m:r>
                        <m:r>
                          <a:rPr lang="en-US" altLang="zh-CN" sz="2600" b="0" i="1" smtClean="0">
                            <a:latin typeface="Cambria Math" panose="02040503050406030204" pitchFamily="18" charset="0"/>
                            <a:ea typeface="宋体" panose="02010600030101010101" pitchFamily="2" charset="-122"/>
                          </a:rPr>
                          <m:t>𝐿𝑣</m:t>
                        </m:r>
                      </m:e>
                    </m:d>
                  </m:oMath>
                </a14:m>
                <a:r>
                  <a:rPr lang="en-US" altLang="zh-CN" sz="2600" dirty="0">
                    <a:ea typeface="宋体" panose="02010600030101010101" pitchFamily="2" charset="-122"/>
                  </a:rPr>
                  <a:t> </a:t>
                </a:r>
                <a:r>
                  <a:rPr lang="zh-CN" altLang="en-US" sz="2600" dirty="0">
                    <a:ea typeface="宋体" panose="02010600030101010101" pitchFamily="2" charset="-122"/>
                  </a:rPr>
                  <a:t>带权重的虚拟数据中心请求网络拓扑</a:t>
                </a:r>
                <a:endParaRPr lang="en-US" altLang="zh-CN" sz="2600" dirty="0">
                  <a:ea typeface="宋体" panose="02010600030101010101" pitchFamily="2" charset="-122"/>
                </a:endParaRPr>
              </a:p>
              <a:p>
                <a:pPr marL="0" indent="0" eaLnBrk="1" hangingPunct="1">
                  <a:buNone/>
                </a:pPr>
                <a14:m>
                  <m:oMath xmlns:m="http://schemas.openxmlformats.org/officeDocument/2006/math">
                    <m:r>
                      <a:rPr lang="en-US" altLang="zh-CN" sz="2600" b="0" i="1" smtClean="0">
                        <a:latin typeface="Cambria Math" panose="02040503050406030204" pitchFamily="18" charset="0"/>
                        <a:ea typeface="宋体" panose="02010600030101010101" pitchFamily="2" charset="-122"/>
                      </a:rPr>
                      <m:t>𝑁</m:t>
                    </m:r>
                    <m:r>
                      <m:rPr>
                        <m:sty m:val="p"/>
                      </m:rPr>
                      <a:rPr lang="en-US" altLang="zh-CN" sz="2600" i="1">
                        <a:latin typeface="Cambria Math" panose="02040503050406030204" pitchFamily="18" charset="0"/>
                        <a:ea typeface="宋体" panose="02010600030101010101" pitchFamily="2" charset="-122"/>
                      </a:rPr>
                      <m:t>v</m:t>
                    </m:r>
                  </m:oMath>
                </a14:m>
                <a:r>
                  <a:rPr lang="en-US" altLang="zh-CN" sz="2600" dirty="0">
                    <a:ea typeface="宋体" panose="02010600030101010101" pitchFamily="2" charset="-122"/>
                  </a:rPr>
                  <a:t> </a:t>
                </a:r>
                <a:r>
                  <a:rPr lang="zh-CN" altLang="en-US" sz="2600" dirty="0">
                    <a:ea typeface="宋体" panose="02010600030101010101" pitchFamily="2" charset="-122"/>
                  </a:rPr>
                  <a:t>虚拟数据中心里虚拟机的集合</a:t>
                </a:r>
                <a:endParaRPr lang="en-US" altLang="zh-CN" sz="2600" dirty="0">
                  <a:ea typeface="宋体" panose="02010600030101010101" pitchFamily="2" charset="-122"/>
                </a:endParaRPr>
              </a:p>
              <a:p>
                <a:pPr marL="0" indent="0" eaLnBrk="1" hangingPunct="1">
                  <a:buNone/>
                </a:pPr>
                <a14:m>
                  <m:oMath xmlns:m="http://schemas.openxmlformats.org/officeDocument/2006/math">
                    <m:r>
                      <a:rPr lang="en-US" altLang="zh-CN" sz="2600" b="0" i="1" smtClean="0">
                        <a:latin typeface="Cambria Math" panose="02040503050406030204" pitchFamily="18" charset="0"/>
                        <a:ea typeface="宋体" panose="02010600030101010101" pitchFamily="2" charset="-122"/>
                      </a:rPr>
                      <m:t>𝐿</m:t>
                    </m:r>
                    <m:r>
                      <m:rPr>
                        <m:sty m:val="p"/>
                      </m:rPr>
                      <a:rPr lang="en-US" altLang="zh-CN" sz="2600" i="1">
                        <a:latin typeface="Cambria Math" panose="02040503050406030204" pitchFamily="18" charset="0"/>
                        <a:ea typeface="宋体" panose="02010600030101010101" pitchFamily="2" charset="-122"/>
                      </a:rPr>
                      <m:t>v</m:t>
                    </m:r>
                  </m:oMath>
                </a14:m>
                <a:r>
                  <a:rPr lang="en-US" altLang="zh-CN" sz="2600" dirty="0">
                    <a:ea typeface="宋体" panose="02010600030101010101" pitchFamily="2" charset="-122"/>
                  </a:rPr>
                  <a:t> </a:t>
                </a:r>
                <a:r>
                  <a:rPr lang="zh-CN" altLang="en-US" sz="2600" dirty="0">
                    <a:ea typeface="宋体" panose="02010600030101010101" pitchFamily="2" charset="-122"/>
                  </a:rPr>
                  <a:t>连接虚拟机的边集合</a:t>
                </a:r>
                <a:r>
                  <a:rPr lang="en-US" altLang="zh-CN" sz="2600" dirty="0">
                    <a:ea typeface="宋体" panose="02010600030101010101" pitchFamily="2" charset="-122"/>
                  </a:rPr>
                  <a:t> </a:t>
                </a:r>
              </a:p>
              <a:p>
                <a:pPr marL="0" indent="0" eaLnBrk="1" hangingPunct="1">
                  <a:buNone/>
                </a:pPr>
                <a14:m>
                  <m:oMath xmlns:m="http://schemas.openxmlformats.org/officeDocument/2006/math">
                    <m:r>
                      <m:rPr>
                        <m:sty m:val="p"/>
                      </m:rPr>
                      <a:rPr lang="en-US" altLang="zh-CN" sz="2600" i="1" dirty="0">
                        <a:latin typeface="Cambria Math" panose="02040503050406030204" pitchFamily="18" charset="0"/>
                        <a:ea typeface="宋体" panose="02010600030101010101" pitchFamily="2" charset="-122"/>
                      </a:rPr>
                      <m:t>c</m:t>
                    </m:r>
                    <m:d>
                      <m:dPr>
                        <m:ctrlPr>
                          <a:rPr lang="en-US" altLang="zh-CN" sz="2600" b="0" i="1" dirty="0" smtClean="0">
                            <a:latin typeface="Cambria Math" panose="02040503050406030204" pitchFamily="18" charset="0"/>
                            <a:ea typeface="宋体" panose="02010600030101010101" pitchFamily="2" charset="-122"/>
                          </a:rPr>
                        </m:ctrlPr>
                      </m:dPr>
                      <m:e>
                        <m:sSub>
                          <m:sSubPr>
                            <m:ctrlPr>
                              <a:rPr lang="en-US" altLang="zh-CN" sz="2600" b="0" i="1" dirty="0" smtClean="0">
                                <a:latin typeface="Cambria Math" panose="02040503050406030204" pitchFamily="18" charset="0"/>
                                <a:ea typeface="宋体" panose="02010600030101010101" pitchFamily="2" charset="-122"/>
                              </a:rPr>
                            </m:ctrlPr>
                          </m:sSubPr>
                          <m:e>
                            <m:r>
                              <a:rPr lang="en-US" altLang="zh-CN" sz="2600" b="0" i="1" dirty="0" smtClean="0">
                                <a:latin typeface="Cambria Math" panose="02040503050406030204" pitchFamily="18" charset="0"/>
                                <a:ea typeface="宋体" panose="02010600030101010101" pitchFamily="2" charset="-122"/>
                              </a:rPr>
                              <m:t>𝑛</m:t>
                            </m:r>
                          </m:e>
                          <m:sub>
                            <m:r>
                              <a:rPr lang="en-US" altLang="zh-CN" sz="2600" b="0" i="1" dirty="0" smtClean="0">
                                <a:latin typeface="Cambria Math" panose="02040503050406030204" pitchFamily="18" charset="0"/>
                                <a:ea typeface="宋体" panose="02010600030101010101" pitchFamily="2" charset="-122"/>
                              </a:rPr>
                              <m:t>𝑣</m:t>
                            </m:r>
                          </m:sub>
                        </m:sSub>
                      </m:e>
                    </m:d>
                  </m:oMath>
                </a14:m>
                <a:r>
                  <a:rPr lang="en-US" altLang="zh-CN" sz="2600" dirty="0">
                    <a:ea typeface="宋体" panose="02010600030101010101" pitchFamily="2" charset="-122"/>
                  </a:rPr>
                  <a:t> </a:t>
                </a:r>
                <a:r>
                  <a:rPr lang="zh-CN" altLang="en-US" sz="2600" dirty="0">
                    <a:ea typeface="宋体" panose="02010600030101010101" pitchFamily="2" charset="-122"/>
                  </a:rPr>
                  <a:t>每个虚拟机需要的计算资源</a:t>
                </a:r>
                <a:endParaRPr lang="en-US" altLang="zh-CN" sz="2600" dirty="0">
                  <a:ea typeface="宋体" panose="02010600030101010101" pitchFamily="2" charset="-122"/>
                </a:endParaRPr>
              </a:p>
              <a:p>
                <a:pPr marL="0" indent="0" eaLnBrk="1" hangingPunct="1">
                  <a:buNone/>
                </a:pPr>
                <a14:m>
                  <m:oMath xmlns:m="http://schemas.openxmlformats.org/officeDocument/2006/math">
                    <m:r>
                      <a:rPr lang="en-US" altLang="zh-CN" sz="2600" b="0" i="1" dirty="0" smtClean="0">
                        <a:latin typeface="Cambria Math" panose="02040503050406030204" pitchFamily="18" charset="0"/>
                        <a:ea typeface="宋体" panose="02010600030101010101" pitchFamily="2" charset="-122"/>
                      </a:rPr>
                      <m:t>𝑏</m:t>
                    </m:r>
                    <m:d>
                      <m:dPr>
                        <m:ctrlPr>
                          <a:rPr lang="en-US" altLang="zh-CN" sz="2600" b="0" i="1" dirty="0" smtClean="0">
                            <a:latin typeface="Cambria Math" panose="02040503050406030204" pitchFamily="18" charset="0"/>
                            <a:ea typeface="宋体" panose="02010600030101010101" pitchFamily="2" charset="-122"/>
                          </a:rPr>
                        </m:ctrlPr>
                      </m:dPr>
                      <m:e>
                        <m:sSub>
                          <m:sSubPr>
                            <m:ctrlPr>
                              <a:rPr lang="en-US" altLang="zh-CN" sz="2600" b="0" i="1" dirty="0" smtClean="0">
                                <a:latin typeface="Cambria Math" panose="02040503050406030204" pitchFamily="18" charset="0"/>
                                <a:ea typeface="宋体" panose="02010600030101010101" pitchFamily="2" charset="-122"/>
                              </a:rPr>
                            </m:ctrlPr>
                          </m:sSubPr>
                          <m:e>
                            <m:r>
                              <a:rPr lang="en-US" altLang="zh-CN" sz="2600" b="0" i="1" dirty="0" smtClean="0">
                                <a:latin typeface="Cambria Math" panose="02040503050406030204" pitchFamily="18" charset="0"/>
                                <a:ea typeface="宋体" panose="02010600030101010101" pitchFamily="2" charset="-122"/>
                              </a:rPr>
                              <m:t>𝑙</m:t>
                            </m:r>
                          </m:e>
                          <m:sub>
                            <m:r>
                              <a:rPr lang="en-US" altLang="zh-CN" sz="2600" b="0" i="1" dirty="0" smtClean="0">
                                <a:latin typeface="Cambria Math" panose="02040503050406030204" pitchFamily="18" charset="0"/>
                                <a:ea typeface="宋体" panose="02010600030101010101" pitchFamily="2" charset="-122"/>
                              </a:rPr>
                              <m:t>𝑣</m:t>
                            </m:r>
                          </m:sub>
                        </m:sSub>
                      </m:e>
                    </m:d>
                  </m:oMath>
                </a14:m>
                <a:r>
                  <a:rPr lang="en-US" altLang="zh-CN" sz="2600" dirty="0">
                    <a:ea typeface="宋体" panose="02010600030101010101" pitchFamily="2" charset="-122"/>
                  </a:rPr>
                  <a:t> </a:t>
                </a:r>
                <a:r>
                  <a:rPr lang="zh-CN" altLang="en-US" sz="2600" dirty="0">
                    <a:ea typeface="宋体" panose="02010600030101010101" pitchFamily="2" charset="-122"/>
                  </a:rPr>
                  <a:t>虚拟机</a:t>
                </a:r>
                <a14:m>
                  <m:oMath xmlns:m="http://schemas.openxmlformats.org/officeDocument/2006/math">
                    <m:r>
                      <m:rPr>
                        <m:nor/>
                      </m:rPr>
                      <a:rPr lang="en-US" altLang="zh-CN" sz="2600" dirty="0" smtClean="0">
                        <a:ea typeface="宋体" panose="02010600030101010101" pitchFamily="2" charset="-122"/>
                      </a:rPr>
                      <m:t>i</m:t>
                    </m:r>
                  </m:oMath>
                </a14:m>
                <a:r>
                  <a:rPr lang="zh-CN" altLang="en-US" sz="2600" dirty="0">
                    <a:ea typeface="宋体" panose="02010600030101010101" pitchFamily="2" charset="-122"/>
                  </a:rPr>
                  <a:t>和</a:t>
                </a:r>
                <a14:m>
                  <m:oMath xmlns:m="http://schemas.openxmlformats.org/officeDocument/2006/math">
                    <m:r>
                      <m:rPr>
                        <m:nor/>
                      </m:rPr>
                      <a:rPr lang="en-US" altLang="zh-CN" sz="2600" dirty="0">
                        <a:ea typeface="宋体" panose="02010600030101010101" pitchFamily="2" charset="-122"/>
                      </a:rPr>
                      <m:t>j</m:t>
                    </m:r>
                  </m:oMath>
                </a14:m>
                <a:r>
                  <a:rPr lang="zh-CN" altLang="en-US" sz="2600" dirty="0">
                    <a:ea typeface="宋体" panose="02010600030101010101" pitchFamily="2" charset="-122"/>
                  </a:rPr>
                  <a:t>之间的虚拟边</a:t>
                </a:r>
                <a14:m>
                  <m:oMath xmlns:m="http://schemas.openxmlformats.org/officeDocument/2006/math">
                    <m:sSub>
                      <m:sSubPr>
                        <m:ctrlPr>
                          <a:rPr lang="en-US" altLang="zh-CN" sz="2600" i="1" dirty="0" smtClean="0">
                            <a:latin typeface="Cambria Math" panose="02040503050406030204" pitchFamily="18" charset="0"/>
                            <a:ea typeface="宋体" panose="02010600030101010101" pitchFamily="2" charset="-122"/>
                          </a:rPr>
                        </m:ctrlPr>
                      </m:sSubPr>
                      <m:e>
                        <m:r>
                          <a:rPr lang="en-US" altLang="zh-CN" sz="2600" b="0" i="1" dirty="0" smtClean="0">
                            <a:latin typeface="Cambria Math" panose="02040503050406030204" pitchFamily="18" charset="0"/>
                            <a:ea typeface="宋体" panose="02010600030101010101" pitchFamily="2" charset="-122"/>
                          </a:rPr>
                          <m:t>𝑙</m:t>
                        </m:r>
                      </m:e>
                      <m:sub>
                        <m:r>
                          <a:rPr lang="en-US" altLang="zh-CN" sz="2600" b="0" i="1" dirty="0" smtClean="0">
                            <a:latin typeface="Cambria Math" panose="02040503050406030204" pitchFamily="18" charset="0"/>
                            <a:ea typeface="宋体" panose="02010600030101010101" pitchFamily="2" charset="-122"/>
                          </a:rPr>
                          <m:t>𝑣</m:t>
                        </m:r>
                      </m:sub>
                    </m:sSub>
                    <m:d>
                      <m:dPr>
                        <m:ctrlPr>
                          <a:rPr lang="en-US" altLang="zh-CN" sz="2600" b="0" i="1" dirty="0" smtClean="0">
                            <a:latin typeface="Cambria Math" panose="02040503050406030204" pitchFamily="18" charset="0"/>
                            <a:ea typeface="宋体" panose="02010600030101010101" pitchFamily="2" charset="-122"/>
                          </a:rPr>
                        </m:ctrlPr>
                      </m:dPr>
                      <m:e>
                        <m:r>
                          <a:rPr lang="en-US" altLang="zh-CN" sz="2600" b="0" i="1" dirty="0" smtClean="0">
                            <a:latin typeface="Cambria Math" panose="02040503050406030204" pitchFamily="18" charset="0"/>
                            <a:ea typeface="宋体" panose="02010600030101010101" pitchFamily="2" charset="-122"/>
                          </a:rPr>
                          <m:t>𝑖</m:t>
                        </m:r>
                        <m:r>
                          <a:rPr lang="en-US" altLang="zh-CN" sz="2600" b="0" i="1" dirty="0" smtClean="0">
                            <a:latin typeface="Cambria Math" panose="02040503050406030204" pitchFamily="18" charset="0"/>
                            <a:ea typeface="宋体" panose="02010600030101010101" pitchFamily="2" charset="-122"/>
                          </a:rPr>
                          <m:t>,</m:t>
                        </m:r>
                        <m:r>
                          <a:rPr lang="en-US" altLang="zh-CN" sz="2600" b="0" i="1" dirty="0" smtClean="0">
                            <a:latin typeface="Cambria Math" panose="02040503050406030204" pitchFamily="18" charset="0"/>
                            <a:ea typeface="宋体" panose="02010600030101010101" pitchFamily="2" charset="-122"/>
                          </a:rPr>
                          <m:t>𝑗</m:t>
                        </m:r>
                      </m:e>
                    </m:d>
                  </m:oMath>
                </a14:m>
                <a:r>
                  <a:rPr lang="zh-CN" altLang="en-US" sz="2600" dirty="0">
                    <a:ea typeface="宋体" panose="02010600030101010101" pitchFamily="2" charset="-122"/>
                  </a:rPr>
                  <a:t>所需要的带宽资源</a:t>
                </a:r>
                <a:endParaRPr lang="en-US" altLang="zh-CN" sz="2600" dirty="0">
                  <a:ea typeface="宋体" panose="02010600030101010101" pitchFamily="2" charset="-122"/>
                </a:endParaRPr>
              </a:p>
            </p:txBody>
          </p:sp>
        </mc:Choice>
        <mc:Fallback xmlns="">
          <p:sp>
            <p:nvSpPr>
              <p:cNvPr id="7171" name="文本占位符 7170">
                <a:extLst>
                  <a:ext uri="{FF2B5EF4-FFF2-40B4-BE49-F238E27FC236}">
                    <a16:creationId xmlns:a16="http://schemas.microsoft.com/office/drawing/2014/main" id="{5D601CF2-62E2-4843-B15C-75279DE5D1BA}"/>
                  </a:ext>
                </a:extLst>
              </p:cNvPr>
              <p:cNvSpPr>
                <a:spLocks noGrp="1" noRot="1" noChangeAspect="1" noMove="1" noResize="1" noEditPoints="1" noAdjustHandles="1" noChangeArrowheads="1" noChangeShapeType="1" noTextEdit="1"/>
              </p:cNvSpPr>
              <p:nvPr>
                <p:ph type="body" idx="1"/>
              </p:nvPr>
            </p:nvSpPr>
            <p:spPr>
              <a:blipFill>
                <a:blip r:embed="rId3"/>
                <a:stretch>
                  <a:fillRect l="-296" t="-1615"/>
                </a:stretch>
              </a:blipFill>
            </p:spPr>
            <p:txBody>
              <a:bodyPr/>
              <a:lstStyle/>
              <a:p>
                <a:r>
                  <a:rPr lang="zh-CN" altLang="en-US">
                    <a:noFill/>
                  </a:rPr>
                  <a:t> </a:t>
                </a:r>
              </a:p>
            </p:txBody>
          </p:sp>
        </mc:Fallback>
      </mc:AlternateContent>
      <p:sp>
        <p:nvSpPr>
          <p:cNvPr id="7170" name="标题 7169">
            <a:extLst>
              <a:ext uri="{FF2B5EF4-FFF2-40B4-BE49-F238E27FC236}">
                <a16:creationId xmlns:a16="http://schemas.microsoft.com/office/drawing/2014/main" id="{5F503A32-A72E-495B-9F64-F23F85BB0F62}"/>
              </a:ext>
            </a:extLst>
          </p:cNvPr>
          <p:cNvSpPr>
            <a:spLocks noGrp="1" noChangeArrowheads="1"/>
          </p:cNvSpPr>
          <p:nvPr>
            <p:ph type="title"/>
          </p:nvPr>
        </p:nvSpPr>
        <p:spPr/>
        <p:txBody>
          <a:bodyPr/>
          <a:lstStyle/>
          <a:p>
            <a:pPr eaLnBrk="1" hangingPunct="1"/>
            <a:r>
              <a:rPr lang="zh-CN" altLang="en-US">
                <a:ea typeface="宋体" panose="02010600030101010101" pitchFamily="2" charset="-122"/>
              </a:rPr>
              <a:t>网络模型及问题描述</a:t>
            </a:r>
          </a:p>
        </p:txBody>
      </p:sp>
    </p:spTree>
  </p:cSld>
  <p:clrMapOvr>
    <a:masterClrMapping/>
  </p:clrMapOvr>
  <mc:AlternateContent xmlns:mc="http://schemas.openxmlformats.org/markup-compatibility/2006" xmlns:p14="http://schemas.microsoft.com/office/powerpoint/2010/main">
    <mc:Choice Requires="p14">
      <p:transition spd="slow" p14:dur="2000" advTm="708"/>
    </mc:Choice>
    <mc:Fallback xmlns="">
      <p:transition spd="slow" advTm="70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7169">
            <a:extLst>
              <a:ext uri="{FF2B5EF4-FFF2-40B4-BE49-F238E27FC236}">
                <a16:creationId xmlns:a16="http://schemas.microsoft.com/office/drawing/2014/main" id="{5F503A32-A72E-495B-9F64-F23F85BB0F62}"/>
              </a:ext>
            </a:extLst>
          </p:cNvPr>
          <p:cNvSpPr>
            <a:spLocks noGrp="1" noChangeArrowheads="1"/>
          </p:cNvSpPr>
          <p:nvPr>
            <p:ph type="title"/>
          </p:nvPr>
        </p:nvSpPr>
        <p:spPr/>
        <p:txBody>
          <a:bodyPr/>
          <a:lstStyle/>
          <a:p>
            <a:pPr eaLnBrk="1" hangingPunct="1"/>
            <a:r>
              <a:rPr lang="zh-CN" altLang="en-US">
                <a:ea typeface="宋体" panose="02010600030101010101" pitchFamily="2" charset="-122"/>
              </a:rPr>
              <a:t>网络模型及问题描述</a:t>
            </a:r>
          </a:p>
        </p:txBody>
      </p:sp>
      <p:pic>
        <p:nvPicPr>
          <p:cNvPr id="4" name="图片 3">
            <a:extLst>
              <a:ext uri="{FF2B5EF4-FFF2-40B4-BE49-F238E27FC236}">
                <a16:creationId xmlns:a16="http://schemas.microsoft.com/office/drawing/2014/main" id="{70684F1B-D095-4F49-8130-50BBE2D239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2258" y="2743218"/>
            <a:ext cx="3359391" cy="3429000"/>
          </a:xfrm>
          <a:prstGeom prst="rect">
            <a:avLst/>
          </a:prstGeom>
        </p:spPr>
      </p:pic>
      <p:sp>
        <p:nvSpPr>
          <p:cNvPr id="7171" name="文本占位符 7170">
            <a:extLst>
              <a:ext uri="{FF2B5EF4-FFF2-40B4-BE49-F238E27FC236}">
                <a16:creationId xmlns:a16="http://schemas.microsoft.com/office/drawing/2014/main" id="{5D601CF2-62E2-4843-B15C-75279DE5D1BA}"/>
              </a:ext>
            </a:extLst>
          </p:cNvPr>
          <p:cNvSpPr>
            <a:spLocks noGrp="1" noChangeArrowheads="1"/>
          </p:cNvSpPr>
          <p:nvPr>
            <p:ph type="body" idx="1"/>
          </p:nvPr>
        </p:nvSpPr>
        <p:spPr>
          <a:xfrm>
            <a:off x="457200" y="1163637"/>
            <a:ext cx="8229600" cy="4530725"/>
          </a:xfrm>
        </p:spPr>
        <p:txBody>
          <a:bodyPr/>
          <a:lstStyle/>
          <a:p>
            <a:pPr eaLnBrk="1" hangingPunct="1"/>
            <a:r>
              <a:rPr lang="zh-CN" altLang="en-US" sz="2600" dirty="0">
                <a:ea typeface="宋体" panose="02010600030101010101" pitchFamily="2" charset="-122"/>
              </a:rPr>
              <a:t>虚拟数据中心请求</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六边形框：虚拟机</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矩形框内的数字：虚拟机的计算资源请求</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虚拟边上的数字：该边的带宽资源请求</a:t>
            </a:r>
            <a:endParaRPr lang="en-US" altLang="zh-CN" sz="2600" dirty="0">
              <a:ea typeface="宋体" panose="02010600030101010101" pitchFamily="2" charset="-122"/>
            </a:endParaRPr>
          </a:p>
        </p:txBody>
      </p:sp>
    </p:spTree>
    <p:extLst>
      <p:ext uri="{BB962C8B-B14F-4D97-AF65-F5344CB8AC3E}">
        <p14:creationId xmlns:p14="http://schemas.microsoft.com/office/powerpoint/2010/main" val="707438254"/>
      </p:ext>
    </p:extLst>
  </p:cSld>
  <p:clrMapOvr>
    <a:masterClrMapping/>
  </p:clrMapOvr>
  <mc:AlternateContent xmlns:mc="http://schemas.openxmlformats.org/markup-compatibility/2006" xmlns:p14="http://schemas.microsoft.com/office/powerpoint/2010/main">
    <mc:Choice Requires="p14">
      <p:transition spd="slow" p14:dur="2000" advTm="426"/>
    </mc:Choice>
    <mc:Fallback xmlns="">
      <p:transition spd="slow" advTm="42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171" name="文本占位符 7170">
                <a:extLst>
                  <a:ext uri="{FF2B5EF4-FFF2-40B4-BE49-F238E27FC236}">
                    <a16:creationId xmlns:a16="http://schemas.microsoft.com/office/drawing/2014/main" id="{5D601CF2-62E2-4843-B15C-75279DE5D1BA}"/>
                  </a:ext>
                </a:extLst>
              </p:cNvPr>
              <p:cNvSpPr>
                <a:spLocks noGrp="1" noChangeArrowheads="1"/>
              </p:cNvSpPr>
              <p:nvPr>
                <p:ph type="body" idx="1"/>
              </p:nvPr>
            </p:nvSpPr>
            <p:spPr/>
            <p:txBody>
              <a:bodyPr/>
              <a:lstStyle/>
              <a:p>
                <a:pPr eaLnBrk="1" hangingPunct="1"/>
                <a:r>
                  <a:rPr lang="zh-CN" altLang="en-US" sz="2600" dirty="0">
                    <a:ea typeface="宋体" panose="02010600030101010101" pitchFamily="2" charset="-122"/>
                  </a:rPr>
                  <a:t>物理数据中心模型</a:t>
                </a:r>
                <a:endParaRPr lang="en-US" altLang="zh-CN" sz="2600" dirty="0">
                  <a:ea typeface="宋体" panose="02010600030101010101" pitchFamily="2" charset="-122"/>
                </a:endParaRPr>
              </a:p>
              <a:p>
                <a:pPr marL="0" indent="0" eaLnBrk="1" hangingPunct="1">
                  <a:buNone/>
                </a:pPr>
                <a14:m>
                  <m:oMath xmlns:m="http://schemas.openxmlformats.org/officeDocument/2006/math">
                    <m:r>
                      <a:rPr lang="en-US" altLang="zh-CN" sz="2600" b="0" i="1" smtClean="0">
                        <a:latin typeface="Cambria Math" panose="02040503050406030204" pitchFamily="18" charset="0"/>
                        <a:ea typeface="宋体" panose="02010600030101010101" pitchFamily="2" charset="-122"/>
                      </a:rPr>
                      <m:t>𝐺</m:t>
                    </m:r>
                    <m:r>
                      <m:rPr>
                        <m:sty m:val="p"/>
                      </m:rPr>
                      <a:rPr lang="en-US" altLang="zh-CN" sz="2600" i="1">
                        <a:latin typeface="Cambria Math" panose="02040503050406030204" pitchFamily="18" charset="0"/>
                        <a:ea typeface="宋体" panose="02010600030101010101" pitchFamily="2" charset="-122"/>
                      </a:rPr>
                      <m:t>s</m:t>
                    </m:r>
                    <m:r>
                      <a:rPr lang="en-US" altLang="zh-CN" sz="2600" b="0" i="1" smtClean="0">
                        <a:latin typeface="Cambria Math" panose="02040503050406030204" pitchFamily="18" charset="0"/>
                        <a:ea typeface="宋体" panose="02010600030101010101" pitchFamily="2" charset="-122"/>
                      </a:rPr>
                      <m:t>=</m:t>
                    </m:r>
                    <m:d>
                      <m:dPr>
                        <m:ctrlPr>
                          <a:rPr lang="en-US" altLang="zh-CN" sz="2600" b="0" i="1" smtClean="0">
                            <a:latin typeface="Cambria Math" panose="02040503050406030204" pitchFamily="18" charset="0"/>
                            <a:ea typeface="宋体" panose="02010600030101010101" pitchFamily="2" charset="-122"/>
                          </a:rPr>
                        </m:ctrlPr>
                      </m:dPr>
                      <m:e>
                        <m:r>
                          <a:rPr lang="en-US" altLang="zh-CN" sz="2600" b="0" i="1" smtClean="0">
                            <a:latin typeface="Cambria Math" panose="02040503050406030204" pitchFamily="18" charset="0"/>
                            <a:ea typeface="宋体" panose="02010600030101010101" pitchFamily="2" charset="-122"/>
                          </a:rPr>
                          <m:t>𝑁𝑠</m:t>
                        </m:r>
                        <m:r>
                          <a:rPr lang="en-US" altLang="zh-CN" sz="2600" b="0" i="1" smtClean="0">
                            <a:latin typeface="Cambria Math" panose="02040503050406030204" pitchFamily="18" charset="0"/>
                            <a:ea typeface="宋体" panose="02010600030101010101" pitchFamily="2" charset="-122"/>
                          </a:rPr>
                          <m:t>,  </m:t>
                        </m:r>
                        <m:r>
                          <a:rPr lang="en-US" altLang="zh-CN" sz="2600" b="0" i="1" smtClean="0">
                            <a:latin typeface="Cambria Math" panose="02040503050406030204" pitchFamily="18" charset="0"/>
                            <a:ea typeface="宋体" panose="02010600030101010101" pitchFamily="2" charset="-122"/>
                          </a:rPr>
                          <m:t>𝐿𝑠</m:t>
                        </m:r>
                      </m:e>
                    </m:d>
                  </m:oMath>
                </a14:m>
                <a:r>
                  <a:rPr lang="en-US" altLang="zh-CN" sz="2600" dirty="0">
                    <a:ea typeface="宋体" panose="02010600030101010101" pitchFamily="2" charset="-122"/>
                  </a:rPr>
                  <a:t> </a:t>
                </a:r>
                <a:r>
                  <a:rPr lang="zh-CN" altLang="en-US" sz="2600" dirty="0">
                    <a:ea typeface="宋体" panose="02010600030101010101" pitchFamily="2" charset="-122"/>
                  </a:rPr>
                  <a:t>带权重的底层物理数据中心网络拓扑</a:t>
                </a:r>
                <a:endParaRPr lang="en-US" altLang="zh-CN" sz="2600" dirty="0">
                  <a:ea typeface="宋体" panose="02010600030101010101" pitchFamily="2" charset="-122"/>
                </a:endParaRPr>
              </a:p>
              <a:p>
                <a:pPr marL="0" indent="0" eaLnBrk="1" hangingPunct="1">
                  <a:buNone/>
                </a:pPr>
                <a14:m>
                  <m:oMath xmlns:m="http://schemas.openxmlformats.org/officeDocument/2006/math">
                    <m:r>
                      <a:rPr lang="en-US" altLang="zh-CN" sz="2600" b="0" i="1" smtClean="0">
                        <a:latin typeface="Cambria Math" panose="02040503050406030204" pitchFamily="18" charset="0"/>
                        <a:ea typeface="宋体" panose="02010600030101010101" pitchFamily="2" charset="-122"/>
                      </a:rPr>
                      <m:t>𝑁</m:t>
                    </m:r>
                    <m:r>
                      <m:rPr>
                        <m:sty m:val="p"/>
                      </m:rPr>
                      <a:rPr lang="en-US" altLang="zh-CN" sz="2600" i="1">
                        <a:latin typeface="Cambria Math" panose="02040503050406030204" pitchFamily="18" charset="0"/>
                        <a:ea typeface="宋体" panose="02010600030101010101" pitchFamily="2" charset="-122"/>
                      </a:rPr>
                      <m:t>s</m:t>
                    </m:r>
                  </m:oMath>
                </a14:m>
                <a:r>
                  <a:rPr lang="en-US" altLang="zh-CN" sz="2600" dirty="0">
                    <a:ea typeface="宋体" panose="02010600030101010101" pitchFamily="2" charset="-122"/>
                  </a:rPr>
                  <a:t> </a:t>
                </a:r>
                <a:r>
                  <a:rPr lang="zh-CN" altLang="en-US" sz="2600" dirty="0">
                    <a:ea typeface="宋体" panose="02010600030101010101" pitchFamily="2" charset="-122"/>
                  </a:rPr>
                  <a:t>物理服务器的集合</a:t>
                </a:r>
                <a:endParaRPr lang="en-US" altLang="zh-CN" sz="2600" dirty="0">
                  <a:ea typeface="宋体" panose="02010600030101010101" pitchFamily="2" charset="-122"/>
                </a:endParaRPr>
              </a:p>
              <a:p>
                <a:pPr marL="0" indent="0" eaLnBrk="1" hangingPunct="1">
                  <a:buNone/>
                </a:pPr>
                <a14:m>
                  <m:oMath xmlns:m="http://schemas.openxmlformats.org/officeDocument/2006/math">
                    <m:r>
                      <a:rPr lang="en-US" altLang="zh-CN" sz="2600" b="0" i="1" smtClean="0">
                        <a:latin typeface="Cambria Math" panose="02040503050406030204" pitchFamily="18" charset="0"/>
                        <a:ea typeface="宋体" panose="02010600030101010101" pitchFamily="2" charset="-122"/>
                      </a:rPr>
                      <m:t>𝐿𝑠</m:t>
                    </m:r>
                  </m:oMath>
                </a14:m>
                <a:r>
                  <a:rPr lang="en-US" altLang="zh-CN" sz="2600" dirty="0">
                    <a:ea typeface="宋体" panose="02010600030101010101" pitchFamily="2" charset="-122"/>
                  </a:rPr>
                  <a:t> </a:t>
                </a:r>
                <a:r>
                  <a:rPr lang="zh-CN" altLang="en-US" sz="2600" dirty="0">
                    <a:ea typeface="宋体" panose="02010600030101010101" pitchFamily="2" charset="-122"/>
                  </a:rPr>
                  <a:t>连接服务器的物理链路集合</a:t>
                </a:r>
                <a:r>
                  <a:rPr lang="en-US" altLang="zh-CN" sz="2600" dirty="0">
                    <a:ea typeface="宋体" panose="02010600030101010101" pitchFamily="2" charset="-122"/>
                  </a:rPr>
                  <a:t> </a:t>
                </a:r>
              </a:p>
              <a:p>
                <a:pPr marL="0" indent="0" eaLnBrk="1" hangingPunct="1">
                  <a:buNone/>
                </a:pPr>
                <a14:m>
                  <m:oMath xmlns:m="http://schemas.openxmlformats.org/officeDocument/2006/math">
                    <m:r>
                      <a:rPr lang="en-US" altLang="zh-CN" sz="2600" b="0" i="1" dirty="0" smtClean="0">
                        <a:latin typeface="Cambria Math" panose="02040503050406030204" pitchFamily="18" charset="0"/>
                        <a:ea typeface="宋体" panose="02010600030101010101" pitchFamily="2" charset="-122"/>
                      </a:rPr>
                      <m:t>𝑡</m:t>
                    </m:r>
                    <m:r>
                      <m:rPr>
                        <m:sty m:val="p"/>
                      </m:rPr>
                      <a:rPr lang="en-US" altLang="zh-CN" sz="2600" i="1" dirty="0">
                        <a:latin typeface="Cambria Math" panose="02040503050406030204" pitchFamily="18" charset="0"/>
                        <a:ea typeface="宋体" panose="02010600030101010101" pitchFamily="2" charset="-122"/>
                      </a:rPr>
                      <m:t>c</m:t>
                    </m:r>
                    <m:d>
                      <m:dPr>
                        <m:ctrlPr>
                          <a:rPr lang="en-US" altLang="zh-CN" sz="2600" b="0" i="1" dirty="0" smtClean="0">
                            <a:latin typeface="Cambria Math" panose="02040503050406030204" pitchFamily="18" charset="0"/>
                            <a:ea typeface="宋体" panose="02010600030101010101" pitchFamily="2" charset="-122"/>
                          </a:rPr>
                        </m:ctrlPr>
                      </m:dPr>
                      <m:e>
                        <m:sSub>
                          <m:sSubPr>
                            <m:ctrlPr>
                              <a:rPr lang="en-US" altLang="zh-CN" sz="2600" b="0" i="1" dirty="0" smtClean="0">
                                <a:latin typeface="Cambria Math" panose="02040503050406030204" pitchFamily="18" charset="0"/>
                                <a:ea typeface="宋体" panose="02010600030101010101" pitchFamily="2" charset="-122"/>
                              </a:rPr>
                            </m:ctrlPr>
                          </m:sSubPr>
                          <m:e>
                            <m:r>
                              <a:rPr lang="en-US" altLang="zh-CN" sz="2600" b="0" i="1" dirty="0" smtClean="0">
                                <a:latin typeface="Cambria Math" panose="02040503050406030204" pitchFamily="18" charset="0"/>
                                <a:ea typeface="宋体" panose="02010600030101010101" pitchFamily="2" charset="-122"/>
                              </a:rPr>
                              <m:t>𝑛</m:t>
                            </m:r>
                          </m:e>
                          <m:sub>
                            <m:r>
                              <a:rPr lang="en-US" altLang="zh-CN" sz="2600" b="0" i="1" dirty="0" smtClean="0">
                                <a:latin typeface="Cambria Math" panose="02040503050406030204" pitchFamily="18" charset="0"/>
                                <a:ea typeface="宋体" panose="02010600030101010101" pitchFamily="2" charset="-122"/>
                              </a:rPr>
                              <m:t>𝑠</m:t>
                            </m:r>
                          </m:sub>
                        </m:sSub>
                      </m:e>
                    </m:d>
                  </m:oMath>
                </a14:m>
                <a:r>
                  <a:rPr lang="en-US" altLang="zh-CN" sz="2600" dirty="0">
                    <a:ea typeface="宋体" panose="02010600030101010101" pitchFamily="2" charset="-122"/>
                  </a:rPr>
                  <a:t> </a:t>
                </a:r>
                <a:r>
                  <a:rPr lang="zh-CN" altLang="en-US" sz="2600" dirty="0">
                    <a:ea typeface="宋体" panose="02010600030101010101" pitchFamily="2" charset="-122"/>
                  </a:rPr>
                  <a:t>每个服务器的计算资源总量</a:t>
                </a:r>
                <a:endParaRPr lang="en-US" altLang="zh-CN" sz="2600" dirty="0">
                  <a:ea typeface="宋体" panose="02010600030101010101" pitchFamily="2" charset="-122"/>
                </a:endParaRPr>
              </a:p>
              <a:p>
                <a:pPr marL="0" indent="0" eaLnBrk="1" hangingPunct="1">
                  <a:buNone/>
                </a:pPr>
                <a14:m>
                  <m:oMath xmlns:m="http://schemas.openxmlformats.org/officeDocument/2006/math">
                    <m:r>
                      <a:rPr lang="en-US" altLang="zh-CN" sz="2600" b="0" i="1" dirty="0" smtClean="0">
                        <a:latin typeface="Cambria Math" panose="02040503050406030204" pitchFamily="18" charset="0"/>
                        <a:ea typeface="宋体" panose="02010600030101010101" pitchFamily="2" charset="-122"/>
                      </a:rPr>
                      <m:t>𝑟</m:t>
                    </m:r>
                    <m:r>
                      <m:rPr>
                        <m:sty m:val="p"/>
                      </m:rPr>
                      <a:rPr lang="en-US" altLang="zh-CN" sz="2600" i="1" dirty="0">
                        <a:latin typeface="Cambria Math" panose="02040503050406030204" pitchFamily="18" charset="0"/>
                        <a:ea typeface="宋体" panose="02010600030101010101" pitchFamily="2" charset="-122"/>
                      </a:rPr>
                      <m:t>c</m:t>
                    </m:r>
                    <m:d>
                      <m:dPr>
                        <m:ctrlPr>
                          <a:rPr lang="en-US" altLang="zh-CN" sz="2600" b="0" i="1" dirty="0" smtClean="0">
                            <a:latin typeface="Cambria Math" panose="02040503050406030204" pitchFamily="18" charset="0"/>
                            <a:ea typeface="宋体" panose="02010600030101010101" pitchFamily="2" charset="-122"/>
                          </a:rPr>
                        </m:ctrlPr>
                      </m:dPr>
                      <m:e>
                        <m:sSub>
                          <m:sSubPr>
                            <m:ctrlPr>
                              <a:rPr lang="en-US" altLang="zh-CN" sz="2600" b="0" i="1" dirty="0" smtClean="0">
                                <a:latin typeface="Cambria Math" panose="02040503050406030204" pitchFamily="18" charset="0"/>
                                <a:ea typeface="宋体" panose="02010600030101010101" pitchFamily="2" charset="-122"/>
                              </a:rPr>
                            </m:ctrlPr>
                          </m:sSubPr>
                          <m:e>
                            <m:r>
                              <a:rPr lang="en-US" altLang="zh-CN" sz="2600" b="0" i="1" dirty="0" smtClean="0">
                                <a:latin typeface="Cambria Math" panose="02040503050406030204" pitchFamily="18" charset="0"/>
                                <a:ea typeface="宋体" panose="02010600030101010101" pitchFamily="2" charset="-122"/>
                              </a:rPr>
                              <m:t>𝑛</m:t>
                            </m:r>
                          </m:e>
                          <m:sub>
                            <m:r>
                              <a:rPr lang="en-US" altLang="zh-CN" sz="2600" b="0" i="1" dirty="0" smtClean="0">
                                <a:latin typeface="Cambria Math" panose="02040503050406030204" pitchFamily="18" charset="0"/>
                                <a:ea typeface="宋体" panose="02010600030101010101" pitchFamily="2" charset="-122"/>
                              </a:rPr>
                              <m:t>𝑠</m:t>
                            </m:r>
                          </m:sub>
                        </m:sSub>
                      </m:e>
                    </m:d>
                  </m:oMath>
                </a14:m>
                <a:r>
                  <a:rPr lang="en-US" altLang="zh-CN" sz="2600" dirty="0">
                    <a:ea typeface="宋体" panose="02010600030101010101" pitchFamily="2" charset="-122"/>
                  </a:rPr>
                  <a:t> </a:t>
                </a:r>
                <a:r>
                  <a:rPr lang="zh-CN" altLang="en-US" sz="2600" dirty="0">
                    <a:ea typeface="宋体" panose="02010600030101010101" pitchFamily="2" charset="-122"/>
                  </a:rPr>
                  <a:t>每个服务器的计算资源剩余量</a:t>
                </a:r>
                <a:endParaRPr lang="en-US" altLang="zh-CN" sz="2600" b="0" i="1" dirty="0">
                  <a:latin typeface="Cambria Math" panose="02040503050406030204" pitchFamily="18" charset="0"/>
                  <a:ea typeface="宋体" panose="02010600030101010101" pitchFamily="2" charset="-122"/>
                </a:endParaRPr>
              </a:p>
              <a:p>
                <a:pPr marL="0" indent="0" eaLnBrk="1" hangingPunct="1">
                  <a:buNone/>
                </a:pPr>
                <a14:m>
                  <m:oMath xmlns:m="http://schemas.openxmlformats.org/officeDocument/2006/math">
                    <m:r>
                      <a:rPr lang="en-US" altLang="zh-CN" sz="2600" b="0" i="1" dirty="0" smtClean="0">
                        <a:latin typeface="Cambria Math" panose="02040503050406030204" pitchFamily="18" charset="0"/>
                        <a:ea typeface="宋体" panose="02010600030101010101" pitchFamily="2" charset="-122"/>
                      </a:rPr>
                      <m:t>𝑢𝑐</m:t>
                    </m:r>
                    <m:d>
                      <m:dPr>
                        <m:ctrlPr>
                          <a:rPr lang="en-US" altLang="zh-CN" sz="2600" b="0" i="1" dirty="0" smtClean="0">
                            <a:latin typeface="Cambria Math" panose="02040503050406030204" pitchFamily="18" charset="0"/>
                            <a:ea typeface="宋体" panose="02010600030101010101" pitchFamily="2" charset="-122"/>
                          </a:rPr>
                        </m:ctrlPr>
                      </m:dPr>
                      <m:e>
                        <m:sSub>
                          <m:sSubPr>
                            <m:ctrlPr>
                              <a:rPr lang="en-US" altLang="zh-CN" sz="2600" b="0" i="1" dirty="0" smtClean="0">
                                <a:latin typeface="Cambria Math" panose="02040503050406030204" pitchFamily="18" charset="0"/>
                                <a:ea typeface="宋体" panose="02010600030101010101" pitchFamily="2" charset="-122"/>
                              </a:rPr>
                            </m:ctrlPr>
                          </m:sSubPr>
                          <m:e>
                            <m:r>
                              <m:rPr>
                                <m:sty m:val="p"/>
                              </m:rPr>
                              <a:rPr lang="en-US" altLang="zh-CN" sz="2600" i="1" dirty="0">
                                <a:latin typeface="Cambria Math" panose="02040503050406030204" pitchFamily="18" charset="0"/>
                                <a:ea typeface="宋体" panose="02010600030101010101" pitchFamily="2" charset="-122"/>
                              </a:rPr>
                              <m:t>n</m:t>
                            </m:r>
                          </m:e>
                          <m:sub>
                            <m:r>
                              <a:rPr lang="en-US" altLang="zh-CN" sz="2600" b="0" i="1" dirty="0" smtClean="0">
                                <a:latin typeface="Cambria Math" panose="02040503050406030204" pitchFamily="18" charset="0"/>
                                <a:ea typeface="宋体" panose="02010600030101010101" pitchFamily="2" charset="-122"/>
                              </a:rPr>
                              <m:t>𝑠</m:t>
                            </m:r>
                          </m:sub>
                        </m:sSub>
                      </m:e>
                    </m:d>
                  </m:oMath>
                </a14:m>
                <a:r>
                  <a:rPr lang="en-US" altLang="zh-CN" sz="2600" dirty="0">
                    <a:ea typeface="宋体" panose="02010600030101010101" pitchFamily="2" charset="-122"/>
                  </a:rPr>
                  <a:t> </a:t>
                </a:r>
                <a:r>
                  <a:rPr lang="zh-CN" altLang="en-US" sz="2600" dirty="0">
                    <a:ea typeface="宋体" panose="02010600030101010101" pitchFamily="2" charset="-122"/>
                  </a:rPr>
                  <a:t>单位计算资源开销</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服务器</a:t>
                </a:r>
                <a14:m>
                  <m:oMath xmlns:m="http://schemas.openxmlformats.org/officeDocument/2006/math">
                    <m:r>
                      <m:rPr>
                        <m:nor/>
                      </m:rPr>
                      <a:rPr lang="en-US" altLang="zh-CN" sz="2600" dirty="0" smtClean="0">
                        <a:ea typeface="宋体" panose="02010600030101010101" pitchFamily="2" charset="-122"/>
                      </a:rPr>
                      <m:t>i</m:t>
                    </m:r>
                  </m:oMath>
                </a14:m>
                <a:r>
                  <a:rPr lang="zh-CN" altLang="en-US" sz="2600" dirty="0">
                    <a:ea typeface="宋体" panose="02010600030101010101" pitchFamily="2" charset="-122"/>
                  </a:rPr>
                  <a:t>和</a:t>
                </a:r>
                <a14:m>
                  <m:oMath xmlns:m="http://schemas.openxmlformats.org/officeDocument/2006/math">
                    <m:r>
                      <m:rPr>
                        <m:nor/>
                      </m:rPr>
                      <a:rPr lang="en-US" altLang="zh-CN" sz="2600" dirty="0">
                        <a:ea typeface="宋体" panose="02010600030101010101" pitchFamily="2" charset="-122"/>
                      </a:rPr>
                      <m:t>j</m:t>
                    </m:r>
                  </m:oMath>
                </a14:m>
                <a:r>
                  <a:rPr lang="zh-CN" altLang="en-US" sz="2600" dirty="0">
                    <a:ea typeface="宋体" panose="02010600030101010101" pitchFamily="2" charset="-122"/>
                  </a:rPr>
                  <a:t>之间的物理链路</a:t>
                </a:r>
                <a14:m>
                  <m:oMath xmlns:m="http://schemas.openxmlformats.org/officeDocument/2006/math">
                    <m:sSub>
                      <m:sSubPr>
                        <m:ctrlPr>
                          <a:rPr lang="en-US" altLang="zh-CN" sz="2600" i="1" dirty="0" smtClean="0">
                            <a:latin typeface="Cambria Math" panose="02040503050406030204" pitchFamily="18" charset="0"/>
                            <a:ea typeface="宋体" panose="02010600030101010101" pitchFamily="2" charset="-122"/>
                          </a:rPr>
                        </m:ctrlPr>
                      </m:sSubPr>
                      <m:e>
                        <m:r>
                          <a:rPr lang="en-US" altLang="zh-CN" sz="2600" b="0" i="1" dirty="0" smtClean="0">
                            <a:latin typeface="Cambria Math" panose="02040503050406030204" pitchFamily="18" charset="0"/>
                            <a:ea typeface="宋体" panose="02010600030101010101" pitchFamily="2" charset="-122"/>
                          </a:rPr>
                          <m:t>𝑙</m:t>
                        </m:r>
                      </m:e>
                      <m:sub>
                        <m:r>
                          <m:rPr>
                            <m:sty m:val="p"/>
                          </m:rPr>
                          <a:rPr lang="en-US" altLang="zh-CN" sz="2600" i="1" dirty="0">
                            <a:latin typeface="Cambria Math" panose="02040503050406030204" pitchFamily="18" charset="0"/>
                            <a:ea typeface="宋体" panose="02010600030101010101" pitchFamily="2" charset="-122"/>
                          </a:rPr>
                          <m:t>s</m:t>
                        </m:r>
                      </m:sub>
                    </m:sSub>
                    <m:d>
                      <m:dPr>
                        <m:ctrlPr>
                          <a:rPr lang="en-US" altLang="zh-CN" sz="2600" b="0" i="1" dirty="0" smtClean="0">
                            <a:latin typeface="Cambria Math" panose="02040503050406030204" pitchFamily="18" charset="0"/>
                            <a:ea typeface="宋体" panose="02010600030101010101" pitchFamily="2" charset="-122"/>
                          </a:rPr>
                        </m:ctrlPr>
                      </m:dPr>
                      <m:e>
                        <m:r>
                          <a:rPr lang="en-US" altLang="zh-CN" sz="2600" b="0" i="1" dirty="0" smtClean="0">
                            <a:latin typeface="Cambria Math" panose="02040503050406030204" pitchFamily="18" charset="0"/>
                            <a:ea typeface="宋体" panose="02010600030101010101" pitchFamily="2" charset="-122"/>
                          </a:rPr>
                          <m:t>𝑖</m:t>
                        </m:r>
                        <m:r>
                          <a:rPr lang="en-US" altLang="zh-CN" sz="2600" b="0" i="1" dirty="0" smtClean="0">
                            <a:latin typeface="Cambria Math" panose="02040503050406030204" pitchFamily="18" charset="0"/>
                            <a:ea typeface="宋体" panose="02010600030101010101" pitchFamily="2" charset="-122"/>
                          </a:rPr>
                          <m:t>,</m:t>
                        </m:r>
                        <m:r>
                          <a:rPr lang="en-US" altLang="zh-CN" sz="2600" b="0" i="1" dirty="0" smtClean="0">
                            <a:latin typeface="Cambria Math" panose="02040503050406030204" pitchFamily="18" charset="0"/>
                            <a:ea typeface="宋体" panose="02010600030101010101" pitchFamily="2" charset="-122"/>
                          </a:rPr>
                          <m:t>𝑗</m:t>
                        </m:r>
                      </m:e>
                    </m:d>
                  </m:oMath>
                </a14:m>
                <a:r>
                  <a:rPr lang="zh-CN" altLang="en-US" sz="2600" dirty="0">
                    <a:ea typeface="宋体" panose="02010600030101010101" pitchFamily="2" charset="-122"/>
                  </a:rPr>
                  <a:t>的总带宽为</a:t>
                </a:r>
                <a14:m>
                  <m:oMath xmlns:m="http://schemas.openxmlformats.org/officeDocument/2006/math">
                    <m:r>
                      <a:rPr lang="en-US" altLang="zh-CN" sz="2600" i="1" dirty="0">
                        <a:latin typeface="Cambria Math" panose="02040503050406030204" pitchFamily="18" charset="0"/>
                        <a:ea typeface="宋体" panose="02010600030101010101" pitchFamily="2" charset="-122"/>
                      </a:rPr>
                      <m:t>𝑡</m:t>
                    </m:r>
                    <m:r>
                      <m:rPr>
                        <m:sty m:val="p"/>
                      </m:rPr>
                      <a:rPr lang="en-US" altLang="zh-CN" sz="2600" i="1" dirty="0">
                        <a:latin typeface="Cambria Math" panose="02040503050406030204" pitchFamily="18" charset="0"/>
                        <a:ea typeface="宋体" panose="02010600030101010101" pitchFamily="2" charset="-122"/>
                      </a:rPr>
                      <m:t>c</m:t>
                    </m:r>
                    <m:d>
                      <m:dPr>
                        <m:ctrlPr>
                          <a:rPr lang="en-US" altLang="zh-CN" sz="2600" i="1" dirty="0">
                            <a:latin typeface="Cambria Math" panose="02040503050406030204" pitchFamily="18" charset="0"/>
                            <a:ea typeface="宋体" panose="02010600030101010101" pitchFamily="2" charset="-122"/>
                          </a:rPr>
                        </m:ctrlPr>
                      </m:dPr>
                      <m:e>
                        <m:sSub>
                          <m:sSubPr>
                            <m:ctrlPr>
                              <a:rPr lang="en-US" altLang="zh-CN" sz="2600" i="1" dirty="0">
                                <a:latin typeface="Cambria Math" panose="02040503050406030204" pitchFamily="18" charset="0"/>
                                <a:ea typeface="宋体" panose="02010600030101010101" pitchFamily="2" charset="-122"/>
                              </a:rPr>
                            </m:ctrlPr>
                          </m:sSubPr>
                          <m:e>
                            <m:r>
                              <m:rPr>
                                <m:sty m:val="p"/>
                              </m:rPr>
                              <a:rPr lang="en-US" altLang="zh-CN" sz="2600" i="1" dirty="0" smtClean="0">
                                <a:latin typeface="Cambria Math" panose="02040503050406030204" pitchFamily="18" charset="0"/>
                                <a:ea typeface="宋体" panose="02010600030101010101" pitchFamily="2" charset="-122"/>
                              </a:rPr>
                              <m:t>l</m:t>
                            </m:r>
                          </m:e>
                          <m:sub>
                            <m:r>
                              <a:rPr lang="en-US" altLang="zh-CN" sz="2600" i="1" dirty="0">
                                <a:latin typeface="Cambria Math" panose="02040503050406030204" pitchFamily="18" charset="0"/>
                                <a:ea typeface="宋体" panose="02010600030101010101" pitchFamily="2" charset="-122"/>
                              </a:rPr>
                              <m:t>𝑠</m:t>
                            </m:r>
                          </m:sub>
                        </m:sSub>
                      </m:e>
                    </m:d>
                  </m:oMath>
                </a14:m>
                <a:r>
                  <a:rPr lang="zh-CN" altLang="en-US" sz="2600" dirty="0">
                    <a:ea typeface="宋体" panose="02010600030101010101" pitchFamily="2" charset="-122"/>
                  </a:rPr>
                  <a:t>，可用带宽资源为</a:t>
                </a:r>
                <a14:m>
                  <m:oMath xmlns:m="http://schemas.openxmlformats.org/officeDocument/2006/math">
                    <m:r>
                      <a:rPr lang="en-US" altLang="zh-CN" sz="2600" i="1" dirty="0">
                        <a:latin typeface="Cambria Math" panose="02040503050406030204" pitchFamily="18" charset="0"/>
                        <a:ea typeface="宋体" panose="02010600030101010101" pitchFamily="2" charset="-122"/>
                      </a:rPr>
                      <m:t>𝑟</m:t>
                    </m:r>
                    <m:r>
                      <m:rPr>
                        <m:sty m:val="p"/>
                      </m:rPr>
                      <a:rPr lang="en-US" altLang="zh-CN" sz="2600" i="1" dirty="0">
                        <a:latin typeface="Cambria Math" panose="02040503050406030204" pitchFamily="18" charset="0"/>
                        <a:ea typeface="宋体" panose="02010600030101010101" pitchFamily="2" charset="-122"/>
                      </a:rPr>
                      <m:t>c</m:t>
                    </m:r>
                    <m:d>
                      <m:dPr>
                        <m:ctrlPr>
                          <a:rPr lang="en-US" altLang="zh-CN" sz="2600" i="1" dirty="0">
                            <a:latin typeface="Cambria Math" panose="02040503050406030204" pitchFamily="18" charset="0"/>
                            <a:ea typeface="宋体" panose="02010600030101010101" pitchFamily="2" charset="-122"/>
                          </a:rPr>
                        </m:ctrlPr>
                      </m:dPr>
                      <m:e>
                        <m:sSub>
                          <m:sSubPr>
                            <m:ctrlPr>
                              <a:rPr lang="en-US" altLang="zh-CN" sz="2600" i="1" dirty="0">
                                <a:latin typeface="Cambria Math" panose="02040503050406030204" pitchFamily="18" charset="0"/>
                                <a:ea typeface="宋体" panose="02010600030101010101" pitchFamily="2" charset="-122"/>
                              </a:rPr>
                            </m:ctrlPr>
                          </m:sSubPr>
                          <m:e>
                            <m:r>
                              <m:rPr>
                                <m:sty m:val="p"/>
                              </m:rPr>
                              <a:rPr lang="en-US" altLang="zh-CN" sz="2600" i="1" dirty="0" smtClean="0">
                                <a:latin typeface="Cambria Math" panose="02040503050406030204" pitchFamily="18" charset="0"/>
                                <a:ea typeface="宋体" panose="02010600030101010101" pitchFamily="2" charset="-122"/>
                              </a:rPr>
                              <m:t>l</m:t>
                            </m:r>
                          </m:e>
                          <m:sub>
                            <m:r>
                              <a:rPr lang="en-US" altLang="zh-CN" sz="2600" i="1" dirty="0">
                                <a:latin typeface="Cambria Math" panose="02040503050406030204" pitchFamily="18" charset="0"/>
                                <a:ea typeface="宋体" panose="02010600030101010101" pitchFamily="2" charset="-122"/>
                              </a:rPr>
                              <m:t>𝑠</m:t>
                            </m:r>
                          </m:sub>
                        </m:sSub>
                      </m:e>
                    </m:d>
                  </m:oMath>
                </a14:m>
                <a:r>
                  <a:rPr lang="zh-CN" altLang="en-US" sz="2600" dirty="0">
                    <a:ea typeface="宋体" panose="02010600030101010101" pitchFamily="2" charset="-122"/>
                  </a:rPr>
                  <a:t>，单位带宽资源开销为</a:t>
                </a:r>
                <a14:m>
                  <m:oMath xmlns:m="http://schemas.openxmlformats.org/officeDocument/2006/math">
                    <m:r>
                      <a:rPr lang="en-US" altLang="zh-CN" sz="2600" i="1" dirty="0">
                        <a:latin typeface="Cambria Math" panose="02040503050406030204" pitchFamily="18" charset="0"/>
                        <a:ea typeface="宋体" panose="02010600030101010101" pitchFamily="2" charset="-122"/>
                      </a:rPr>
                      <m:t>𝑢𝑐</m:t>
                    </m:r>
                    <m:d>
                      <m:dPr>
                        <m:ctrlPr>
                          <a:rPr lang="en-US" altLang="zh-CN" sz="2600" i="1" dirty="0">
                            <a:latin typeface="Cambria Math" panose="02040503050406030204" pitchFamily="18" charset="0"/>
                            <a:ea typeface="宋体" panose="02010600030101010101" pitchFamily="2" charset="-122"/>
                          </a:rPr>
                        </m:ctrlPr>
                      </m:dPr>
                      <m:e>
                        <m:sSub>
                          <m:sSubPr>
                            <m:ctrlPr>
                              <a:rPr lang="en-US" altLang="zh-CN" sz="2600" i="1" dirty="0">
                                <a:latin typeface="Cambria Math" panose="02040503050406030204" pitchFamily="18" charset="0"/>
                                <a:ea typeface="宋体" panose="02010600030101010101" pitchFamily="2" charset="-122"/>
                              </a:rPr>
                            </m:ctrlPr>
                          </m:sSubPr>
                          <m:e>
                            <m:r>
                              <a:rPr lang="en-US" altLang="zh-CN" sz="2600" i="1" dirty="0">
                                <a:latin typeface="Cambria Math" panose="02040503050406030204" pitchFamily="18" charset="0"/>
                                <a:ea typeface="宋体" panose="02010600030101010101" pitchFamily="2" charset="-122"/>
                              </a:rPr>
                              <m:t>𝑙</m:t>
                            </m:r>
                          </m:e>
                          <m:sub>
                            <m:r>
                              <a:rPr lang="en-US" altLang="zh-CN" sz="2600" i="1" dirty="0">
                                <a:latin typeface="Cambria Math" panose="02040503050406030204" pitchFamily="18" charset="0"/>
                                <a:ea typeface="宋体" panose="02010600030101010101" pitchFamily="2" charset="-122"/>
                              </a:rPr>
                              <m:t>𝑠</m:t>
                            </m:r>
                          </m:sub>
                        </m:sSub>
                      </m:e>
                    </m:d>
                  </m:oMath>
                </a14:m>
                <a:endParaRPr lang="en-US" altLang="zh-CN" sz="2600" dirty="0">
                  <a:ea typeface="宋体" panose="02010600030101010101" pitchFamily="2" charset="-122"/>
                </a:endParaRPr>
              </a:p>
              <a:p>
                <a:pPr marL="0" indent="0" eaLnBrk="1" hangingPunct="1">
                  <a:buNone/>
                </a:pPr>
                <a:endParaRPr lang="en-US" altLang="zh-CN" sz="2600" dirty="0">
                  <a:ea typeface="宋体" panose="02010600030101010101" pitchFamily="2" charset="-122"/>
                </a:endParaRPr>
              </a:p>
            </p:txBody>
          </p:sp>
        </mc:Choice>
        <mc:Fallback xmlns="">
          <p:sp>
            <p:nvSpPr>
              <p:cNvPr id="7171" name="文本占位符 7170">
                <a:extLst>
                  <a:ext uri="{FF2B5EF4-FFF2-40B4-BE49-F238E27FC236}">
                    <a16:creationId xmlns:a16="http://schemas.microsoft.com/office/drawing/2014/main" id="{5D601CF2-62E2-4843-B15C-75279DE5D1BA}"/>
                  </a:ext>
                </a:extLst>
              </p:cNvPr>
              <p:cNvSpPr>
                <a:spLocks noGrp="1" noRot="1" noChangeAspect="1" noMove="1" noResize="1" noEditPoints="1" noAdjustHandles="1" noChangeArrowheads="1" noChangeShapeType="1" noTextEdit="1"/>
              </p:cNvSpPr>
              <p:nvPr>
                <p:ph type="body" idx="1"/>
              </p:nvPr>
            </p:nvSpPr>
            <p:spPr>
              <a:blipFill>
                <a:blip r:embed="rId3"/>
                <a:stretch>
                  <a:fillRect l="-1333" t="-1615"/>
                </a:stretch>
              </a:blipFill>
            </p:spPr>
            <p:txBody>
              <a:bodyPr/>
              <a:lstStyle/>
              <a:p>
                <a:r>
                  <a:rPr lang="zh-CN" altLang="en-US">
                    <a:noFill/>
                  </a:rPr>
                  <a:t> </a:t>
                </a:r>
              </a:p>
            </p:txBody>
          </p:sp>
        </mc:Fallback>
      </mc:AlternateContent>
      <p:sp>
        <p:nvSpPr>
          <p:cNvPr id="7170" name="标题 7169">
            <a:extLst>
              <a:ext uri="{FF2B5EF4-FFF2-40B4-BE49-F238E27FC236}">
                <a16:creationId xmlns:a16="http://schemas.microsoft.com/office/drawing/2014/main" id="{5F503A32-A72E-495B-9F64-F23F85BB0F62}"/>
              </a:ext>
            </a:extLst>
          </p:cNvPr>
          <p:cNvSpPr>
            <a:spLocks noGrp="1" noChangeArrowheads="1"/>
          </p:cNvSpPr>
          <p:nvPr>
            <p:ph type="title"/>
          </p:nvPr>
        </p:nvSpPr>
        <p:spPr/>
        <p:txBody>
          <a:bodyPr/>
          <a:lstStyle/>
          <a:p>
            <a:pPr eaLnBrk="1" hangingPunct="1"/>
            <a:r>
              <a:rPr lang="zh-CN" altLang="en-US">
                <a:ea typeface="宋体" panose="02010600030101010101" pitchFamily="2" charset="-122"/>
              </a:rPr>
              <a:t>网络模型及问题描述</a:t>
            </a:r>
          </a:p>
        </p:txBody>
      </p:sp>
    </p:spTree>
    <p:extLst>
      <p:ext uri="{BB962C8B-B14F-4D97-AF65-F5344CB8AC3E}">
        <p14:creationId xmlns:p14="http://schemas.microsoft.com/office/powerpoint/2010/main" val="756886095"/>
      </p:ext>
    </p:extLst>
  </p:cSld>
  <p:clrMapOvr>
    <a:masterClrMapping/>
  </p:clrMapOvr>
  <mc:AlternateContent xmlns:mc="http://schemas.openxmlformats.org/markup-compatibility/2006" xmlns:p14="http://schemas.microsoft.com/office/powerpoint/2010/main">
    <mc:Choice Requires="p14">
      <p:transition spd="slow" p14:dur="2000" advTm="41904"/>
    </mc:Choice>
    <mc:Fallback xmlns="">
      <p:transition spd="slow" advTm="4190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7169">
            <a:extLst>
              <a:ext uri="{FF2B5EF4-FFF2-40B4-BE49-F238E27FC236}">
                <a16:creationId xmlns:a16="http://schemas.microsoft.com/office/drawing/2014/main" id="{0110178F-42FA-4F5B-919B-8DCED94C8436}"/>
              </a:ext>
            </a:extLst>
          </p:cNvPr>
          <p:cNvSpPr>
            <a:spLocks noGrp="1" noChangeArrowheads="1"/>
          </p:cNvSpPr>
          <p:nvPr>
            <p:ph type="title"/>
          </p:nvPr>
        </p:nvSpPr>
        <p:spPr/>
        <p:txBody>
          <a:bodyPr/>
          <a:lstStyle/>
          <a:p>
            <a:pPr eaLnBrk="1" hangingPunct="1"/>
            <a:r>
              <a:rPr lang="zh-CN" altLang="en-US">
                <a:ea typeface="宋体" panose="02010600030101010101" pitchFamily="2" charset="-122"/>
              </a:rPr>
              <a:t>网络模型及问题描述</a:t>
            </a:r>
          </a:p>
        </p:txBody>
      </p:sp>
      <p:sp>
        <p:nvSpPr>
          <p:cNvPr id="9219" name="文本占位符 7170">
            <a:extLst>
              <a:ext uri="{FF2B5EF4-FFF2-40B4-BE49-F238E27FC236}">
                <a16:creationId xmlns:a16="http://schemas.microsoft.com/office/drawing/2014/main" id="{B3F171E5-DC33-4466-A737-514CB0074A52}"/>
              </a:ext>
            </a:extLst>
          </p:cNvPr>
          <p:cNvSpPr>
            <a:spLocks noGrp="1" noChangeArrowheads="1"/>
          </p:cNvSpPr>
          <p:nvPr>
            <p:ph type="body" idx="1"/>
          </p:nvPr>
        </p:nvSpPr>
        <p:spPr>
          <a:xfrm>
            <a:off x="457274" y="1098562"/>
            <a:ext cx="8262594" cy="4530725"/>
          </a:xfrm>
        </p:spPr>
        <p:txBody>
          <a:bodyPr/>
          <a:lstStyle/>
          <a:p>
            <a:pPr eaLnBrk="1" hangingPunct="1"/>
            <a:r>
              <a:rPr lang="zh-CN" altLang="en-US" sz="2600" dirty="0">
                <a:ea typeface="宋体" panose="02010600030101010101" pitchFamily="2" charset="-122"/>
              </a:rPr>
              <a:t>物理数据中心模型</a:t>
            </a:r>
            <a:endParaRPr lang="en-US" altLang="zh-CN" sz="2600" dirty="0">
              <a:ea typeface="宋体" panose="02010600030101010101" pitchFamily="2" charset="-122"/>
            </a:endParaRPr>
          </a:p>
          <a:p>
            <a:pPr marL="0" indent="0" eaLnBrk="1" hangingPunct="1">
              <a:buNone/>
            </a:pPr>
            <a:r>
              <a:rPr lang="zh-CN" altLang="en-US" sz="2400" dirty="0">
                <a:ea typeface="宋体" panose="02010600030101010101" pitchFamily="2" charset="-122"/>
              </a:rPr>
              <a:t>圆形框：物理服务器</a:t>
            </a:r>
            <a:endParaRPr lang="en-US" altLang="zh-CN" sz="2400" dirty="0">
              <a:ea typeface="宋体" panose="02010600030101010101" pitchFamily="2" charset="-122"/>
            </a:endParaRPr>
          </a:p>
          <a:p>
            <a:pPr marL="0" indent="0" eaLnBrk="1" hangingPunct="1">
              <a:buNone/>
            </a:pPr>
            <a:r>
              <a:rPr lang="zh-CN" altLang="en-US" sz="2400" dirty="0">
                <a:ea typeface="宋体" panose="02010600030101010101" pitchFamily="2" charset="-122"/>
              </a:rPr>
              <a:t>矩形框里的数字：服务器计算资源总量和单位</a:t>
            </a:r>
            <a:r>
              <a:rPr lang="en-US" altLang="zh-CN" sz="2400" dirty="0">
                <a:ea typeface="宋体" panose="02010600030101010101" pitchFamily="2" charset="-122"/>
              </a:rPr>
              <a:t>CPU</a:t>
            </a:r>
            <a:r>
              <a:rPr lang="zh-CN" altLang="en-US" sz="2400" dirty="0">
                <a:ea typeface="宋体" panose="02010600030101010101" pitchFamily="2" charset="-122"/>
              </a:rPr>
              <a:t>资源开销</a:t>
            </a:r>
            <a:endParaRPr lang="en-US" altLang="zh-CN" sz="2400" dirty="0">
              <a:ea typeface="宋体" panose="02010600030101010101" pitchFamily="2" charset="-122"/>
            </a:endParaRPr>
          </a:p>
          <a:p>
            <a:pPr marL="0" indent="0" eaLnBrk="1" hangingPunct="1">
              <a:buNone/>
            </a:pPr>
            <a:r>
              <a:rPr lang="zh-CN" altLang="en-US" sz="2400" dirty="0">
                <a:ea typeface="宋体" panose="02010600030101010101" pitchFamily="2" charset="-122"/>
              </a:rPr>
              <a:t>边上的数字：该链路的总带宽资源和单位带宽资源开销</a:t>
            </a:r>
            <a:endParaRPr lang="en-US" altLang="zh-CN" sz="2400" dirty="0">
              <a:ea typeface="宋体" panose="02010600030101010101" pitchFamily="2" charset="-122"/>
            </a:endParaRPr>
          </a:p>
        </p:txBody>
      </p:sp>
      <p:pic>
        <p:nvPicPr>
          <p:cNvPr id="3" name="图片 2">
            <a:extLst>
              <a:ext uri="{FF2B5EF4-FFF2-40B4-BE49-F238E27FC236}">
                <a16:creationId xmlns:a16="http://schemas.microsoft.com/office/drawing/2014/main" id="{CA19077A-F219-4FF7-B6A0-441C1CC4DB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4764" y="2971812"/>
            <a:ext cx="4334471" cy="300967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1731"/>
    </mc:Choice>
    <mc:Fallback xmlns="">
      <p:transition spd="slow" advTm="2173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7169">
            <a:extLst>
              <a:ext uri="{FF2B5EF4-FFF2-40B4-BE49-F238E27FC236}">
                <a16:creationId xmlns:a16="http://schemas.microsoft.com/office/drawing/2014/main" id="{E872BBCB-872C-4D84-A460-E3CF362179EB}"/>
              </a:ext>
            </a:extLst>
          </p:cNvPr>
          <p:cNvSpPr>
            <a:spLocks noGrp="1" noChangeArrowheads="1"/>
          </p:cNvSpPr>
          <p:nvPr>
            <p:ph type="title"/>
          </p:nvPr>
        </p:nvSpPr>
        <p:spPr/>
        <p:txBody>
          <a:bodyPr/>
          <a:lstStyle/>
          <a:p>
            <a:pPr eaLnBrk="1" hangingPunct="1"/>
            <a:r>
              <a:rPr lang="zh-CN" altLang="en-US">
                <a:ea typeface="宋体" panose="02010600030101010101" pitchFamily="2" charset="-122"/>
              </a:rPr>
              <a:t>网络模型及问题描述</a:t>
            </a:r>
          </a:p>
        </p:txBody>
      </p:sp>
      <mc:AlternateContent xmlns:mc="http://schemas.openxmlformats.org/markup-compatibility/2006" xmlns:a14="http://schemas.microsoft.com/office/drawing/2010/main">
        <mc:Choice Requires="a14">
          <p:sp>
            <p:nvSpPr>
              <p:cNvPr id="10243" name="文本占位符 7170">
                <a:extLst>
                  <a:ext uri="{FF2B5EF4-FFF2-40B4-BE49-F238E27FC236}">
                    <a16:creationId xmlns:a16="http://schemas.microsoft.com/office/drawing/2014/main" id="{B46BEE6D-B3C0-49AB-8AA8-741BBE1C9CAC}"/>
                  </a:ext>
                </a:extLst>
              </p:cNvPr>
              <p:cNvSpPr>
                <a:spLocks noGrp="1" noChangeArrowheads="1"/>
              </p:cNvSpPr>
              <p:nvPr>
                <p:ph type="body" idx="1"/>
              </p:nvPr>
            </p:nvSpPr>
            <p:spPr/>
            <p:txBody>
              <a:bodyPr/>
              <a:lstStyle/>
              <a:p>
                <a:pPr eaLnBrk="1" hangingPunct="1"/>
                <a:r>
                  <a:rPr lang="zh-CN" altLang="en-US" sz="2600" dirty="0">
                    <a:ea typeface="宋体" panose="02010600030101010101" pitchFamily="2" charset="-122"/>
                  </a:rPr>
                  <a:t>问题描述</a:t>
                </a:r>
                <a:endParaRPr lang="en-US" altLang="zh-CN" sz="2600" dirty="0">
                  <a:ea typeface="宋体" panose="02010600030101010101" pitchFamily="2" charset="-122"/>
                </a:endParaRPr>
              </a:p>
              <a:p>
                <a:pPr marL="1588" lvl="1" indent="342900"/>
                <a:r>
                  <a:rPr lang="en-US" altLang="zh-CN" dirty="0">
                    <a:ea typeface="宋体" panose="02010600030101010101" pitchFamily="2" charset="-122"/>
                  </a:rPr>
                  <a:t>【</a:t>
                </a:r>
                <a:r>
                  <a:rPr lang="zh-CN" altLang="en-US" dirty="0">
                    <a:ea typeface="宋体" panose="02010600030101010101" pitchFamily="2" charset="-122"/>
                  </a:rPr>
                  <a:t>已知</a:t>
                </a:r>
                <a:r>
                  <a:rPr lang="en-US" altLang="zh-CN" dirty="0">
                    <a:ea typeface="宋体" panose="02010600030101010101" pitchFamily="2" charset="-122"/>
                  </a:rPr>
                  <a:t>】</a:t>
                </a:r>
                <a:r>
                  <a:rPr lang="zh-CN" altLang="en-US" dirty="0">
                    <a:ea typeface="宋体" panose="02010600030101010101" pitchFamily="2" charset="-122"/>
                  </a:rPr>
                  <a:t>一个底层物理数据中心</a:t>
                </a:r>
                <a14:m>
                  <m:oMath xmlns:m="http://schemas.openxmlformats.org/officeDocument/2006/math">
                    <m:r>
                      <a:rPr lang="en-US" altLang="zh-CN" sz="2600" b="0" i="1" smtClean="0">
                        <a:latin typeface="Cambria Math" panose="02040503050406030204" pitchFamily="18" charset="0"/>
                        <a:ea typeface="宋体" panose="02010600030101010101" pitchFamily="2" charset="-122"/>
                      </a:rPr>
                      <m:t>𝐺</m:t>
                    </m:r>
                    <m:r>
                      <m:rPr>
                        <m:sty m:val="p"/>
                      </m:rPr>
                      <a:rPr lang="en-US" altLang="zh-CN" sz="2600" i="1">
                        <a:latin typeface="Cambria Math" panose="02040503050406030204" pitchFamily="18" charset="0"/>
                        <a:ea typeface="宋体" panose="02010600030101010101" pitchFamily="2" charset="-122"/>
                      </a:rPr>
                      <m:t>s</m:t>
                    </m:r>
                    <m:r>
                      <a:rPr lang="en-US" altLang="zh-CN" sz="2600" b="0" i="1" smtClean="0">
                        <a:latin typeface="Cambria Math" panose="02040503050406030204" pitchFamily="18" charset="0"/>
                        <a:ea typeface="宋体" panose="02010600030101010101" pitchFamily="2" charset="-122"/>
                      </a:rPr>
                      <m:t>=</m:t>
                    </m:r>
                    <m:d>
                      <m:dPr>
                        <m:ctrlPr>
                          <a:rPr lang="en-US" altLang="zh-CN" sz="2600" b="0" i="1" smtClean="0">
                            <a:latin typeface="Cambria Math" panose="02040503050406030204" pitchFamily="18" charset="0"/>
                            <a:ea typeface="宋体" panose="02010600030101010101" pitchFamily="2" charset="-122"/>
                          </a:rPr>
                        </m:ctrlPr>
                      </m:dPr>
                      <m:e>
                        <m:r>
                          <a:rPr lang="en-US" altLang="zh-CN" sz="2600" b="0" i="1" smtClean="0">
                            <a:latin typeface="Cambria Math" panose="02040503050406030204" pitchFamily="18" charset="0"/>
                            <a:ea typeface="宋体" panose="02010600030101010101" pitchFamily="2" charset="-122"/>
                          </a:rPr>
                          <m:t>𝑁𝑠</m:t>
                        </m:r>
                        <m:r>
                          <a:rPr lang="en-US" altLang="zh-CN" sz="2600" b="0" i="1" smtClean="0">
                            <a:latin typeface="Cambria Math" panose="02040503050406030204" pitchFamily="18" charset="0"/>
                            <a:ea typeface="宋体" panose="02010600030101010101" pitchFamily="2" charset="-122"/>
                          </a:rPr>
                          <m:t>,  </m:t>
                        </m:r>
                        <m:r>
                          <a:rPr lang="en-US" altLang="zh-CN" sz="2600" b="0" i="1" smtClean="0">
                            <a:latin typeface="Cambria Math" panose="02040503050406030204" pitchFamily="18" charset="0"/>
                            <a:ea typeface="宋体" panose="02010600030101010101" pitchFamily="2" charset="-122"/>
                          </a:rPr>
                          <m:t>𝐿𝑠</m:t>
                        </m:r>
                      </m:e>
                    </m:d>
                  </m:oMath>
                </a14:m>
                <a:r>
                  <a:rPr lang="zh-CN" altLang="en-US" dirty="0">
                    <a:ea typeface="宋体" panose="02010600030101010101" pitchFamily="2" charset="-122"/>
                  </a:rPr>
                  <a:t>和一个虚拟数据中心请求</a:t>
                </a:r>
                <a14:m>
                  <m:oMath xmlns:m="http://schemas.openxmlformats.org/officeDocument/2006/math">
                    <m:r>
                      <a:rPr lang="en-US" altLang="zh-CN" i="1">
                        <a:latin typeface="Cambria Math" panose="02040503050406030204" pitchFamily="18" charset="0"/>
                        <a:ea typeface="宋体" panose="02010600030101010101" pitchFamily="2" charset="-122"/>
                      </a:rPr>
                      <m:t>𝐺</m:t>
                    </m:r>
                    <m:r>
                      <m:rPr>
                        <m:sty m:val="p"/>
                      </m:rPr>
                      <a:rPr lang="en-US" altLang="zh-CN" i="1">
                        <a:latin typeface="Cambria Math" panose="02040503050406030204" pitchFamily="18" charset="0"/>
                        <a:ea typeface="宋体" panose="02010600030101010101" pitchFamily="2" charset="-122"/>
                      </a:rPr>
                      <m:t>v</m:t>
                    </m:r>
                    <m:r>
                      <a:rPr lang="en-US" altLang="zh-CN" i="1">
                        <a:latin typeface="Cambria Math" panose="02040503050406030204" pitchFamily="18" charset="0"/>
                        <a:ea typeface="宋体" panose="02010600030101010101" pitchFamily="2" charset="-122"/>
                      </a:rPr>
                      <m:t>=</m:t>
                    </m:r>
                    <m:d>
                      <m:dPr>
                        <m:ctrlPr>
                          <a:rPr lang="en-US" altLang="zh-CN" i="1">
                            <a:latin typeface="Cambria Math" panose="02040503050406030204" pitchFamily="18" charset="0"/>
                            <a:ea typeface="宋体" panose="02010600030101010101" pitchFamily="2" charset="-122"/>
                          </a:rPr>
                        </m:ctrlPr>
                      </m:dPr>
                      <m:e>
                        <m:r>
                          <a:rPr lang="en-US" altLang="zh-CN" i="1">
                            <a:latin typeface="Cambria Math" panose="02040503050406030204" pitchFamily="18" charset="0"/>
                            <a:ea typeface="宋体" panose="02010600030101010101" pitchFamily="2" charset="-122"/>
                          </a:rPr>
                          <m:t>𝑁𝑣</m:t>
                        </m:r>
                        <m:r>
                          <a:rPr lang="en-US" altLang="zh-CN" i="1">
                            <a:latin typeface="Cambria Math" panose="02040503050406030204" pitchFamily="18" charset="0"/>
                            <a:ea typeface="宋体" panose="02010600030101010101" pitchFamily="2" charset="-122"/>
                          </a:rPr>
                          <m:t>,  </m:t>
                        </m:r>
                        <m:r>
                          <a:rPr lang="en-US" altLang="zh-CN" i="1">
                            <a:latin typeface="Cambria Math" panose="02040503050406030204" pitchFamily="18" charset="0"/>
                            <a:ea typeface="宋体" panose="02010600030101010101" pitchFamily="2" charset="-122"/>
                          </a:rPr>
                          <m:t>𝐿𝑣</m:t>
                        </m:r>
                      </m:e>
                    </m:d>
                  </m:oMath>
                </a14:m>
                <a:endParaRPr lang="en-US" altLang="zh-CN" dirty="0">
                  <a:ea typeface="宋体" panose="02010600030101010101" pitchFamily="2" charset="-122"/>
                </a:endParaRPr>
              </a:p>
              <a:p>
                <a:pPr marL="1588" lvl="1" indent="342900"/>
                <a:r>
                  <a:rPr lang="en-US" altLang="zh-CN" dirty="0">
                    <a:ea typeface="宋体" panose="02010600030101010101" pitchFamily="2" charset="-122"/>
                  </a:rPr>
                  <a:t>【</a:t>
                </a:r>
                <a:r>
                  <a:rPr lang="zh-CN" altLang="en-US" dirty="0">
                    <a:ea typeface="宋体" panose="02010600030101010101" pitchFamily="2" charset="-122"/>
                  </a:rPr>
                  <a:t>问题</a:t>
                </a:r>
                <a:r>
                  <a:rPr lang="en-US" altLang="zh-CN" dirty="0">
                    <a:ea typeface="宋体" panose="02010600030101010101" pitchFamily="2" charset="-122"/>
                  </a:rPr>
                  <a:t>】</a:t>
                </a:r>
                <a:r>
                  <a:rPr lang="zh-CN" altLang="en-US" dirty="0">
                    <a:ea typeface="宋体" panose="02010600030101010101" pitchFamily="2" charset="-122"/>
                  </a:rPr>
                  <a:t>如何设计一种可靠的虚拟数据中心拓扑或将原有的虚拟数据中心拓扑进行增强，并且找到一种从处理后的虚拟数据中心拓扑到物理数据中心的映射关系，使得发生底层物理服务器失效时，能够进行失效恢复，并且在映射过程中联合优化计算资源和链路资源，达到整体最优。</a:t>
                </a:r>
                <a:endParaRPr lang="en-US" altLang="zh-CN" dirty="0">
                  <a:ea typeface="宋体" panose="02010600030101010101" pitchFamily="2" charset="-122"/>
                </a:endParaRPr>
              </a:p>
            </p:txBody>
          </p:sp>
        </mc:Choice>
        <mc:Fallback xmlns="">
          <p:sp>
            <p:nvSpPr>
              <p:cNvPr id="10243" name="文本占位符 7170">
                <a:extLst>
                  <a:ext uri="{FF2B5EF4-FFF2-40B4-BE49-F238E27FC236}">
                    <a16:creationId xmlns:a16="http://schemas.microsoft.com/office/drawing/2014/main" id="{B46BEE6D-B3C0-49AB-8AA8-741BBE1C9CAC}"/>
                  </a:ext>
                </a:extLst>
              </p:cNvPr>
              <p:cNvSpPr>
                <a:spLocks noGrp="1" noRot="1" noChangeAspect="1" noMove="1" noResize="1" noEditPoints="1" noAdjustHandles="1" noChangeArrowheads="1" noChangeShapeType="1" noTextEdit="1"/>
              </p:cNvSpPr>
              <p:nvPr>
                <p:ph type="body" idx="1"/>
              </p:nvPr>
            </p:nvSpPr>
            <p:spPr>
              <a:blipFill>
                <a:blip r:embed="rId2"/>
                <a:stretch>
                  <a:fillRect l="-1333" t="-1615" r="-370"/>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2000" advTm="65146"/>
    </mc:Choice>
    <mc:Fallback xmlns="">
      <p:transition spd="slow" advTm="65146"/>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7169">
            <a:extLst>
              <a:ext uri="{FF2B5EF4-FFF2-40B4-BE49-F238E27FC236}">
                <a16:creationId xmlns:a16="http://schemas.microsoft.com/office/drawing/2014/main" id="{635BE4D9-5D81-44E3-9AC4-2A3ADB9C0C00}"/>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虚拟数据中心的可靠增强策略</a:t>
            </a:r>
          </a:p>
        </p:txBody>
      </p:sp>
      <p:sp>
        <p:nvSpPr>
          <p:cNvPr id="11267" name="文本占位符 7170">
            <a:extLst>
              <a:ext uri="{FF2B5EF4-FFF2-40B4-BE49-F238E27FC236}">
                <a16:creationId xmlns:a16="http://schemas.microsoft.com/office/drawing/2014/main" id="{8CDC5FD5-D516-48F7-AF26-435CF5355163}"/>
              </a:ext>
            </a:extLst>
          </p:cNvPr>
          <p:cNvSpPr>
            <a:spLocks noGrp="1" noChangeArrowheads="1"/>
          </p:cNvSpPr>
          <p:nvPr>
            <p:ph type="body" idx="1"/>
          </p:nvPr>
        </p:nvSpPr>
        <p:spPr>
          <a:xfrm>
            <a:off x="457200" y="1417638"/>
            <a:ext cx="8229600" cy="4530725"/>
          </a:xfrm>
        </p:spPr>
        <p:txBody>
          <a:bodyPr/>
          <a:lstStyle/>
          <a:p>
            <a:pPr eaLnBrk="1" hangingPunct="1"/>
            <a:r>
              <a:rPr lang="zh-CN" altLang="en-US" sz="2600" dirty="0">
                <a:ea typeface="宋体" panose="02010600030101010101" pitchFamily="2" charset="-122"/>
              </a:rPr>
              <a:t>只考虑任意单虚拟机失效的场景</a:t>
            </a:r>
            <a:endParaRPr lang="en-US" altLang="zh-CN" sz="2600" dirty="0">
              <a:ea typeface="宋体" panose="02010600030101010101" pitchFamily="2" charset="-122"/>
            </a:endParaRPr>
          </a:p>
          <a:p>
            <a:pPr eaLnBrk="1" hangingPunct="1"/>
            <a:r>
              <a:rPr lang="zh-CN" altLang="en-US" sz="2600" dirty="0">
                <a:ea typeface="宋体" panose="02010600030101010101" pitchFamily="2" charset="-122"/>
              </a:rPr>
              <a:t>生存性映射解决方法</a:t>
            </a:r>
            <a:endParaRPr lang="en-US" altLang="zh-CN" sz="2600" dirty="0">
              <a:ea typeface="宋体" panose="02010600030101010101" pitchFamily="2" charset="-122"/>
            </a:endParaRPr>
          </a:p>
          <a:p>
            <a:pPr marL="1588" lvl="1" indent="342900"/>
            <a:r>
              <a:rPr lang="zh-CN" altLang="en-US" dirty="0">
                <a:ea typeface="宋体" panose="02010600030101010101" pitchFamily="2" charset="-122"/>
              </a:rPr>
              <a:t>单节点冗余</a:t>
            </a:r>
            <a:endParaRPr lang="en-US" altLang="zh-CN" dirty="0">
              <a:ea typeface="宋体" panose="02010600030101010101" pitchFamily="2" charset="-122"/>
            </a:endParaRPr>
          </a:p>
          <a:p>
            <a:pPr marL="1588" lvl="1" indent="342900"/>
            <a:r>
              <a:rPr lang="en-US" altLang="zh-CN" sz="2600" dirty="0">
                <a:ea typeface="宋体" panose="02010600030101010101" pitchFamily="2" charset="-122"/>
              </a:rPr>
              <a:t>K</a:t>
            </a:r>
            <a:r>
              <a:rPr lang="zh-CN" altLang="en-US" sz="2600" dirty="0">
                <a:ea typeface="宋体" panose="02010600030101010101" pitchFamily="2" charset="-122"/>
              </a:rPr>
              <a:t>节点冗余</a:t>
            </a:r>
            <a:endParaRPr lang="en-US" altLang="zh-CN" sz="2600" dirty="0">
              <a:ea typeface="宋体" panose="02010600030101010101" pitchFamily="2" charset="-122"/>
            </a:endParaRPr>
          </a:p>
          <a:p>
            <a:pPr eaLnBrk="1" hangingPunct="1"/>
            <a:r>
              <a:rPr lang="zh-CN" altLang="en-US" sz="2600" dirty="0">
                <a:ea typeface="宋体" panose="02010600030101010101" pitchFamily="2" charset="-122"/>
              </a:rPr>
              <a:t>最主要的区别就是用于备份的冗余虚拟机数量</a:t>
            </a:r>
            <a:endParaRPr lang="en-US" altLang="zh-CN" sz="2600" dirty="0">
              <a:ea typeface="宋体" panose="02010600030101010101" pitchFamily="2" charset="-122"/>
            </a:endParaRPr>
          </a:p>
          <a:p>
            <a:pPr eaLnBrk="1" hangingPunct="1"/>
            <a:r>
              <a:rPr lang="zh-CN" altLang="en-US" sz="2600" dirty="0">
                <a:ea typeface="宋体" panose="02010600030101010101" pitchFamily="2" charset="-122"/>
              </a:rPr>
              <a:t>基本思想：将原始的虚拟机进行增强，并且将增强后的虚拟数据中心以最优的方式放置到底层数据中心</a:t>
            </a:r>
            <a:endParaRPr lang="en-US" altLang="zh-CN" sz="2600" dirty="0">
              <a:ea typeface="宋体" panose="02010600030101010101" pitchFamily="2" charset="-122"/>
            </a:endParaRPr>
          </a:p>
          <a:p>
            <a:pPr eaLnBrk="1" hangingPunct="1"/>
            <a:r>
              <a:rPr lang="zh-CN" altLang="en-US" sz="2600" dirty="0">
                <a:ea typeface="宋体" panose="02010600030101010101" pitchFamily="2" charset="-122"/>
              </a:rPr>
              <a:t>放置过程中主要考虑的因素</a:t>
            </a:r>
            <a:endParaRPr lang="en-US" altLang="zh-CN" sz="2600" dirty="0">
              <a:ea typeface="宋体" panose="02010600030101010101" pitchFamily="2" charset="-122"/>
            </a:endParaRPr>
          </a:p>
          <a:p>
            <a:pPr marL="1588" lvl="1" indent="342900"/>
            <a:r>
              <a:rPr lang="zh-CN" altLang="en-US" sz="2400" dirty="0">
                <a:ea typeface="宋体" panose="02010600030101010101" pitchFamily="2" charset="-122"/>
              </a:rPr>
              <a:t>原始虚拟数据中心的生存性问题</a:t>
            </a:r>
            <a:endParaRPr lang="en-US" altLang="zh-CN" sz="2400" dirty="0">
              <a:ea typeface="宋体" panose="02010600030101010101" pitchFamily="2" charset="-122"/>
            </a:endParaRPr>
          </a:p>
          <a:p>
            <a:pPr marL="1588" lvl="1" indent="342900"/>
            <a:r>
              <a:rPr lang="zh-CN" altLang="en-US" dirty="0">
                <a:ea typeface="宋体" panose="02010600030101010101" pitchFamily="2" charset="-122"/>
              </a:rPr>
              <a:t>计算资源和链路带宽资源开销</a:t>
            </a:r>
            <a:endParaRPr lang="en-US" altLang="zh-CN" sz="2600" dirty="0">
              <a:ea typeface="宋体" panose="02010600030101010101" pitchFamily="2" charset="-122"/>
            </a:endParaRPr>
          </a:p>
          <a:p>
            <a:pPr marL="0" indent="0" eaLnBrk="1" hangingPunct="1">
              <a:buNone/>
            </a:pPr>
            <a:endParaRPr lang="en-US" altLang="zh-CN" sz="2600" dirty="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73047"/>
    </mc:Choice>
    <mc:Fallback xmlns="">
      <p:transition spd="slow" advTm="7304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文本占位符 7170">
            <a:extLst>
              <a:ext uri="{FF2B5EF4-FFF2-40B4-BE49-F238E27FC236}">
                <a16:creationId xmlns:a16="http://schemas.microsoft.com/office/drawing/2014/main" id="{71A9AFBA-2356-4E3E-A155-2897B41E9F62}"/>
              </a:ext>
            </a:extLst>
          </p:cNvPr>
          <p:cNvSpPr>
            <a:spLocks noGrp="1" noChangeArrowheads="1"/>
          </p:cNvSpPr>
          <p:nvPr>
            <p:ph type="body" idx="1"/>
          </p:nvPr>
        </p:nvSpPr>
        <p:spPr/>
        <p:txBody>
          <a:bodyPr/>
          <a:lstStyle/>
          <a:p>
            <a:pPr eaLnBrk="1" hangingPunct="1"/>
            <a:r>
              <a:rPr lang="zh-CN" altLang="en-US" sz="2600" dirty="0">
                <a:ea typeface="宋体" panose="02010600030101010101" pitchFamily="2" charset="-122"/>
              </a:rPr>
              <a:t>单节点冗余</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首先通过一个冗余虚拟机以及相应的虚拟链接将原虚拟拓扑进行增强。</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接着将增强的虚拟拓扑结构映射到底层数据中心。</a:t>
            </a:r>
            <a:endParaRPr lang="en-US" altLang="zh-CN" sz="2600" dirty="0">
              <a:ea typeface="宋体" panose="02010600030101010101" pitchFamily="2" charset="-122"/>
            </a:endParaRPr>
          </a:p>
        </p:txBody>
      </p:sp>
      <p:sp>
        <p:nvSpPr>
          <p:cNvPr id="12290" name="标题 7169">
            <a:extLst>
              <a:ext uri="{FF2B5EF4-FFF2-40B4-BE49-F238E27FC236}">
                <a16:creationId xmlns:a16="http://schemas.microsoft.com/office/drawing/2014/main" id="{E85B30D5-555E-43AB-B3CB-27D4766367EA}"/>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虚拟数据中心的可靠增强策略</a:t>
            </a:r>
          </a:p>
        </p:txBody>
      </p:sp>
    </p:spTree>
  </p:cSld>
  <p:clrMapOvr>
    <a:masterClrMapping/>
  </p:clrMapOvr>
  <mc:AlternateContent xmlns:mc="http://schemas.openxmlformats.org/markup-compatibility/2006" xmlns:p14="http://schemas.microsoft.com/office/powerpoint/2010/main">
    <mc:Choice Requires="p14">
      <p:transition spd="slow" p14:dur="2000" advTm="14238"/>
    </mc:Choice>
    <mc:Fallback xmlns="">
      <p:transition spd="slow" advTm="14238"/>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文本占位符 7170">
            <a:extLst>
              <a:ext uri="{FF2B5EF4-FFF2-40B4-BE49-F238E27FC236}">
                <a16:creationId xmlns:a16="http://schemas.microsoft.com/office/drawing/2014/main" id="{71A9AFBA-2356-4E3E-A155-2897B41E9F62}"/>
              </a:ext>
            </a:extLst>
          </p:cNvPr>
          <p:cNvSpPr>
            <a:spLocks noGrp="1" noChangeArrowheads="1"/>
          </p:cNvSpPr>
          <p:nvPr>
            <p:ph type="body" idx="1"/>
          </p:nvPr>
        </p:nvSpPr>
        <p:spPr/>
        <p:txBody>
          <a:bodyPr/>
          <a:lstStyle/>
          <a:p>
            <a:pPr eaLnBrk="1" hangingPunct="1"/>
            <a:r>
              <a:rPr lang="zh-CN" altLang="en-US" sz="2600" dirty="0">
                <a:ea typeface="宋体" panose="02010600030101010101" pitchFamily="2" charset="-122"/>
              </a:rPr>
              <a:t>单节点冗余的增强型虚拟数据中心设计</a:t>
            </a:r>
            <a:endParaRPr lang="en-US" altLang="zh-CN" sz="2600" dirty="0">
              <a:ea typeface="宋体" panose="02010600030101010101" pitchFamily="2" charset="-122"/>
            </a:endParaRPr>
          </a:p>
          <a:p>
            <a:pPr marL="1588" lvl="1" indent="342900"/>
            <a:r>
              <a:rPr lang="zh-CN" altLang="en-US" sz="2400" dirty="0">
                <a:ea typeface="宋体" panose="02010600030101010101" pitchFamily="2" charset="-122"/>
              </a:rPr>
              <a:t>建立单冗余节点</a:t>
            </a:r>
            <a:r>
              <a:rPr lang="en-US" altLang="zh-CN" sz="2400" dirty="0">
                <a:ea typeface="宋体" panose="02010600030101010101" pitchFamily="2" charset="-122"/>
              </a:rPr>
              <a:t>b</a:t>
            </a:r>
          </a:p>
          <a:p>
            <a:pPr marL="1588" lvl="1" indent="342900"/>
            <a:r>
              <a:rPr lang="zh-CN" altLang="en-US" dirty="0">
                <a:ea typeface="宋体" panose="02010600030101010101" pitchFamily="2" charset="-122"/>
              </a:rPr>
              <a:t>冗余虚拟机</a:t>
            </a:r>
            <a:r>
              <a:rPr lang="en-US" altLang="zh-CN" dirty="0">
                <a:ea typeface="宋体" panose="02010600030101010101" pitchFamily="2" charset="-122"/>
              </a:rPr>
              <a:t>b</a:t>
            </a:r>
            <a:r>
              <a:rPr lang="zh-CN" altLang="en-US" dirty="0">
                <a:ea typeface="宋体" panose="02010600030101010101" pitchFamily="2" charset="-122"/>
              </a:rPr>
              <a:t>必须提前建立起足够的虚拟链路</a:t>
            </a:r>
            <a:endParaRPr lang="en-US" altLang="zh-CN" dirty="0">
              <a:ea typeface="宋体" panose="02010600030101010101" pitchFamily="2" charset="-122"/>
            </a:endParaRPr>
          </a:p>
          <a:p>
            <a:pPr marL="1588" lvl="1" indent="342900"/>
            <a:r>
              <a:rPr lang="zh-CN" altLang="en-US" sz="2600" dirty="0">
                <a:ea typeface="宋体" panose="02010600030101010101" pitchFamily="2" charset="-122"/>
              </a:rPr>
              <a:t>冗余虚拟机</a:t>
            </a:r>
            <a:r>
              <a:rPr lang="en-US" altLang="zh-CN" sz="2600" dirty="0">
                <a:ea typeface="宋体" panose="02010600030101010101" pitchFamily="2" charset="-122"/>
              </a:rPr>
              <a:t>b</a:t>
            </a:r>
            <a:r>
              <a:rPr lang="zh-CN" altLang="en-US" sz="2600" dirty="0">
                <a:ea typeface="宋体" panose="02010600030101010101" pitchFamily="2" charset="-122"/>
              </a:rPr>
              <a:t>预分配的资源等于所有原始虚拟机中计算资源的最大值</a:t>
            </a:r>
            <a:endParaRPr lang="en-US" altLang="zh-CN" sz="2600" dirty="0">
              <a:ea typeface="宋体" panose="02010600030101010101" pitchFamily="2" charset="-122"/>
            </a:endParaRPr>
          </a:p>
          <a:p>
            <a:pPr marL="0" indent="0" eaLnBrk="1" hangingPunct="1">
              <a:buNone/>
            </a:pPr>
            <a:endParaRPr lang="en-US" altLang="zh-CN" sz="2600" dirty="0">
              <a:ea typeface="宋体" panose="02010600030101010101" pitchFamily="2" charset="-122"/>
            </a:endParaRPr>
          </a:p>
        </p:txBody>
      </p:sp>
      <p:sp>
        <p:nvSpPr>
          <p:cNvPr id="12290" name="标题 7169">
            <a:extLst>
              <a:ext uri="{FF2B5EF4-FFF2-40B4-BE49-F238E27FC236}">
                <a16:creationId xmlns:a16="http://schemas.microsoft.com/office/drawing/2014/main" id="{E85B30D5-555E-43AB-B3CB-27D4766367EA}"/>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虚拟数据中心的可靠增强策略</a:t>
            </a:r>
          </a:p>
        </p:txBody>
      </p:sp>
    </p:spTree>
    <p:extLst>
      <p:ext uri="{BB962C8B-B14F-4D97-AF65-F5344CB8AC3E}">
        <p14:creationId xmlns:p14="http://schemas.microsoft.com/office/powerpoint/2010/main" val="2874788628"/>
      </p:ext>
    </p:extLst>
  </p:cSld>
  <p:clrMapOvr>
    <a:masterClrMapping/>
  </p:clrMapOvr>
  <mc:AlternateContent xmlns:mc="http://schemas.openxmlformats.org/markup-compatibility/2006" xmlns:p14="http://schemas.microsoft.com/office/powerpoint/2010/main">
    <mc:Choice Requires="p14">
      <p:transition spd="slow" p14:dur="2000" advTm="42997"/>
    </mc:Choice>
    <mc:Fallback xmlns="">
      <p:transition spd="slow" advTm="42997"/>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文本占位符 7170">
            <a:extLst>
              <a:ext uri="{FF2B5EF4-FFF2-40B4-BE49-F238E27FC236}">
                <a16:creationId xmlns:a16="http://schemas.microsoft.com/office/drawing/2014/main" id="{71A9AFBA-2356-4E3E-A155-2897B41E9F62}"/>
              </a:ext>
            </a:extLst>
          </p:cNvPr>
          <p:cNvSpPr>
            <a:spLocks noGrp="1" noChangeArrowheads="1"/>
          </p:cNvSpPr>
          <p:nvPr>
            <p:ph type="body" idx="1"/>
          </p:nvPr>
        </p:nvSpPr>
        <p:spPr/>
        <p:txBody>
          <a:bodyPr/>
          <a:lstStyle/>
          <a:p>
            <a:pPr eaLnBrk="1" hangingPunct="1"/>
            <a:r>
              <a:rPr lang="zh-CN" altLang="en-US" sz="2600" dirty="0">
                <a:ea typeface="宋体" panose="02010600030101010101" pitchFamily="2" charset="-122"/>
              </a:rPr>
              <a:t>单节点冗余的增强型虚拟数据中心设计</a:t>
            </a:r>
            <a:endParaRPr lang="en-US" altLang="zh-CN" sz="2600" dirty="0">
              <a:ea typeface="宋体" panose="02010600030101010101" pitchFamily="2" charset="-122"/>
            </a:endParaRPr>
          </a:p>
        </p:txBody>
      </p:sp>
      <p:sp>
        <p:nvSpPr>
          <p:cNvPr id="12290" name="标题 7169">
            <a:extLst>
              <a:ext uri="{FF2B5EF4-FFF2-40B4-BE49-F238E27FC236}">
                <a16:creationId xmlns:a16="http://schemas.microsoft.com/office/drawing/2014/main" id="{E85B30D5-555E-43AB-B3CB-27D4766367EA}"/>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虚拟数据中心的可靠增强策略</a:t>
            </a:r>
          </a:p>
        </p:txBody>
      </p:sp>
      <p:pic>
        <p:nvPicPr>
          <p:cNvPr id="3" name="图片 2">
            <a:extLst>
              <a:ext uri="{FF2B5EF4-FFF2-40B4-BE49-F238E27FC236}">
                <a16:creationId xmlns:a16="http://schemas.microsoft.com/office/drawing/2014/main" id="{050538C4-C47D-4258-B84C-FD96114F6B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95" y="2514624"/>
            <a:ext cx="7238810" cy="3068897"/>
          </a:xfrm>
          <a:prstGeom prst="rect">
            <a:avLst/>
          </a:prstGeom>
        </p:spPr>
      </p:pic>
    </p:spTree>
    <p:extLst>
      <p:ext uri="{BB962C8B-B14F-4D97-AF65-F5344CB8AC3E}">
        <p14:creationId xmlns:p14="http://schemas.microsoft.com/office/powerpoint/2010/main" val="4011541619"/>
      </p:ext>
    </p:extLst>
  </p:cSld>
  <p:clrMapOvr>
    <a:masterClrMapping/>
  </p:clrMapOvr>
  <mc:AlternateContent xmlns:mc="http://schemas.openxmlformats.org/markup-compatibility/2006" xmlns:p14="http://schemas.microsoft.com/office/powerpoint/2010/main">
    <mc:Choice Requires="p14">
      <p:transition spd="slow" p14:dur="2000" advTm="5757"/>
    </mc:Choice>
    <mc:Fallback xmlns="">
      <p:transition spd="slow" advTm="5757"/>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7169">
            <a:extLst>
              <a:ext uri="{FF2B5EF4-FFF2-40B4-BE49-F238E27FC236}">
                <a16:creationId xmlns:a16="http://schemas.microsoft.com/office/drawing/2014/main" id="{E85B30D5-555E-43AB-B3CB-27D4766367EA}"/>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虚拟数据中心的可靠增强策略</a:t>
            </a:r>
          </a:p>
        </p:txBody>
      </p:sp>
      <p:pic>
        <p:nvPicPr>
          <p:cNvPr id="12292" name="图片 4">
            <a:extLst>
              <a:ext uri="{FF2B5EF4-FFF2-40B4-BE49-F238E27FC236}">
                <a16:creationId xmlns:a16="http://schemas.microsoft.com/office/drawing/2014/main" id="{D992BBEE-7E71-4486-A14A-8DABE0ED7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2362200"/>
            <a:ext cx="78486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文本占位符 7170">
            <a:extLst>
              <a:ext uri="{FF2B5EF4-FFF2-40B4-BE49-F238E27FC236}">
                <a16:creationId xmlns:a16="http://schemas.microsoft.com/office/drawing/2014/main" id="{71A9AFBA-2356-4E3E-A155-2897B41E9F62}"/>
              </a:ext>
            </a:extLst>
          </p:cNvPr>
          <p:cNvSpPr>
            <a:spLocks noGrp="1" noChangeArrowheads="1"/>
          </p:cNvSpPr>
          <p:nvPr>
            <p:ph type="body" idx="1"/>
          </p:nvPr>
        </p:nvSpPr>
        <p:spPr>
          <a:xfrm>
            <a:off x="457200" y="1163637"/>
            <a:ext cx="8229600" cy="4530725"/>
          </a:xfrm>
        </p:spPr>
        <p:txBody>
          <a:bodyPr/>
          <a:lstStyle/>
          <a:p>
            <a:pPr eaLnBrk="1" hangingPunct="1"/>
            <a:r>
              <a:rPr lang="zh-CN" altLang="en-US" sz="2600" dirty="0">
                <a:ea typeface="宋体" panose="02010600030101010101" pitchFamily="2" charset="-122"/>
              </a:rPr>
              <a:t>单节点冗余的增强型虚拟数据中心映射</a:t>
            </a:r>
            <a:endParaRPr lang="en-US" altLang="zh-CN" sz="2600" dirty="0">
              <a:ea typeface="宋体" panose="02010600030101010101" pitchFamily="2" charset="-122"/>
            </a:endParaRPr>
          </a:p>
          <a:p>
            <a:pPr marL="1588" lvl="1" indent="342900"/>
            <a:r>
              <a:rPr lang="zh-CN" altLang="en-US" sz="2400" dirty="0">
                <a:ea typeface="宋体" panose="02010600030101010101" pitchFamily="2" charset="-122"/>
              </a:rPr>
              <a:t>备份链路共享</a:t>
            </a:r>
            <a:endParaRPr lang="en-US" altLang="zh-CN" sz="2400" dirty="0">
              <a:ea typeface="宋体" panose="02010600030101010101" pitchFamily="2" charset="-122"/>
            </a:endParaRPr>
          </a:p>
          <a:p>
            <a:pPr marL="1588" lvl="1" indent="342900"/>
            <a:r>
              <a:rPr lang="zh-CN" altLang="en-US" sz="2400" dirty="0">
                <a:ea typeface="宋体" panose="02010600030101010101" pitchFamily="2" charset="-122"/>
              </a:rPr>
              <a:t>工作路径共享</a:t>
            </a:r>
            <a:endParaRPr lang="en-US" altLang="zh-CN" sz="2600" dirty="0">
              <a:ea typeface="宋体" panose="02010600030101010101" pitchFamily="2" charset="-122"/>
            </a:endParaRPr>
          </a:p>
        </p:txBody>
      </p:sp>
    </p:spTree>
    <p:extLst>
      <p:ext uri="{BB962C8B-B14F-4D97-AF65-F5344CB8AC3E}">
        <p14:creationId xmlns:p14="http://schemas.microsoft.com/office/powerpoint/2010/main" val="4145575949"/>
      </p:ext>
    </p:extLst>
  </p:cSld>
  <p:clrMapOvr>
    <a:masterClrMapping/>
  </p:clrMapOvr>
  <mc:AlternateContent xmlns:mc="http://schemas.openxmlformats.org/markup-compatibility/2006" xmlns:p14="http://schemas.microsoft.com/office/powerpoint/2010/main">
    <mc:Choice Requires="p14">
      <p:transition spd="slow" p14:dur="2000" advTm="119532"/>
    </mc:Choice>
    <mc:Fallback xmlns="">
      <p:transition spd="slow" advTm="119532"/>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文本占位符 7170">
            <a:extLst>
              <a:ext uri="{FF2B5EF4-FFF2-40B4-BE49-F238E27FC236}">
                <a16:creationId xmlns:a16="http://schemas.microsoft.com/office/drawing/2014/main" id="{71A9AFBA-2356-4E3E-A155-2897B41E9F62}"/>
              </a:ext>
            </a:extLst>
          </p:cNvPr>
          <p:cNvSpPr>
            <a:spLocks noGrp="1" noChangeArrowheads="1"/>
          </p:cNvSpPr>
          <p:nvPr>
            <p:ph type="body" idx="1"/>
          </p:nvPr>
        </p:nvSpPr>
        <p:spPr/>
        <p:txBody>
          <a:bodyPr/>
          <a:lstStyle/>
          <a:p>
            <a:pPr eaLnBrk="1" hangingPunct="1"/>
            <a:r>
              <a:rPr lang="zh-CN" altLang="en-US" sz="2600" dirty="0">
                <a:ea typeface="宋体" panose="02010600030101010101" pitchFamily="2" charset="-122"/>
              </a:rPr>
              <a:t>单节点冗余的不足</a:t>
            </a:r>
          </a:p>
          <a:p>
            <a:pPr marL="0" indent="0" eaLnBrk="1" hangingPunct="1">
              <a:buNone/>
            </a:pPr>
            <a:r>
              <a:rPr lang="zh-CN" altLang="en-US" sz="2600" dirty="0">
                <a:ea typeface="宋体" panose="02010600030101010101" pitchFamily="2" charset="-122"/>
              </a:rPr>
              <a:t>虚拟机</a:t>
            </a:r>
            <a:r>
              <a:rPr lang="en-US" altLang="zh-CN" sz="2600" dirty="0">
                <a:ea typeface="宋体" panose="02010600030101010101" pitchFamily="2" charset="-122"/>
              </a:rPr>
              <a:t>b</a:t>
            </a:r>
            <a:r>
              <a:rPr lang="zh-CN" altLang="en-US" sz="2600" dirty="0">
                <a:ea typeface="宋体" panose="02010600030101010101" pitchFamily="2" charset="-122"/>
              </a:rPr>
              <a:t>在映射到物理服务器的过程中存在很多困难，有时甚至无法找到能够建立这么多链接的服务器。</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将所有的链接指向同一个服务器必然会出现一些底层物理路径绕路的情况，不一定能达到对资源的高效利用。</a:t>
            </a:r>
            <a:endParaRPr lang="en-US" altLang="zh-CN" sz="2600" dirty="0">
              <a:ea typeface="宋体" panose="02010600030101010101" pitchFamily="2" charset="-122"/>
            </a:endParaRPr>
          </a:p>
        </p:txBody>
      </p:sp>
      <p:sp>
        <p:nvSpPr>
          <p:cNvPr id="12290" name="标题 7169">
            <a:extLst>
              <a:ext uri="{FF2B5EF4-FFF2-40B4-BE49-F238E27FC236}">
                <a16:creationId xmlns:a16="http://schemas.microsoft.com/office/drawing/2014/main" id="{E85B30D5-555E-43AB-B3CB-27D4766367EA}"/>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虚拟数据中心的可靠增强策略</a:t>
            </a:r>
          </a:p>
        </p:txBody>
      </p:sp>
    </p:spTree>
    <p:extLst>
      <p:ext uri="{BB962C8B-B14F-4D97-AF65-F5344CB8AC3E}">
        <p14:creationId xmlns:p14="http://schemas.microsoft.com/office/powerpoint/2010/main" val="2558950562"/>
      </p:ext>
    </p:extLst>
  </p:cSld>
  <p:clrMapOvr>
    <a:masterClrMapping/>
  </p:clrMapOvr>
  <mc:AlternateContent xmlns:mc="http://schemas.openxmlformats.org/markup-compatibility/2006" xmlns:p14="http://schemas.microsoft.com/office/powerpoint/2010/main">
    <mc:Choice Requires="p14">
      <p:transition spd="slow" p14:dur="2000" advTm="17296"/>
    </mc:Choice>
    <mc:Fallback xmlns="">
      <p:transition spd="slow" advTm="17296"/>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7169">
            <a:extLst>
              <a:ext uri="{FF2B5EF4-FFF2-40B4-BE49-F238E27FC236}">
                <a16:creationId xmlns:a16="http://schemas.microsoft.com/office/drawing/2014/main" id="{6BF383C6-BC84-4470-A1CF-1150AA1E4889}"/>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虚拟数据中心的可靠增强策略</a:t>
            </a:r>
          </a:p>
        </p:txBody>
      </p:sp>
      <p:sp>
        <p:nvSpPr>
          <p:cNvPr id="13315" name="文本占位符 7170">
            <a:extLst>
              <a:ext uri="{FF2B5EF4-FFF2-40B4-BE49-F238E27FC236}">
                <a16:creationId xmlns:a16="http://schemas.microsoft.com/office/drawing/2014/main" id="{B6D7C6D8-FA99-4494-84CD-EB087E414048}"/>
              </a:ext>
            </a:extLst>
          </p:cNvPr>
          <p:cNvSpPr>
            <a:spLocks noGrp="1" noChangeArrowheads="1"/>
          </p:cNvSpPr>
          <p:nvPr>
            <p:ph type="body" idx="1"/>
          </p:nvPr>
        </p:nvSpPr>
        <p:spPr>
          <a:xfrm>
            <a:off x="457200" y="1434183"/>
            <a:ext cx="8229600" cy="4530725"/>
          </a:xfrm>
        </p:spPr>
        <p:txBody>
          <a:bodyPr/>
          <a:lstStyle/>
          <a:p>
            <a:pPr eaLnBrk="1" hangingPunct="1"/>
            <a:r>
              <a:rPr lang="en-US" altLang="zh-CN" sz="2600" dirty="0">
                <a:ea typeface="宋体" panose="02010600030101010101" pitchFamily="2" charset="-122"/>
              </a:rPr>
              <a:t>K</a:t>
            </a:r>
            <a:r>
              <a:rPr lang="zh-CN" altLang="en-US" sz="2600" dirty="0">
                <a:ea typeface="宋体" panose="02010600030101010101" pitchFamily="2" charset="-122"/>
              </a:rPr>
              <a:t>节点冗余</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首先将原来的虚拟数据中心增强为</a:t>
            </a:r>
            <a:r>
              <a:rPr lang="en-US" altLang="zh-CN" sz="2600" dirty="0">
                <a:ea typeface="宋体" panose="02010600030101010101" pitchFamily="2" charset="-122"/>
              </a:rPr>
              <a:t>K(1</a:t>
            </a:r>
            <a:r>
              <a:rPr lang="zh-CN" altLang="en-US" sz="2600" dirty="0">
                <a:ea typeface="宋体" panose="02010600030101010101" pitchFamily="2" charset="-122"/>
              </a:rPr>
              <a:t>≤</a:t>
            </a:r>
            <a:r>
              <a:rPr lang="en-US" altLang="zh-CN" sz="2600" dirty="0">
                <a:ea typeface="宋体" panose="02010600030101010101" pitchFamily="2" charset="-122"/>
              </a:rPr>
              <a:t>K</a:t>
            </a:r>
            <a:r>
              <a:rPr lang="zh-CN" altLang="en-US" sz="2600" dirty="0">
                <a:ea typeface="宋体" panose="02010600030101010101" pitchFamily="2" charset="-122"/>
              </a:rPr>
              <a:t>≤</a:t>
            </a:r>
            <a:r>
              <a:rPr lang="en-US" altLang="zh-CN" sz="2600" dirty="0">
                <a:ea typeface="宋体" panose="02010600030101010101" pitchFamily="2" charset="-122"/>
              </a:rPr>
              <a:t>N)</a:t>
            </a:r>
            <a:r>
              <a:rPr lang="zh-CN" altLang="en-US" sz="2600" dirty="0">
                <a:ea typeface="宋体" panose="02010600030101010101" pitchFamily="2" charset="-122"/>
              </a:rPr>
              <a:t>节点冗余的生存性虚拟数据中心，以保证每个虚拟机都有对应的备份虚拟机。</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接着将增强后的虚拟数据中心映射到底层物理数据中心。</a:t>
            </a:r>
            <a:endParaRPr lang="en-US" altLang="zh-CN" sz="2600" dirty="0">
              <a:ea typeface="宋体" panose="02010600030101010101" pitchFamily="2" charset="-122"/>
            </a:endParaRPr>
          </a:p>
          <a:p>
            <a:pPr marL="0" indent="0" eaLnBrk="1" hangingPunct="1">
              <a:buNone/>
            </a:pP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实际</a:t>
            </a:r>
            <a:r>
              <a:rPr lang="zh-CN" altLang="en-US" sz="2600">
                <a:ea typeface="宋体" panose="02010600030101010101" pitchFamily="2" charset="-122"/>
              </a:rPr>
              <a:t>映射中：</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多备份虚拟机可以同时映射到同一个物理服务器。</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因为同时只会有一个虚拟机失效，若多备份虚拟机映射到同一个物理服务器，则它们之间的计算资源可共享。</a:t>
            </a:r>
            <a:endParaRPr lang="en-US" altLang="zh-CN" sz="2600" dirty="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0054"/>
    </mc:Choice>
    <mc:Fallback xmlns="">
      <p:transition spd="slow" advTm="3005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291" name="文本占位符 7170">
                <a:extLst>
                  <a:ext uri="{FF2B5EF4-FFF2-40B4-BE49-F238E27FC236}">
                    <a16:creationId xmlns:a16="http://schemas.microsoft.com/office/drawing/2014/main" id="{71A9AFBA-2356-4E3E-A155-2897B41E9F62}"/>
                  </a:ext>
                </a:extLst>
              </p:cNvPr>
              <p:cNvSpPr>
                <a:spLocks noGrp="1" noChangeArrowheads="1"/>
              </p:cNvSpPr>
              <p:nvPr>
                <p:ph type="body" idx="1"/>
              </p:nvPr>
            </p:nvSpPr>
            <p:spPr/>
            <p:txBody>
              <a:bodyPr/>
              <a:lstStyle/>
              <a:p>
                <a:pPr eaLnBrk="1" hangingPunct="1"/>
                <a:r>
                  <a:rPr lang="en-US" altLang="zh-CN" sz="2600" dirty="0">
                    <a:ea typeface="宋体" panose="02010600030101010101" pitchFamily="2" charset="-122"/>
                  </a:rPr>
                  <a:t>K</a:t>
                </a:r>
                <a:r>
                  <a:rPr lang="zh-CN" altLang="en-US" sz="2600" dirty="0">
                    <a:ea typeface="宋体" panose="02010600030101010101" pitchFamily="2" charset="-122"/>
                  </a:rPr>
                  <a:t>节点冗余的增强型虚拟数据中心设计</a:t>
                </a:r>
                <a:endParaRPr lang="en-US" altLang="zh-CN" sz="2600" dirty="0">
                  <a:ea typeface="宋体" panose="02010600030101010101" pitchFamily="2" charset="-122"/>
                </a:endParaRPr>
              </a:p>
              <a:p>
                <a:pPr marL="1588" lvl="1" indent="342900"/>
                <a:r>
                  <a:rPr lang="zh-CN" altLang="en-US" sz="2400" dirty="0">
                    <a:ea typeface="宋体" panose="02010600030101010101" pitchFamily="2" charset="-122"/>
                  </a:rPr>
                  <a:t>建立多冗余节点集合</a:t>
                </a:r>
                <a14:m>
                  <m:oMath xmlns:m="http://schemas.openxmlformats.org/officeDocument/2006/math">
                    <m:sSup>
                      <m:sSupPr>
                        <m:ctrlPr>
                          <a:rPr lang="en-US" altLang="zh-CN" sz="2400" i="1" smtClean="0">
                            <a:latin typeface="Cambria Math" panose="02040503050406030204" pitchFamily="18" charset="0"/>
                            <a:ea typeface="宋体" panose="02010600030101010101" pitchFamily="2" charset="-122"/>
                          </a:rPr>
                        </m:ctrlPr>
                      </m:sSupPr>
                      <m:e>
                        <m:r>
                          <a:rPr lang="en-US" altLang="zh-CN" sz="2400" b="0" i="1" smtClean="0">
                            <a:latin typeface="Cambria Math" panose="02040503050406030204" pitchFamily="18" charset="0"/>
                            <a:ea typeface="宋体" panose="02010600030101010101" pitchFamily="2" charset="-122"/>
                          </a:rPr>
                          <m:t>𝐵</m:t>
                        </m:r>
                      </m:e>
                      <m:sup>
                        <m:r>
                          <a:rPr lang="en-US" altLang="zh-CN" sz="2400" b="0" i="1" smtClean="0">
                            <a:latin typeface="Cambria Math" panose="02040503050406030204" pitchFamily="18" charset="0"/>
                            <a:ea typeface="宋体" panose="02010600030101010101" pitchFamily="2" charset="-122"/>
                          </a:rPr>
                          <m:t>𝐴</m:t>
                        </m:r>
                      </m:sup>
                    </m:sSup>
                  </m:oMath>
                </a14:m>
                <a:endParaRPr lang="en-US" altLang="zh-CN" sz="2400" dirty="0">
                  <a:ea typeface="宋体" panose="02010600030101010101" pitchFamily="2" charset="-122"/>
                </a:endParaRPr>
              </a:p>
              <a:p>
                <a:pPr marL="1588" lvl="1" indent="342900"/>
                <a14:m>
                  <m:oMath xmlns:m="http://schemas.openxmlformats.org/officeDocument/2006/math">
                    <m:sSup>
                      <m:sSupPr>
                        <m:ctrlPr>
                          <a:rPr lang="en-US" altLang="zh-CN" sz="2800" i="1" smtClean="0">
                            <a:latin typeface="Cambria Math" panose="02040503050406030204" pitchFamily="18" charset="0"/>
                            <a:ea typeface="宋体" panose="02010600030101010101" pitchFamily="2" charset="-122"/>
                          </a:rPr>
                        </m:ctrlPr>
                      </m:sSupPr>
                      <m:e>
                        <m:r>
                          <a:rPr lang="en-US" altLang="zh-CN" sz="2800" b="0" i="1" smtClean="0">
                            <a:latin typeface="Cambria Math" panose="02040503050406030204" pitchFamily="18" charset="0"/>
                            <a:ea typeface="宋体" panose="02010600030101010101" pitchFamily="2" charset="-122"/>
                          </a:rPr>
                          <m:t>𝐵</m:t>
                        </m:r>
                      </m:e>
                      <m:sup>
                        <m:r>
                          <a:rPr lang="en-US" altLang="zh-CN" sz="2800" b="0" i="1" smtClean="0">
                            <a:latin typeface="Cambria Math" panose="02040503050406030204" pitchFamily="18" charset="0"/>
                            <a:ea typeface="宋体" panose="02010600030101010101" pitchFamily="2" charset="-122"/>
                          </a:rPr>
                          <m:t>𝐴</m:t>
                        </m:r>
                      </m:sup>
                    </m:sSup>
                  </m:oMath>
                </a14:m>
                <a:r>
                  <a:rPr lang="zh-CN" altLang="en-US" dirty="0">
                    <a:ea typeface="宋体" panose="02010600030101010101" pitchFamily="2" charset="-122"/>
                  </a:rPr>
                  <a:t>中的冗余虚拟机必须提前建立起对应的虚拟链路</a:t>
                </a:r>
                <a:endParaRPr lang="en-US" altLang="zh-CN" dirty="0">
                  <a:ea typeface="宋体" panose="02010600030101010101" pitchFamily="2" charset="-122"/>
                </a:endParaRPr>
              </a:p>
              <a:p>
                <a:pPr marL="1588" lvl="1" indent="342900"/>
                <a14:m>
                  <m:oMath xmlns:m="http://schemas.openxmlformats.org/officeDocument/2006/math">
                    <m:sSup>
                      <m:sSupPr>
                        <m:ctrlPr>
                          <a:rPr lang="en-US" altLang="zh-CN" sz="2800" i="1" smtClean="0">
                            <a:latin typeface="Cambria Math" panose="02040503050406030204" pitchFamily="18" charset="0"/>
                            <a:ea typeface="宋体" panose="02010600030101010101" pitchFamily="2" charset="-122"/>
                          </a:rPr>
                        </m:ctrlPr>
                      </m:sSupPr>
                      <m:e>
                        <m:r>
                          <a:rPr lang="en-US" altLang="zh-CN" sz="2800" b="0" i="1" smtClean="0">
                            <a:latin typeface="Cambria Math" panose="02040503050406030204" pitchFamily="18" charset="0"/>
                            <a:ea typeface="宋体" panose="02010600030101010101" pitchFamily="2" charset="-122"/>
                          </a:rPr>
                          <m:t>𝐵</m:t>
                        </m:r>
                      </m:e>
                      <m:sup>
                        <m:r>
                          <a:rPr lang="en-US" altLang="zh-CN" sz="2800" b="0" i="1" smtClean="0">
                            <a:latin typeface="Cambria Math" panose="02040503050406030204" pitchFamily="18" charset="0"/>
                            <a:ea typeface="宋体" panose="02010600030101010101" pitchFamily="2" charset="-122"/>
                          </a:rPr>
                          <m:t>𝐴</m:t>
                        </m:r>
                      </m:sup>
                    </m:sSup>
                  </m:oMath>
                </a14:m>
                <a:r>
                  <a:rPr lang="zh-CN" altLang="en-US" sz="2600" dirty="0">
                    <a:ea typeface="宋体" panose="02010600030101010101" pitchFamily="2" charset="-122"/>
                  </a:rPr>
                  <a:t>中的每个冗余虚拟机预分配的资源等于对应原始虚拟机中的计算资源</a:t>
                </a:r>
                <a:endParaRPr lang="en-US" altLang="zh-CN" sz="2600" dirty="0">
                  <a:ea typeface="宋体" panose="02010600030101010101" pitchFamily="2" charset="-122"/>
                </a:endParaRPr>
              </a:p>
            </p:txBody>
          </p:sp>
        </mc:Choice>
        <mc:Fallback xmlns="">
          <p:sp>
            <p:nvSpPr>
              <p:cNvPr id="12291" name="文本占位符 7170">
                <a:extLst>
                  <a:ext uri="{FF2B5EF4-FFF2-40B4-BE49-F238E27FC236}">
                    <a16:creationId xmlns:a16="http://schemas.microsoft.com/office/drawing/2014/main" id="{71A9AFBA-2356-4E3E-A155-2897B41E9F62}"/>
                  </a:ext>
                </a:extLst>
              </p:cNvPr>
              <p:cNvSpPr>
                <a:spLocks noGrp="1" noRot="1" noChangeAspect="1" noMove="1" noResize="1" noEditPoints="1" noAdjustHandles="1" noChangeArrowheads="1" noChangeShapeType="1" noTextEdit="1"/>
              </p:cNvSpPr>
              <p:nvPr>
                <p:ph type="body" idx="1"/>
              </p:nvPr>
            </p:nvSpPr>
            <p:spPr>
              <a:blipFill>
                <a:blip r:embed="rId2"/>
                <a:stretch>
                  <a:fillRect l="-1333" t="-1615"/>
                </a:stretch>
              </a:blipFill>
            </p:spPr>
            <p:txBody>
              <a:bodyPr/>
              <a:lstStyle/>
              <a:p>
                <a:r>
                  <a:rPr lang="zh-CN" altLang="en-US">
                    <a:noFill/>
                  </a:rPr>
                  <a:t> </a:t>
                </a:r>
              </a:p>
            </p:txBody>
          </p:sp>
        </mc:Fallback>
      </mc:AlternateContent>
      <p:sp>
        <p:nvSpPr>
          <p:cNvPr id="12290" name="标题 7169">
            <a:extLst>
              <a:ext uri="{FF2B5EF4-FFF2-40B4-BE49-F238E27FC236}">
                <a16:creationId xmlns:a16="http://schemas.microsoft.com/office/drawing/2014/main" id="{E85B30D5-555E-43AB-B3CB-27D4766367EA}"/>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虚拟数据中心的可靠增强策略</a:t>
            </a:r>
          </a:p>
        </p:txBody>
      </p:sp>
    </p:spTree>
    <p:extLst>
      <p:ext uri="{BB962C8B-B14F-4D97-AF65-F5344CB8AC3E}">
        <p14:creationId xmlns:p14="http://schemas.microsoft.com/office/powerpoint/2010/main" val="3744115597"/>
      </p:ext>
    </p:extLst>
  </p:cSld>
  <p:clrMapOvr>
    <a:masterClrMapping/>
  </p:clrMapOvr>
  <mc:AlternateContent xmlns:mc="http://schemas.openxmlformats.org/markup-compatibility/2006" xmlns:p14="http://schemas.microsoft.com/office/powerpoint/2010/main">
    <mc:Choice Requires="p14">
      <p:transition spd="slow" p14:dur="2000" advTm="19037"/>
    </mc:Choice>
    <mc:Fallback xmlns="">
      <p:transition spd="slow" advTm="19037"/>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7169">
            <a:extLst>
              <a:ext uri="{FF2B5EF4-FFF2-40B4-BE49-F238E27FC236}">
                <a16:creationId xmlns:a16="http://schemas.microsoft.com/office/drawing/2014/main" id="{6BF383C6-BC84-4470-A1CF-1150AA1E4889}"/>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虚拟数据中心的可靠增强策略</a:t>
            </a:r>
          </a:p>
        </p:txBody>
      </p:sp>
      <p:sp>
        <p:nvSpPr>
          <p:cNvPr id="13315" name="文本占位符 7170">
            <a:extLst>
              <a:ext uri="{FF2B5EF4-FFF2-40B4-BE49-F238E27FC236}">
                <a16:creationId xmlns:a16="http://schemas.microsoft.com/office/drawing/2014/main" id="{B6D7C6D8-FA99-4494-84CD-EB087E414048}"/>
              </a:ext>
            </a:extLst>
          </p:cNvPr>
          <p:cNvSpPr>
            <a:spLocks noGrp="1" noChangeArrowheads="1"/>
          </p:cNvSpPr>
          <p:nvPr>
            <p:ph type="body" idx="1"/>
          </p:nvPr>
        </p:nvSpPr>
        <p:spPr/>
        <p:txBody>
          <a:bodyPr/>
          <a:lstStyle/>
          <a:p>
            <a:pPr eaLnBrk="1" hangingPunct="1"/>
            <a:r>
              <a:rPr lang="en-US" altLang="zh-CN" sz="2600" dirty="0">
                <a:ea typeface="宋体" panose="02010600030101010101" pitchFamily="2" charset="-122"/>
              </a:rPr>
              <a:t>K</a:t>
            </a:r>
            <a:r>
              <a:rPr lang="zh-CN" altLang="en-US" sz="2600" dirty="0">
                <a:ea typeface="宋体" panose="02010600030101010101" pitchFamily="2" charset="-122"/>
              </a:rPr>
              <a:t>节点冗余的增强型虚拟数据中心设计</a:t>
            </a:r>
            <a:endParaRPr lang="en-US" altLang="zh-CN" sz="2600" dirty="0">
              <a:ea typeface="宋体" panose="02010600030101010101" pitchFamily="2" charset="-122"/>
            </a:endParaRPr>
          </a:p>
        </p:txBody>
      </p:sp>
      <p:pic>
        <p:nvPicPr>
          <p:cNvPr id="13316" name="图片 2">
            <a:extLst>
              <a:ext uri="{FF2B5EF4-FFF2-40B4-BE49-F238E27FC236}">
                <a16:creationId xmlns:a16="http://schemas.microsoft.com/office/drawing/2014/main" id="{3B560E81-F52D-41C7-A791-4C22F09D35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123" y="2209832"/>
            <a:ext cx="7633754" cy="3427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7716576"/>
      </p:ext>
    </p:extLst>
  </p:cSld>
  <p:clrMapOvr>
    <a:masterClrMapping/>
  </p:clrMapOvr>
  <mc:AlternateContent xmlns:mc="http://schemas.openxmlformats.org/markup-compatibility/2006" xmlns:p14="http://schemas.microsoft.com/office/powerpoint/2010/main">
    <mc:Choice Requires="p14">
      <p:transition spd="slow" p14:dur="2000" advTm="14161"/>
    </mc:Choice>
    <mc:Fallback xmlns="">
      <p:transition spd="slow" advTm="14161"/>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7169">
            <a:extLst>
              <a:ext uri="{FF2B5EF4-FFF2-40B4-BE49-F238E27FC236}">
                <a16:creationId xmlns:a16="http://schemas.microsoft.com/office/drawing/2014/main" id="{6BF383C6-BC84-4470-A1CF-1150AA1E4889}"/>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虚拟数据中心的可靠增强策略</a:t>
            </a:r>
          </a:p>
        </p:txBody>
      </p:sp>
      <p:sp>
        <p:nvSpPr>
          <p:cNvPr id="13315" name="文本占位符 7170">
            <a:extLst>
              <a:ext uri="{FF2B5EF4-FFF2-40B4-BE49-F238E27FC236}">
                <a16:creationId xmlns:a16="http://schemas.microsoft.com/office/drawing/2014/main" id="{B6D7C6D8-FA99-4494-84CD-EB087E414048}"/>
              </a:ext>
            </a:extLst>
          </p:cNvPr>
          <p:cNvSpPr>
            <a:spLocks noGrp="1" noChangeArrowheads="1"/>
          </p:cNvSpPr>
          <p:nvPr>
            <p:ph type="body" idx="1"/>
          </p:nvPr>
        </p:nvSpPr>
        <p:spPr/>
        <p:txBody>
          <a:bodyPr/>
          <a:lstStyle/>
          <a:p>
            <a:pPr eaLnBrk="1" hangingPunct="1"/>
            <a:r>
              <a:rPr lang="en-US" altLang="zh-CN" sz="2600" dirty="0">
                <a:ea typeface="宋体" panose="02010600030101010101" pitchFamily="2" charset="-122"/>
              </a:rPr>
              <a:t>K</a:t>
            </a:r>
            <a:r>
              <a:rPr lang="zh-CN" altLang="en-US" sz="2600" dirty="0">
                <a:ea typeface="宋体" panose="02010600030101010101" pitchFamily="2" charset="-122"/>
              </a:rPr>
              <a:t>节点冗余的增强型虚拟数据中心映射</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允许多个备份虚拟机同时映射到一个相同的底层物理服务器，映射过程中可以充分利用备份链路之间的共享以及备份链路和工作链路之间的共享。</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具体的映射情况及备份虚拟机占用底层物理服务器的数量取决于具体的物理数据中心、虚拟数据中心请求及优化目标。</a:t>
            </a:r>
            <a:endParaRPr lang="en-US" altLang="zh-CN" sz="2600" dirty="0">
              <a:ea typeface="宋体" panose="02010600030101010101" pitchFamily="2" charset="-122"/>
            </a:endParaRPr>
          </a:p>
        </p:txBody>
      </p:sp>
    </p:spTree>
    <p:extLst>
      <p:ext uri="{BB962C8B-B14F-4D97-AF65-F5344CB8AC3E}">
        <p14:creationId xmlns:p14="http://schemas.microsoft.com/office/powerpoint/2010/main" val="3556092601"/>
      </p:ext>
    </p:extLst>
  </p:cSld>
  <p:clrMapOvr>
    <a:masterClrMapping/>
  </p:clrMapOvr>
  <mc:AlternateContent xmlns:mc="http://schemas.openxmlformats.org/markup-compatibility/2006" xmlns:p14="http://schemas.microsoft.com/office/powerpoint/2010/main">
    <mc:Choice Requires="p14">
      <p:transition spd="slow" p14:dur="2000" advTm="778"/>
    </mc:Choice>
    <mc:Fallback xmlns="">
      <p:transition spd="slow" advTm="778"/>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7169">
            <a:extLst>
              <a:ext uri="{FF2B5EF4-FFF2-40B4-BE49-F238E27FC236}">
                <a16:creationId xmlns:a16="http://schemas.microsoft.com/office/drawing/2014/main" id="{55C8E4F5-5E47-451F-A0F6-B21A59B4291F}"/>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虚拟数据中心虚拟机失效容忍算法</a:t>
            </a:r>
          </a:p>
        </p:txBody>
      </p:sp>
      <mc:AlternateContent xmlns:mc="http://schemas.openxmlformats.org/markup-compatibility/2006" xmlns:a14="http://schemas.microsoft.com/office/drawing/2010/main">
        <mc:Choice Requires="a14">
          <p:sp>
            <p:nvSpPr>
              <p:cNvPr id="14339" name="文本占位符 7170">
                <a:extLst>
                  <a:ext uri="{FF2B5EF4-FFF2-40B4-BE49-F238E27FC236}">
                    <a16:creationId xmlns:a16="http://schemas.microsoft.com/office/drawing/2014/main" id="{0CC26AB6-2E77-4B14-9E6F-B9D1F0ACE1F4}"/>
                  </a:ext>
                </a:extLst>
              </p:cNvPr>
              <p:cNvSpPr>
                <a:spLocks noGrp="1" noChangeArrowheads="1"/>
              </p:cNvSpPr>
              <p:nvPr>
                <p:ph type="body" idx="1"/>
              </p:nvPr>
            </p:nvSpPr>
            <p:spPr>
              <a:xfrm>
                <a:off x="457200" y="1219258"/>
                <a:ext cx="8229600" cy="5029068"/>
              </a:xfrm>
            </p:spPr>
            <p:txBody>
              <a:bodyPr/>
              <a:lstStyle/>
              <a:p>
                <a:pPr eaLnBrk="1" hangingPunct="1"/>
                <a:r>
                  <a:rPr lang="zh-CN" altLang="en-US" sz="2600" dirty="0">
                    <a:ea typeface="宋体" panose="02010600030101010101" pitchFamily="2" charset="-122"/>
                  </a:rPr>
                  <a:t>符号和变量说明</a:t>
                </a:r>
                <a:endParaRPr lang="en-US" altLang="zh-CN" sz="2600" dirty="0">
                  <a:ea typeface="宋体" panose="02010600030101010101" pitchFamily="2" charset="-122"/>
                </a:endParaRPr>
              </a:p>
              <a:p>
                <a:pPr marL="0" indent="0" eaLnBrk="1" hangingPunct="1">
                  <a:buNone/>
                </a:pPr>
                <a14:m>
                  <m:oMath xmlns:m="http://schemas.openxmlformats.org/officeDocument/2006/math">
                    <m:r>
                      <a:rPr lang="en-US" altLang="zh-CN" sz="2600" b="0" i="1" smtClean="0">
                        <a:latin typeface="Cambria Math" panose="02040503050406030204" pitchFamily="18" charset="0"/>
                        <a:ea typeface="宋体" panose="02010600030101010101" pitchFamily="2" charset="-122"/>
                      </a:rPr>
                      <m:t>𝐺</m:t>
                    </m:r>
                    <m:r>
                      <m:rPr>
                        <m:sty m:val="p"/>
                      </m:rPr>
                      <a:rPr lang="en-US" altLang="zh-CN" sz="2600" i="1">
                        <a:latin typeface="Cambria Math" panose="02040503050406030204" pitchFamily="18" charset="0"/>
                        <a:ea typeface="宋体" panose="02010600030101010101" pitchFamily="2" charset="-122"/>
                      </a:rPr>
                      <m:t>v</m:t>
                    </m:r>
                    <m:r>
                      <a:rPr lang="en-US" altLang="zh-CN" sz="2600" b="0" i="1" smtClean="0">
                        <a:latin typeface="Cambria Math" panose="02040503050406030204" pitchFamily="18" charset="0"/>
                        <a:ea typeface="宋体" panose="02010600030101010101" pitchFamily="2" charset="-122"/>
                      </a:rPr>
                      <m:t>=</m:t>
                    </m:r>
                    <m:d>
                      <m:dPr>
                        <m:ctrlPr>
                          <a:rPr lang="en-US" altLang="zh-CN" sz="2600" b="0" i="1" smtClean="0">
                            <a:latin typeface="Cambria Math" panose="02040503050406030204" pitchFamily="18" charset="0"/>
                            <a:ea typeface="宋体" panose="02010600030101010101" pitchFamily="2" charset="-122"/>
                          </a:rPr>
                        </m:ctrlPr>
                      </m:dPr>
                      <m:e>
                        <m:r>
                          <a:rPr lang="en-US" altLang="zh-CN" sz="2600" b="0" i="1" smtClean="0">
                            <a:latin typeface="Cambria Math" panose="02040503050406030204" pitchFamily="18" charset="0"/>
                            <a:ea typeface="宋体" panose="02010600030101010101" pitchFamily="2" charset="-122"/>
                          </a:rPr>
                          <m:t>𝑁𝑣</m:t>
                        </m:r>
                        <m:r>
                          <a:rPr lang="en-US" altLang="zh-CN" sz="2600" b="0" i="1" smtClean="0">
                            <a:latin typeface="Cambria Math" panose="02040503050406030204" pitchFamily="18" charset="0"/>
                            <a:ea typeface="宋体" panose="02010600030101010101" pitchFamily="2" charset="-122"/>
                          </a:rPr>
                          <m:t>,  </m:t>
                        </m:r>
                        <m:r>
                          <a:rPr lang="en-US" altLang="zh-CN" sz="2600" b="0" i="1" smtClean="0">
                            <a:latin typeface="Cambria Math" panose="02040503050406030204" pitchFamily="18" charset="0"/>
                            <a:ea typeface="宋体" panose="02010600030101010101" pitchFamily="2" charset="-122"/>
                          </a:rPr>
                          <m:t>𝐿𝑣</m:t>
                        </m:r>
                      </m:e>
                    </m:d>
                  </m:oMath>
                </a14:m>
                <a:r>
                  <a:rPr lang="en-US" altLang="zh-CN" sz="2600" dirty="0">
                    <a:ea typeface="宋体" panose="02010600030101010101" pitchFamily="2" charset="-122"/>
                  </a:rPr>
                  <a:t> </a:t>
                </a:r>
                <a:r>
                  <a:rPr lang="zh-CN" altLang="en-US" sz="2600" dirty="0">
                    <a:ea typeface="宋体" panose="02010600030101010101" pitchFamily="2" charset="-122"/>
                  </a:rPr>
                  <a:t>虚拟数据中心请求</a:t>
                </a:r>
                <a:endParaRPr lang="en-US" altLang="zh-CN" sz="2600" dirty="0">
                  <a:ea typeface="宋体" panose="02010600030101010101" pitchFamily="2" charset="-122"/>
                </a:endParaRPr>
              </a:p>
              <a:p>
                <a:pPr marL="0" indent="0" eaLnBrk="1" hangingPunct="1">
                  <a:buNone/>
                </a:pPr>
                <a14:m>
                  <m:oMath xmlns:m="http://schemas.openxmlformats.org/officeDocument/2006/math">
                    <m:r>
                      <a:rPr lang="en-US" altLang="zh-CN" sz="2600" b="0" i="1" smtClean="0">
                        <a:latin typeface="Cambria Math" panose="02040503050406030204" pitchFamily="18" charset="0"/>
                        <a:ea typeface="宋体" panose="02010600030101010101" pitchFamily="2" charset="-122"/>
                      </a:rPr>
                      <m:t>𝑁</m:t>
                    </m:r>
                    <m:r>
                      <m:rPr>
                        <m:sty m:val="p"/>
                      </m:rPr>
                      <a:rPr lang="en-US" altLang="zh-CN" sz="2600" i="1">
                        <a:latin typeface="Cambria Math" panose="02040503050406030204" pitchFamily="18" charset="0"/>
                        <a:ea typeface="宋体" panose="02010600030101010101" pitchFamily="2" charset="-122"/>
                      </a:rPr>
                      <m:t>v</m:t>
                    </m:r>
                  </m:oMath>
                </a14:m>
                <a:r>
                  <a:rPr lang="en-US" altLang="zh-CN" sz="2600" dirty="0">
                    <a:ea typeface="宋体" panose="02010600030101010101" pitchFamily="2" charset="-122"/>
                  </a:rPr>
                  <a:t> </a:t>
                </a:r>
                <a:r>
                  <a:rPr lang="zh-CN" altLang="en-US" sz="2600" dirty="0">
                    <a:ea typeface="宋体" panose="02010600030101010101" pitchFamily="2" charset="-122"/>
                  </a:rPr>
                  <a:t>虚拟机集合</a:t>
                </a:r>
                <a:endParaRPr lang="en-US" altLang="zh-CN" sz="2600" dirty="0">
                  <a:ea typeface="宋体" panose="02010600030101010101" pitchFamily="2" charset="-122"/>
                </a:endParaRPr>
              </a:p>
              <a:p>
                <a:pPr marL="0" indent="0" eaLnBrk="1" hangingPunct="1">
                  <a:buNone/>
                </a:pPr>
                <a14:m>
                  <m:oMath xmlns:m="http://schemas.openxmlformats.org/officeDocument/2006/math">
                    <m:r>
                      <a:rPr lang="en-US" altLang="zh-CN" sz="2600" b="0" i="1" smtClean="0">
                        <a:latin typeface="Cambria Math" panose="02040503050406030204" pitchFamily="18" charset="0"/>
                        <a:ea typeface="宋体" panose="02010600030101010101" pitchFamily="2" charset="-122"/>
                      </a:rPr>
                      <m:t>𝐿</m:t>
                    </m:r>
                    <m:r>
                      <m:rPr>
                        <m:sty m:val="p"/>
                      </m:rPr>
                      <a:rPr lang="en-US" altLang="zh-CN" sz="2600" i="1">
                        <a:latin typeface="Cambria Math" panose="02040503050406030204" pitchFamily="18" charset="0"/>
                        <a:ea typeface="宋体" panose="02010600030101010101" pitchFamily="2" charset="-122"/>
                      </a:rPr>
                      <m:t>v</m:t>
                    </m:r>
                  </m:oMath>
                </a14:m>
                <a:r>
                  <a:rPr lang="en-US" altLang="zh-CN" sz="2600" dirty="0">
                    <a:ea typeface="宋体" panose="02010600030101010101" pitchFamily="2" charset="-122"/>
                  </a:rPr>
                  <a:t> </a:t>
                </a:r>
                <a:r>
                  <a:rPr lang="zh-CN" altLang="en-US" sz="2600" dirty="0">
                    <a:ea typeface="宋体" panose="02010600030101010101" pitchFamily="2" charset="-122"/>
                  </a:rPr>
                  <a:t>虚拟机链路集合</a:t>
                </a:r>
                <a:r>
                  <a:rPr lang="en-US" altLang="zh-CN" sz="2600" dirty="0">
                    <a:ea typeface="宋体" panose="02010600030101010101" pitchFamily="2" charset="-122"/>
                  </a:rPr>
                  <a:t> </a:t>
                </a:r>
              </a:p>
              <a:p>
                <a:pPr marL="0" indent="0" eaLnBrk="1" hangingPunct="1">
                  <a:buNone/>
                </a:pPr>
                <a14:m>
                  <m:oMath xmlns:m="http://schemas.openxmlformats.org/officeDocument/2006/math">
                    <m:r>
                      <a:rPr lang="en-US" altLang="zh-CN" sz="2600" b="0" i="1" smtClean="0">
                        <a:latin typeface="Cambria Math" panose="02040503050406030204" pitchFamily="18" charset="0"/>
                        <a:ea typeface="宋体" panose="02010600030101010101" pitchFamily="2" charset="-122"/>
                      </a:rPr>
                      <m:t>𝐺</m:t>
                    </m:r>
                    <m:r>
                      <m:rPr>
                        <m:sty m:val="p"/>
                      </m:rPr>
                      <a:rPr lang="en-US" altLang="zh-CN" sz="2600" i="1">
                        <a:latin typeface="Cambria Math" panose="02040503050406030204" pitchFamily="18" charset="0"/>
                        <a:ea typeface="宋体" panose="02010600030101010101" pitchFamily="2" charset="-122"/>
                      </a:rPr>
                      <m:t>s</m:t>
                    </m:r>
                    <m:r>
                      <a:rPr lang="en-US" altLang="zh-CN" sz="2600" b="0" i="1" smtClean="0">
                        <a:latin typeface="Cambria Math" panose="02040503050406030204" pitchFamily="18" charset="0"/>
                        <a:ea typeface="宋体" panose="02010600030101010101" pitchFamily="2" charset="-122"/>
                      </a:rPr>
                      <m:t>=</m:t>
                    </m:r>
                    <m:d>
                      <m:dPr>
                        <m:ctrlPr>
                          <a:rPr lang="en-US" altLang="zh-CN" sz="2600" b="0" i="1" smtClean="0">
                            <a:latin typeface="Cambria Math" panose="02040503050406030204" pitchFamily="18" charset="0"/>
                            <a:ea typeface="宋体" panose="02010600030101010101" pitchFamily="2" charset="-122"/>
                          </a:rPr>
                        </m:ctrlPr>
                      </m:dPr>
                      <m:e>
                        <m:r>
                          <a:rPr lang="en-US" altLang="zh-CN" sz="2600" b="0" i="1" smtClean="0">
                            <a:latin typeface="Cambria Math" panose="02040503050406030204" pitchFamily="18" charset="0"/>
                            <a:ea typeface="宋体" panose="02010600030101010101" pitchFamily="2" charset="-122"/>
                          </a:rPr>
                          <m:t>𝑁𝑠</m:t>
                        </m:r>
                        <m:r>
                          <a:rPr lang="en-US" altLang="zh-CN" sz="2600" b="0" i="1" smtClean="0">
                            <a:latin typeface="Cambria Math" panose="02040503050406030204" pitchFamily="18" charset="0"/>
                            <a:ea typeface="宋体" panose="02010600030101010101" pitchFamily="2" charset="-122"/>
                          </a:rPr>
                          <m:t>,  </m:t>
                        </m:r>
                        <m:r>
                          <a:rPr lang="en-US" altLang="zh-CN" sz="2600" b="0" i="1" smtClean="0">
                            <a:latin typeface="Cambria Math" panose="02040503050406030204" pitchFamily="18" charset="0"/>
                            <a:ea typeface="宋体" panose="02010600030101010101" pitchFamily="2" charset="-122"/>
                          </a:rPr>
                          <m:t>𝐿𝑠</m:t>
                        </m:r>
                      </m:e>
                    </m:d>
                  </m:oMath>
                </a14:m>
                <a:r>
                  <a:rPr lang="en-US" altLang="zh-CN" sz="2600" dirty="0">
                    <a:ea typeface="宋体" panose="02010600030101010101" pitchFamily="2" charset="-122"/>
                  </a:rPr>
                  <a:t> </a:t>
                </a:r>
                <a:r>
                  <a:rPr lang="zh-CN" altLang="en-US" sz="2600" dirty="0">
                    <a:ea typeface="宋体" panose="02010600030101010101" pitchFamily="2" charset="-122"/>
                  </a:rPr>
                  <a:t>底层物理数据中心</a:t>
                </a:r>
                <a:endParaRPr lang="en-US" altLang="zh-CN" sz="2600" dirty="0">
                  <a:ea typeface="宋体" panose="02010600030101010101" pitchFamily="2" charset="-122"/>
                </a:endParaRPr>
              </a:p>
              <a:p>
                <a:pPr marL="0" indent="0" eaLnBrk="1" hangingPunct="1">
                  <a:buNone/>
                </a:pPr>
                <a14:m>
                  <m:oMath xmlns:m="http://schemas.openxmlformats.org/officeDocument/2006/math">
                    <m:r>
                      <a:rPr lang="en-US" altLang="zh-CN" sz="2600" b="0" i="1" smtClean="0">
                        <a:latin typeface="Cambria Math" panose="02040503050406030204" pitchFamily="18" charset="0"/>
                        <a:ea typeface="宋体" panose="02010600030101010101" pitchFamily="2" charset="-122"/>
                      </a:rPr>
                      <m:t>𝑁𝑠</m:t>
                    </m:r>
                  </m:oMath>
                </a14:m>
                <a:r>
                  <a:rPr lang="en-US" altLang="zh-CN" sz="2600" dirty="0">
                    <a:ea typeface="宋体" panose="02010600030101010101" pitchFamily="2" charset="-122"/>
                  </a:rPr>
                  <a:t> </a:t>
                </a:r>
                <a:r>
                  <a:rPr lang="zh-CN" altLang="en-US" sz="2600" dirty="0">
                    <a:ea typeface="宋体" panose="02010600030101010101" pitchFamily="2" charset="-122"/>
                  </a:rPr>
                  <a:t>物理服务器集合</a:t>
                </a:r>
                <a:endParaRPr lang="en-US" altLang="zh-CN" sz="2600" dirty="0">
                  <a:ea typeface="宋体" panose="02010600030101010101" pitchFamily="2" charset="-122"/>
                </a:endParaRPr>
              </a:p>
              <a:p>
                <a:pPr marL="0" indent="0" eaLnBrk="1" hangingPunct="1">
                  <a:buNone/>
                </a:pPr>
                <a14:m>
                  <m:oMath xmlns:m="http://schemas.openxmlformats.org/officeDocument/2006/math">
                    <m:r>
                      <a:rPr lang="en-US" altLang="zh-CN" sz="2600" b="0" i="1" smtClean="0">
                        <a:latin typeface="Cambria Math" panose="02040503050406030204" pitchFamily="18" charset="0"/>
                        <a:ea typeface="宋体" panose="02010600030101010101" pitchFamily="2" charset="-122"/>
                      </a:rPr>
                      <m:t>𝐿𝑠</m:t>
                    </m:r>
                  </m:oMath>
                </a14:m>
                <a:r>
                  <a:rPr lang="en-US" altLang="zh-CN" sz="2600" dirty="0">
                    <a:ea typeface="宋体" panose="02010600030101010101" pitchFamily="2" charset="-122"/>
                  </a:rPr>
                  <a:t> </a:t>
                </a:r>
                <a:r>
                  <a:rPr lang="zh-CN" altLang="en-US" sz="2600" dirty="0">
                    <a:ea typeface="宋体" panose="02010600030101010101" pitchFamily="2" charset="-122"/>
                  </a:rPr>
                  <a:t>连接服务器的链路集合</a:t>
                </a:r>
                <a:endParaRPr lang="en-US" altLang="zh-CN" sz="2600" dirty="0">
                  <a:ea typeface="宋体" panose="02010600030101010101" pitchFamily="2" charset="-122"/>
                </a:endParaRPr>
              </a:p>
              <a:p>
                <a:pPr marL="0" indent="0" eaLnBrk="1" hangingPunct="1">
                  <a:buNone/>
                </a:pPr>
                <a14:m>
                  <m:oMath xmlns:m="http://schemas.openxmlformats.org/officeDocument/2006/math">
                    <m:sSubSup>
                      <m:sSubSupPr>
                        <m:ctrlPr>
                          <a:rPr lang="en-US" altLang="zh-CN" sz="2600" i="1" smtClean="0">
                            <a:latin typeface="Cambria Math" panose="02040503050406030204" pitchFamily="18" charset="0"/>
                            <a:ea typeface="宋体" panose="02010600030101010101" pitchFamily="2" charset="-122"/>
                          </a:rPr>
                        </m:ctrlPr>
                      </m:sSubSupPr>
                      <m:e>
                        <m:r>
                          <a:rPr lang="en-US" altLang="zh-CN" sz="2600" b="0" i="1" smtClean="0">
                            <a:latin typeface="Cambria Math" panose="02040503050406030204" pitchFamily="18" charset="0"/>
                            <a:ea typeface="宋体" panose="02010600030101010101" pitchFamily="2" charset="-122"/>
                          </a:rPr>
                          <m:t>𝑁</m:t>
                        </m:r>
                      </m:e>
                      <m:sub>
                        <m:r>
                          <a:rPr lang="en-US" altLang="zh-CN" sz="2600" b="0" i="1" smtClean="0">
                            <a:latin typeface="Cambria Math" panose="02040503050406030204" pitchFamily="18" charset="0"/>
                            <a:ea typeface="宋体" panose="02010600030101010101" pitchFamily="2" charset="-122"/>
                          </a:rPr>
                          <m:t>𝑠</m:t>
                        </m:r>
                      </m:sub>
                      <m:sup>
                        <m:r>
                          <a:rPr lang="en-US" altLang="zh-CN" sz="2600" b="0" i="1" smtClean="0">
                            <a:latin typeface="Cambria Math" panose="02040503050406030204" pitchFamily="18" charset="0"/>
                            <a:ea typeface="宋体" panose="02010600030101010101" pitchFamily="2" charset="-122"/>
                          </a:rPr>
                          <m:t>𝑖</m:t>
                        </m:r>
                      </m:sup>
                    </m:sSubSup>
                  </m:oMath>
                </a14:m>
                <a:r>
                  <a:rPr lang="zh-CN" altLang="en-US" sz="2600" dirty="0">
                    <a:ea typeface="宋体" panose="02010600030101010101" pitchFamily="2" charset="-122"/>
                  </a:rPr>
                  <a:t> 编号为</a:t>
                </a:r>
                <a:r>
                  <a:rPr lang="en-US" altLang="zh-CN" sz="2600" dirty="0">
                    <a:ea typeface="宋体" panose="02010600030101010101" pitchFamily="2" charset="-122"/>
                  </a:rPr>
                  <a:t>u</a:t>
                </a:r>
                <a:r>
                  <a:rPr lang="zh-CN" altLang="en-US" sz="2600" dirty="0">
                    <a:ea typeface="宋体" panose="02010600030101010101" pitchFamily="2" charset="-122"/>
                  </a:rPr>
                  <a:t>的虚拟机</a:t>
                </a:r>
                <a:endParaRPr lang="en-US" altLang="zh-CN" sz="2600" dirty="0">
                  <a:ea typeface="宋体" panose="02010600030101010101" pitchFamily="2" charset="-122"/>
                </a:endParaRPr>
              </a:p>
              <a:p>
                <a:pPr marL="0" indent="0" eaLnBrk="1" hangingPunct="1">
                  <a:buNone/>
                </a:pPr>
                <a14:m>
                  <m:oMath xmlns:m="http://schemas.openxmlformats.org/officeDocument/2006/math">
                    <m:sSubSup>
                      <m:sSubSupPr>
                        <m:ctrlPr>
                          <a:rPr lang="en-US" altLang="zh-CN" sz="2600" i="1" smtClean="0">
                            <a:latin typeface="Cambria Math" panose="02040503050406030204" pitchFamily="18" charset="0"/>
                            <a:ea typeface="宋体" panose="02010600030101010101" pitchFamily="2" charset="-122"/>
                          </a:rPr>
                        </m:ctrlPr>
                      </m:sSubSupPr>
                      <m:e>
                        <m:r>
                          <a:rPr lang="en-US" altLang="zh-CN" sz="2600" b="0" i="1" smtClean="0">
                            <a:latin typeface="Cambria Math" panose="02040503050406030204" pitchFamily="18" charset="0"/>
                            <a:ea typeface="宋体" panose="02010600030101010101" pitchFamily="2" charset="-122"/>
                          </a:rPr>
                          <m:t>𝑁</m:t>
                        </m:r>
                      </m:e>
                      <m:sub>
                        <m:r>
                          <a:rPr lang="en-US" altLang="zh-CN" sz="2600" b="0" i="1" smtClean="0">
                            <a:latin typeface="Cambria Math" panose="02040503050406030204" pitchFamily="18" charset="0"/>
                            <a:ea typeface="宋体" panose="02010600030101010101" pitchFamily="2" charset="-122"/>
                          </a:rPr>
                          <m:t>𝑣</m:t>
                        </m:r>
                      </m:sub>
                      <m:sup>
                        <m:r>
                          <m:rPr>
                            <m:sty m:val="p"/>
                          </m:rPr>
                          <a:rPr lang="en-US" altLang="zh-CN" sz="2600" i="1">
                            <a:latin typeface="Cambria Math" panose="02040503050406030204" pitchFamily="18" charset="0"/>
                            <a:ea typeface="宋体" panose="02010600030101010101" pitchFamily="2" charset="-122"/>
                          </a:rPr>
                          <m:t>u</m:t>
                        </m:r>
                      </m:sup>
                    </m:sSubSup>
                  </m:oMath>
                </a14:m>
                <a:r>
                  <a:rPr lang="zh-CN" altLang="en-US" sz="2600" dirty="0">
                    <a:ea typeface="宋体" panose="02010600030101010101" pitchFamily="2" charset="-122"/>
                  </a:rPr>
                  <a:t> 编号为</a:t>
                </a:r>
                <a:r>
                  <a:rPr lang="en-US" altLang="zh-CN" sz="2600" dirty="0" err="1">
                    <a:ea typeface="宋体" panose="02010600030101010101" pitchFamily="2" charset="-122"/>
                  </a:rPr>
                  <a:t>i</a:t>
                </a:r>
                <a:r>
                  <a:rPr lang="zh-CN" altLang="en-US" sz="2600" dirty="0">
                    <a:ea typeface="宋体" panose="02010600030101010101" pitchFamily="2" charset="-122"/>
                  </a:rPr>
                  <a:t>的物理服务器</a:t>
                </a:r>
                <a:endParaRPr lang="en-US" altLang="zh-CN" sz="2600" dirty="0">
                  <a:ea typeface="宋体" panose="02010600030101010101" pitchFamily="2" charset="-122"/>
                </a:endParaRPr>
              </a:p>
              <a:p>
                <a:pPr marL="0" indent="0" eaLnBrk="1" hangingPunct="1">
                  <a:buNone/>
                </a:pPr>
                <a14:m>
                  <m:oMath xmlns:m="http://schemas.openxmlformats.org/officeDocument/2006/math">
                    <m:sSubSup>
                      <m:sSubSupPr>
                        <m:ctrlPr>
                          <a:rPr lang="en-US" altLang="zh-CN" sz="2600" i="1" smtClean="0">
                            <a:latin typeface="Cambria Math" panose="02040503050406030204" pitchFamily="18" charset="0"/>
                            <a:ea typeface="宋体" panose="02010600030101010101" pitchFamily="2" charset="-122"/>
                          </a:rPr>
                        </m:ctrlPr>
                      </m:sSubSupPr>
                      <m:e>
                        <m:r>
                          <a:rPr lang="en-US" altLang="zh-CN" sz="2600" b="0" i="1" smtClean="0">
                            <a:latin typeface="Cambria Math" panose="02040503050406030204" pitchFamily="18" charset="0"/>
                            <a:ea typeface="宋体" panose="02010600030101010101" pitchFamily="2" charset="-122"/>
                          </a:rPr>
                          <m:t>𝐿</m:t>
                        </m:r>
                      </m:e>
                      <m:sub>
                        <m:r>
                          <a:rPr lang="en-US" altLang="zh-CN" sz="2600" b="0" i="1" smtClean="0">
                            <a:latin typeface="Cambria Math" panose="02040503050406030204" pitchFamily="18" charset="0"/>
                            <a:ea typeface="宋体" panose="02010600030101010101" pitchFamily="2" charset="-122"/>
                          </a:rPr>
                          <m:t>𝑣</m:t>
                        </m:r>
                      </m:sub>
                      <m:sup>
                        <m:r>
                          <m:rPr>
                            <m:sty m:val="p"/>
                          </m:rPr>
                          <a:rPr lang="en-US" altLang="zh-CN" sz="2600" i="1">
                            <a:latin typeface="Cambria Math" panose="02040503050406030204" pitchFamily="18" charset="0"/>
                            <a:ea typeface="宋体" panose="02010600030101010101" pitchFamily="2" charset="-122"/>
                          </a:rPr>
                          <m:t>uv</m:t>
                        </m:r>
                      </m:sup>
                    </m:sSubSup>
                  </m:oMath>
                </a14:m>
                <a:r>
                  <a:rPr lang="zh-CN" altLang="en-US" sz="2600" dirty="0">
                    <a:ea typeface="宋体" panose="02010600030101010101" pitchFamily="2" charset="-122"/>
                  </a:rPr>
                  <a:t> 一条从源虚拟机</a:t>
                </a:r>
                <a:r>
                  <a:rPr lang="en-US" altLang="zh-CN" sz="2600" dirty="0">
                    <a:ea typeface="宋体" panose="02010600030101010101" pitchFamily="2" charset="-122"/>
                  </a:rPr>
                  <a:t>u</a:t>
                </a:r>
                <a:r>
                  <a:rPr lang="zh-CN" altLang="en-US" sz="2600" dirty="0">
                    <a:ea typeface="宋体" panose="02010600030101010101" pitchFamily="2" charset="-122"/>
                  </a:rPr>
                  <a:t>到目的虚拟机</a:t>
                </a:r>
                <a:r>
                  <a:rPr lang="en-US" altLang="zh-CN" sz="2600" dirty="0">
                    <a:ea typeface="宋体" panose="02010600030101010101" pitchFamily="2" charset="-122"/>
                  </a:rPr>
                  <a:t>v</a:t>
                </a:r>
                <a:r>
                  <a:rPr lang="zh-CN" altLang="en-US" sz="2600" dirty="0">
                    <a:ea typeface="宋体" panose="02010600030101010101" pitchFamily="2" charset="-122"/>
                  </a:rPr>
                  <a:t>的虚拟链路</a:t>
                </a:r>
                <a:endParaRPr lang="en-US" altLang="zh-CN" sz="2600" dirty="0">
                  <a:ea typeface="宋体" panose="02010600030101010101" pitchFamily="2" charset="-122"/>
                </a:endParaRPr>
              </a:p>
            </p:txBody>
          </p:sp>
        </mc:Choice>
        <mc:Fallback xmlns="">
          <p:sp>
            <p:nvSpPr>
              <p:cNvPr id="14339" name="文本占位符 7170">
                <a:extLst>
                  <a:ext uri="{FF2B5EF4-FFF2-40B4-BE49-F238E27FC236}">
                    <a16:creationId xmlns:a16="http://schemas.microsoft.com/office/drawing/2014/main" id="{0CC26AB6-2E77-4B14-9E6F-B9D1F0ACE1F4}"/>
                  </a:ext>
                </a:extLst>
              </p:cNvPr>
              <p:cNvSpPr>
                <a:spLocks noGrp="1" noRot="1" noChangeAspect="1" noMove="1" noResize="1" noEditPoints="1" noAdjustHandles="1" noChangeArrowheads="1" noChangeShapeType="1" noTextEdit="1"/>
              </p:cNvSpPr>
              <p:nvPr>
                <p:ph type="body" idx="1"/>
              </p:nvPr>
            </p:nvSpPr>
            <p:spPr>
              <a:xfrm>
                <a:off x="457200" y="1219258"/>
                <a:ext cx="8229600" cy="5029068"/>
              </a:xfrm>
              <a:blipFill>
                <a:blip r:embed="rId2"/>
                <a:stretch>
                  <a:fillRect l="-296" t="-1333"/>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2000" advTm="1420"/>
    </mc:Choice>
    <mc:Fallback xmlns="">
      <p:transition spd="slow" advTm="142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7169">
            <a:extLst>
              <a:ext uri="{FF2B5EF4-FFF2-40B4-BE49-F238E27FC236}">
                <a16:creationId xmlns:a16="http://schemas.microsoft.com/office/drawing/2014/main" id="{55C8E4F5-5E47-451F-A0F6-B21A59B4291F}"/>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虚拟数据中心虚拟机失效容忍算法</a:t>
            </a:r>
          </a:p>
        </p:txBody>
      </p:sp>
      <mc:AlternateContent xmlns:mc="http://schemas.openxmlformats.org/markup-compatibility/2006" xmlns:a14="http://schemas.microsoft.com/office/drawing/2010/main">
        <mc:Choice Requires="a14">
          <p:sp>
            <p:nvSpPr>
              <p:cNvPr id="14339" name="文本占位符 7170">
                <a:extLst>
                  <a:ext uri="{FF2B5EF4-FFF2-40B4-BE49-F238E27FC236}">
                    <a16:creationId xmlns:a16="http://schemas.microsoft.com/office/drawing/2014/main" id="{0CC26AB6-2E77-4B14-9E6F-B9D1F0ACE1F4}"/>
                  </a:ext>
                </a:extLst>
              </p:cNvPr>
              <p:cNvSpPr>
                <a:spLocks noGrp="1" noChangeArrowheads="1"/>
              </p:cNvSpPr>
              <p:nvPr>
                <p:ph type="body" idx="1"/>
              </p:nvPr>
            </p:nvSpPr>
            <p:spPr>
              <a:xfrm>
                <a:off x="457200" y="1143060"/>
                <a:ext cx="8229600" cy="4932293"/>
              </a:xfrm>
            </p:spPr>
            <p:txBody>
              <a:bodyPr/>
              <a:lstStyle/>
              <a:p>
                <a:pPr eaLnBrk="1" hangingPunct="1"/>
                <a:r>
                  <a:rPr lang="zh-CN" altLang="en-US" sz="2600" dirty="0">
                    <a:ea typeface="宋体" panose="02010600030101010101" pitchFamily="2" charset="-122"/>
                  </a:rPr>
                  <a:t>符号和变量说明</a:t>
                </a:r>
                <a:endParaRPr lang="en-US" altLang="zh-CN" sz="2600" dirty="0">
                  <a:ea typeface="宋体" panose="02010600030101010101" pitchFamily="2" charset="-122"/>
                </a:endParaRPr>
              </a:p>
              <a:p>
                <a:pPr marL="0" indent="0" eaLnBrk="1" hangingPunct="1">
                  <a:buNone/>
                </a:pPr>
                <a14:m>
                  <m:oMath xmlns:m="http://schemas.openxmlformats.org/officeDocument/2006/math">
                    <m:sSubSup>
                      <m:sSubSupPr>
                        <m:ctrlPr>
                          <a:rPr lang="en-US" altLang="zh-CN" sz="2600" i="1" smtClean="0">
                            <a:latin typeface="Cambria Math" panose="02040503050406030204" pitchFamily="18" charset="0"/>
                            <a:ea typeface="宋体" panose="02010600030101010101" pitchFamily="2" charset="-122"/>
                          </a:rPr>
                        </m:ctrlPr>
                      </m:sSubSupPr>
                      <m:e>
                        <m:r>
                          <a:rPr lang="en-US" altLang="zh-CN" sz="2600" b="0" i="1" smtClean="0">
                            <a:latin typeface="Cambria Math" panose="02040503050406030204" pitchFamily="18" charset="0"/>
                            <a:ea typeface="宋体" panose="02010600030101010101" pitchFamily="2" charset="-122"/>
                          </a:rPr>
                          <m:t>𝐿</m:t>
                        </m:r>
                      </m:e>
                      <m:sub>
                        <m:r>
                          <a:rPr lang="en-US" altLang="zh-CN" sz="2600" b="0" i="1" smtClean="0">
                            <a:latin typeface="Cambria Math" panose="02040503050406030204" pitchFamily="18" charset="0"/>
                            <a:ea typeface="宋体" panose="02010600030101010101" pitchFamily="2" charset="-122"/>
                          </a:rPr>
                          <m:t>𝑠</m:t>
                        </m:r>
                      </m:sub>
                      <m:sup>
                        <m:r>
                          <a:rPr lang="en-US" altLang="zh-CN" sz="2600" b="0" i="1" smtClean="0">
                            <a:latin typeface="Cambria Math" panose="02040503050406030204" pitchFamily="18" charset="0"/>
                            <a:ea typeface="宋体" panose="02010600030101010101" pitchFamily="2" charset="-122"/>
                          </a:rPr>
                          <m:t>𝑖𝑗</m:t>
                        </m:r>
                      </m:sup>
                    </m:sSubSup>
                  </m:oMath>
                </a14:m>
                <a:r>
                  <a:rPr lang="zh-CN" altLang="en-US" sz="2600" dirty="0">
                    <a:ea typeface="宋体" panose="02010600030101010101" pitchFamily="2" charset="-122"/>
                  </a:rPr>
                  <a:t> 一条从源服务器</a:t>
                </a:r>
                <a:r>
                  <a:rPr lang="en-US" altLang="zh-CN" sz="2600" dirty="0" err="1">
                    <a:ea typeface="宋体" panose="02010600030101010101" pitchFamily="2" charset="-122"/>
                  </a:rPr>
                  <a:t>i</a:t>
                </a:r>
                <a:r>
                  <a:rPr lang="zh-CN" altLang="en-US" sz="2600" dirty="0">
                    <a:ea typeface="宋体" panose="02010600030101010101" pitchFamily="2" charset="-122"/>
                  </a:rPr>
                  <a:t>到目的服务器</a:t>
                </a:r>
                <a:r>
                  <a:rPr lang="en-US" altLang="zh-CN" sz="2600" dirty="0">
                    <a:ea typeface="宋体" panose="02010600030101010101" pitchFamily="2" charset="-122"/>
                  </a:rPr>
                  <a:t>j</a:t>
                </a:r>
                <a:r>
                  <a:rPr lang="zh-CN" altLang="en-US" sz="2600" dirty="0">
                    <a:ea typeface="宋体" panose="02010600030101010101" pitchFamily="2" charset="-122"/>
                  </a:rPr>
                  <a:t>的物理链路</a:t>
                </a:r>
                <a:endParaRPr lang="en-US" altLang="zh-CN" sz="2600" dirty="0">
                  <a:ea typeface="宋体" panose="02010600030101010101" pitchFamily="2" charset="-122"/>
                </a:endParaRPr>
              </a:p>
              <a:p>
                <a:pPr marL="0" indent="0" eaLnBrk="1" hangingPunct="1">
                  <a:buNone/>
                </a:pPr>
                <a14:m>
                  <m:oMath xmlns:m="http://schemas.openxmlformats.org/officeDocument/2006/math">
                    <m:sSub>
                      <m:sSubPr>
                        <m:ctrlPr>
                          <a:rPr lang="en-US" altLang="zh-CN" sz="2600" i="1" smtClean="0">
                            <a:latin typeface="Cambria Math" panose="02040503050406030204" pitchFamily="18" charset="0"/>
                            <a:ea typeface="宋体" panose="02010600030101010101" pitchFamily="2" charset="-122"/>
                          </a:rPr>
                        </m:ctrlPr>
                      </m:sSubPr>
                      <m:e>
                        <m:r>
                          <a:rPr lang="en-US" altLang="zh-CN" sz="2600" b="0" i="1" smtClean="0">
                            <a:latin typeface="Cambria Math" panose="02040503050406030204" pitchFamily="18" charset="0"/>
                            <a:ea typeface="宋体" panose="02010600030101010101" pitchFamily="2" charset="-122"/>
                          </a:rPr>
                          <m:t>𝑎</m:t>
                        </m:r>
                      </m:e>
                      <m:sub>
                        <m:r>
                          <a:rPr lang="en-US" altLang="zh-CN" sz="2600" b="0" i="1" smtClean="0">
                            <a:latin typeface="Cambria Math" panose="02040503050406030204" pitchFamily="18" charset="0"/>
                            <a:ea typeface="宋体" panose="02010600030101010101" pitchFamily="2" charset="-122"/>
                          </a:rPr>
                          <m:t>𝑢𝑣</m:t>
                        </m:r>
                      </m:sub>
                    </m:sSub>
                  </m:oMath>
                </a14:m>
                <a:r>
                  <a:rPr lang="en-US" altLang="zh-CN" sz="2600" dirty="0">
                    <a:ea typeface="宋体" panose="02010600030101010101" pitchFamily="2" charset="-122"/>
                  </a:rPr>
                  <a:t> </a:t>
                </a:r>
                <a:r>
                  <a:rPr lang="zh-CN" altLang="en-US" sz="2600" dirty="0">
                    <a:ea typeface="宋体" panose="02010600030101010101" pitchFamily="2" charset="-122"/>
                  </a:rPr>
                  <a:t>虚拟链路</a:t>
                </a:r>
                <a14:m>
                  <m:oMath xmlns:m="http://schemas.openxmlformats.org/officeDocument/2006/math">
                    <m:sSubSup>
                      <m:sSubSupPr>
                        <m:ctrlPr>
                          <a:rPr lang="en-US" altLang="zh-CN" sz="2600" i="1">
                            <a:latin typeface="Cambria Math" panose="02040503050406030204" pitchFamily="18" charset="0"/>
                            <a:ea typeface="宋体" panose="02010600030101010101" pitchFamily="2" charset="-122"/>
                          </a:rPr>
                        </m:ctrlPr>
                      </m:sSubSupPr>
                      <m:e>
                        <m:r>
                          <a:rPr lang="en-US" altLang="zh-CN" sz="2600" i="1">
                            <a:latin typeface="Cambria Math" panose="02040503050406030204" pitchFamily="18" charset="0"/>
                            <a:ea typeface="宋体" panose="02010600030101010101" pitchFamily="2" charset="-122"/>
                          </a:rPr>
                          <m:t>𝐿</m:t>
                        </m:r>
                      </m:e>
                      <m:sub>
                        <m:r>
                          <a:rPr lang="en-US" altLang="zh-CN" sz="2600" i="1">
                            <a:latin typeface="Cambria Math" panose="02040503050406030204" pitchFamily="18" charset="0"/>
                            <a:ea typeface="宋体" panose="02010600030101010101" pitchFamily="2" charset="-122"/>
                          </a:rPr>
                          <m:t>𝑣</m:t>
                        </m:r>
                      </m:sub>
                      <m:sup>
                        <m:r>
                          <m:rPr>
                            <m:sty m:val="p"/>
                          </m:rPr>
                          <a:rPr lang="en-US" altLang="zh-CN" sz="2600" i="1">
                            <a:latin typeface="Cambria Math" panose="02040503050406030204" pitchFamily="18" charset="0"/>
                            <a:ea typeface="宋体" panose="02010600030101010101" pitchFamily="2" charset="-122"/>
                          </a:rPr>
                          <m:t>uv</m:t>
                        </m:r>
                      </m:sup>
                    </m:sSubSup>
                  </m:oMath>
                </a14:m>
                <a:r>
                  <a:rPr lang="zh-CN" altLang="en-US" sz="2600" dirty="0">
                    <a:ea typeface="宋体" panose="02010600030101010101" pitchFamily="2" charset="-122"/>
                  </a:rPr>
                  <a:t>的带宽请求</a:t>
                </a:r>
                <a:endParaRPr lang="en-US" altLang="zh-CN" sz="2600" dirty="0">
                  <a:ea typeface="宋体" panose="02010600030101010101" pitchFamily="2" charset="-122"/>
                </a:endParaRPr>
              </a:p>
              <a:p>
                <a:pPr marL="0" indent="0" eaLnBrk="1" hangingPunct="1">
                  <a:buNone/>
                </a:pPr>
                <a14:m>
                  <m:oMath xmlns:m="http://schemas.openxmlformats.org/officeDocument/2006/math">
                    <m:sSub>
                      <m:sSubPr>
                        <m:ctrlPr>
                          <a:rPr lang="en-US" altLang="zh-CN" sz="2600" i="1" smtClean="0">
                            <a:latin typeface="Cambria Math" panose="02040503050406030204" pitchFamily="18" charset="0"/>
                            <a:ea typeface="宋体" panose="02010600030101010101" pitchFamily="2" charset="-122"/>
                          </a:rPr>
                        </m:ctrlPr>
                      </m:sSubPr>
                      <m:e>
                        <m:r>
                          <m:rPr>
                            <m:sty m:val="p"/>
                          </m:rPr>
                          <a:rPr lang="en-US" altLang="zh-CN" sz="2600" i="1">
                            <a:latin typeface="Cambria Math" panose="02040503050406030204" pitchFamily="18" charset="0"/>
                            <a:ea typeface="宋体" panose="02010600030101010101" pitchFamily="2" charset="-122"/>
                          </a:rPr>
                          <m:t>f</m:t>
                        </m:r>
                      </m:e>
                      <m:sub>
                        <m:r>
                          <a:rPr lang="en-US" altLang="zh-CN" sz="2600" b="0" i="1" smtClean="0">
                            <a:latin typeface="Cambria Math" panose="02040503050406030204" pitchFamily="18" charset="0"/>
                            <a:ea typeface="宋体" panose="02010600030101010101" pitchFamily="2" charset="-122"/>
                          </a:rPr>
                          <m:t>𝑢𝑣</m:t>
                        </m:r>
                      </m:sub>
                    </m:sSub>
                    <m:r>
                      <a:rPr lang="en-US" altLang="zh-CN" sz="2600" b="0" i="1" smtClean="0">
                        <a:latin typeface="Cambria Math" panose="02040503050406030204" pitchFamily="18" charset="0"/>
                        <a:ea typeface="宋体" panose="02010600030101010101" pitchFamily="2" charset="-122"/>
                      </a:rPr>
                      <m:t>[</m:t>
                    </m:r>
                    <m:r>
                      <a:rPr lang="en-US" altLang="zh-CN" sz="2600" b="0" i="1" smtClean="0">
                        <a:latin typeface="Cambria Math" panose="02040503050406030204" pitchFamily="18" charset="0"/>
                        <a:ea typeface="宋体" panose="02010600030101010101" pitchFamily="2" charset="-122"/>
                      </a:rPr>
                      <m:t>𝑖𝑗</m:t>
                    </m:r>
                    <m:r>
                      <a:rPr lang="en-US" altLang="zh-CN" sz="2600" b="0" i="1" smtClean="0">
                        <a:latin typeface="Cambria Math" panose="02040503050406030204" pitchFamily="18" charset="0"/>
                        <a:ea typeface="宋体" panose="02010600030101010101" pitchFamily="2" charset="-122"/>
                      </a:rPr>
                      <m:t>]</m:t>
                    </m:r>
                  </m:oMath>
                </a14:m>
                <a:r>
                  <a:rPr lang="en-US" altLang="zh-CN" sz="2600" dirty="0">
                    <a:ea typeface="宋体" panose="02010600030101010101" pitchFamily="2" charset="-122"/>
                  </a:rPr>
                  <a:t> </a:t>
                </a:r>
                <a:r>
                  <a:rPr lang="zh-CN" altLang="en-US" sz="2600" dirty="0">
                    <a:ea typeface="宋体" panose="02010600030101010101" pitchFamily="2" charset="-122"/>
                  </a:rPr>
                  <a:t>虚拟链路</a:t>
                </a:r>
                <a14:m>
                  <m:oMath xmlns:m="http://schemas.openxmlformats.org/officeDocument/2006/math">
                    <m:sSubSup>
                      <m:sSubSupPr>
                        <m:ctrlPr>
                          <a:rPr lang="en-US" altLang="zh-CN" sz="2600" i="1">
                            <a:latin typeface="Cambria Math" panose="02040503050406030204" pitchFamily="18" charset="0"/>
                            <a:ea typeface="宋体" panose="02010600030101010101" pitchFamily="2" charset="-122"/>
                          </a:rPr>
                        </m:ctrlPr>
                      </m:sSubSupPr>
                      <m:e>
                        <m:r>
                          <a:rPr lang="en-US" altLang="zh-CN" sz="2600" i="1">
                            <a:latin typeface="Cambria Math" panose="02040503050406030204" pitchFamily="18" charset="0"/>
                            <a:ea typeface="宋体" panose="02010600030101010101" pitchFamily="2" charset="-122"/>
                          </a:rPr>
                          <m:t>𝐿</m:t>
                        </m:r>
                      </m:e>
                      <m:sub>
                        <m:r>
                          <a:rPr lang="en-US" altLang="zh-CN" sz="2600" i="1">
                            <a:latin typeface="Cambria Math" panose="02040503050406030204" pitchFamily="18" charset="0"/>
                            <a:ea typeface="宋体" panose="02010600030101010101" pitchFamily="2" charset="-122"/>
                          </a:rPr>
                          <m:t>𝑣</m:t>
                        </m:r>
                      </m:sub>
                      <m:sup>
                        <m:r>
                          <m:rPr>
                            <m:sty m:val="p"/>
                          </m:rPr>
                          <a:rPr lang="en-US" altLang="zh-CN" sz="2600" i="1">
                            <a:latin typeface="Cambria Math" panose="02040503050406030204" pitchFamily="18" charset="0"/>
                            <a:ea typeface="宋体" panose="02010600030101010101" pitchFamily="2" charset="-122"/>
                          </a:rPr>
                          <m:t>uv</m:t>
                        </m:r>
                      </m:sup>
                    </m:sSubSup>
                  </m:oMath>
                </a14:m>
                <a:r>
                  <a:rPr lang="zh-CN" altLang="en-US" sz="2600" dirty="0">
                    <a:ea typeface="宋体" panose="02010600030101010101" pitchFamily="2" charset="-122"/>
                  </a:rPr>
                  <a:t>经过物理链路上</a:t>
                </a:r>
                <a14:m>
                  <m:oMath xmlns:m="http://schemas.openxmlformats.org/officeDocument/2006/math">
                    <m:sSubSup>
                      <m:sSubSupPr>
                        <m:ctrlPr>
                          <a:rPr lang="en-US" altLang="zh-CN" sz="2600" i="1">
                            <a:latin typeface="Cambria Math" panose="02040503050406030204" pitchFamily="18" charset="0"/>
                            <a:ea typeface="宋体" panose="02010600030101010101" pitchFamily="2" charset="-122"/>
                          </a:rPr>
                        </m:ctrlPr>
                      </m:sSubSupPr>
                      <m:e>
                        <m:r>
                          <a:rPr lang="en-US" altLang="zh-CN" sz="2600" i="1">
                            <a:latin typeface="Cambria Math" panose="02040503050406030204" pitchFamily="18" charset="0"/>
                            <a:ea typeface="宋体" panose="02010600030101010101" pitchFamily="2" charset="-122"/>
                          </a:rPr>
                          <m:t>𝐿</m:t>
                        </m:r>
                      </m:e>
                      <m:sub>
                        <m:r>
                          <m:rPr>
                            <m:sty m:val="p"/>
                          </m:rPr>
                          <a:rPr lang="en-US" altLang="zh-CN" sz="2600" i="1" smtClean="0">
                            <a:latin typeface="Cambria Math" panose="02040503050406030204" pitchFamily="18" charset="0"/>
                            <a:ea typeface="宋体" panose="02010600030101010101" pitchFamily="2" charset="-122"/>
                          </a:rPr>
                          <m:t>s</m:t>
                        </m:r>
                      </m:sub>
                      <m:sup>
                        <m:r>
                          <a:rPr lang="en-US" altLang="zh-CN" sz="2600" b="0" i="1" smtClean="0">
                            <a:latin typeface="Cambria Math" panose="02040503050406030204" pitchFamily="18" charset="0"/>
                            <a:ea typeface="宋体" panose="02010600030101010101" pitchFamily="2" charset="-122"/>
                          </a:rPr>
                          <m:t>𝑖𝑗</m:t>
                        </m:r>
                      </m:sup>
                    </m:sSubSup>
                  </m:oMath>
                </a14:m>
                <a:r>
                  <a:rPr lang="zh-CN" altLang="en-US" sz="2600" dirty="0">
                    <a:ea typeface="宋体" panose="02010600030101010101" pitchFamily="2" charset="-122"/>
                  </a:rPr>
                  <a:t>的流量</a:t>
                </a:r>
                <a:endParaRPr lang="en-US" altLang="zh-CN" sz="2600" dirty="0">
                  <a:ea typeface="宋体" panose="02010600030101010101" pitchFamily="2" charset="-122"/>
                </a:endParaRPr>
              </a:p>
              <a:p>
                <a:pPr marL="0" indent="0" eaLnBrk="1" hangingPunct="1">
                  <a:buNone/>
                </a:pPr>
                <a14:m>
                  <m:oMath xmlns:m="http://schemas.openxmlformats.org/officeDocument/2006/math">
                    <m:sSubSup>
                      <m:sSubSupPr>
                        <m:ctrlPr>
                          <a:rPr lang="en-US" altLang="zh-CN" sz="2600" i="1">
                            <a:latin typeface="Cambria Math" panose="02040503050406030204" pitchFamily="18" charset="0"/>
                            <a:ea typeface="宋体" panose="02010600030101010101" pitchFamily="2" charset="-122"/>
                          </a:rPr>
                        </m:ctrlPr>
                      </m:sSubSupPr>
                      <m:e>
                        <m:r>
                          <m:rPr>
                            <m:sty m:val="p"/>
                          </m:rPr>
                          <a:rPr lang="en-US" altLang="zh-CN" sz="2600" i="1">
                            <a:latin typeface="Cambria Math" panose="02040503050406030204" pitchFamily="18" charset="0"/>
                            <a:ea typeface="宋体" panose="02010600030101010101" pitchFamily="2" charset="-122"/>
                          </a:rPr>
                          <m:t>δ</m:t>
                        </m:r>
                      </m:e>
                      <m:sub>
                        <m:r>
                          <a:rPr lang="en-US" altLang="zh-CN" sz="2600" i="1">
                            <a:latin typeface="Cambria Math" panose="02040503050406030204" pitchFamily="18" charset="0"/>
                            <a:ea typeface="宋体" panose="02010600030101010101" pitchFamily="2" charset="-122"/>
                          </a:rPr>
                          <m:t>𝑢</m:t>
                        </m:r>
                      </m:sub>
                      <m:sup>
                        <m:r>
                          <a:rPr lang="en-US" altLang="zh-CN" sz="2600" i="1">
                            <a:latin typeface="Cambria Math" panose="02040503050406030204" pitchFamily="18" charset="0"/>
                            <a:ea typeface="宋体" panose="02010600030101010101" pitchFamily="2" charset="-122"/>
                          </a:rPr>
                          <m:t>0</m:t>
                        </m:r>
                      </m:sup>
                    </m:sSubSup>
                    <m:r>
                      <a:rPr lang="en-US" altLang="zh-CN" sz="2600" b="0" i="1" smtClean="0">
                        <a:latin typeface="Cambria Math" panose="02040503050406030204" pitchFamily="18" charset="0"/>
                        <a:ea typeface="宋体" panose="02010600030101010101" pitchFamily="2" charset="-122"/>
                      </a:rPr>
                      <m:t>[</m:t>
                    </m:r>
                    <m:r>
                      <a:rPr lang="en-US" altLang="zh-CN" sz="2600" b="0" i="1" smtClean="0">
                        <a:latin typeface="Cambria Math" panose="02040503050406030204" pitchFamily="18" charset="0"/>
                        <a:ea typeface="宋体" panose="02010600030101010101" pitchFamily="2" charset="-122"/>
                      </a:rPr>
                      <m:t>𝑖𝑗</m:t>
                    </m:r>
                    <m:r>
                      <a:rPr lang="en-US" altLang="zh-CN" sz="2600" b="0" i="1" smtClean="0">
                        <a:latin typeface="Cambria Math" panose="02040503050406030204" pitchFamily="18" charset="0"/>
                        <a:ea typeface="宋体" panose="02010600030101010101" pitchFamily="2" charset="-122"/>
                      </a:rPr>
                      <m:t>]</m:t>
                    </m:r>
                  </m:oMath>
                </a14:m>
                <a:r>
                  <a:rPr lang="en-US" altLang="zh-CN" sz="2600" dirty="0">
                    <a:ea typeface="宋体" panose="02010600030101010101" pitchFamily="2" charset="-122"/>
                  </a:rPr>
                  <a:t> </a:t>
                </a:r>
                <a:r>
                  <a:rPr lang="zh-CN" altLang="en-US" sz="2600" dirty="0">
                    <a:ea typeface="宋体" panose="02010600030101010101" pitchFamily="2" charset="-122"/>
                  </a:rPr>
                  <a:t>虚拟机</a:t>
                </a:r>
                <a:r>
                  <a:rPr lang="en-US" altLang="zh-CN" sz="2600" dirty="0">
                    <a:ea typeface="宋体" panose="02010600030101010101" pitchFamily="2" charset="-122"/>
                  </a:rPr>
                  <a:t>u</a:t>
                </a:r>
                <a:r>
                  <a:rPr lang="zh-CN" altLang="en-US" sz="2600" dirty="0">
                    <a:ea typeface="宋体" panose="02010600030101010101" pitchFamily="2" charset="-122"/>
                  </a:rPr>
                  <a:t>失效后，物理链路</a:t>
                </a:r>
                <a14:m>
                  <m:oMath xmlns:m="http://schemas.openxmlformats.org/officeDocument/2006/math">
                    <m:sSubSup>
                      <m:sSubSupPr>
                        <m:ctrlPr>
                          <a:rPr lang="en-US" altLang="zh-CN" sz="2600" i="1">
                            <a:latin typeface="Cambria Math" panose="02040503050406030204" pitchFamily="18" charset="0"/>
                            <a:ea typeface="宋体" panose="02010600030101010101" pitchFamily="2" charset="-122"/>
                          </a:rPr>
                        </m:ctrlPr>
                      </m:sSubSupPr>
                      <m:e>
                        <m:r>
                          <a:rPr lang="en-US" altLang="zh-CN" sz="2600" i="1">
                            <a:latin typeface="Cambria Math" panose="02040503050406030204" pitchFamily="18" charset="0"/>
                            <a:ea typeface="宋体" panose="02010600030101010101" pitchFamily="2" charset="-122"/>
                          </a:rPr>
                          <m:t>𝐿</m:t>
                        </m:r>
                      </m:e>
                      <m:sub>
                        <m:r>
                          <a:rPr lang="en-US" altLang="zh-CN" sz="2600" i="1">
                            <a:latin typeface="Cambria Math" panose="02040503050406030204" pitchFamily="18" charset="0"/>
                            <a:ea typeface="宋体" panose="02010600030101010101" pitchFamily="2" charset="-122"/>
                          </a:rPr>
                          <m:t>𝑠</m:t>
                        </m:r>
                      </m:sub>
                      <m:sup>
                        <m:r>
                          <a:rPr lang="en-US" altLang="zh-CN" sz="2600" i="1">
                            <a:latin typeface="Cambria Math" panose="02040503050406030204" pitchFamily="18" charset="0"/>
                            <a:ea typeface="宋体" panose="02010600030101010101" pitchFamily="2" charset="-122"/>
                          </a:rPr>
                          <m:t>𝑖𝑗</m:t>
                        </m:r>
                      </m:sup>
                    </m:sSubSup>
                  </m:oMath>
                </a14:m>
                <a:r>
                  <a:rPr lang="zh-CN" altLang="en-US" sz="2600" dirty="0">
                    <a:ea typeface="宋体" panose="02010600030101010101" pitchFamily="2" charset="-122"/>
                  </a:rPr>
                  <a:t>上所能提供备份共享资源总量</a:t>
                </a:r>
                <a:endParaRPr lang="en-US" altLang="zh-CN" sz="2600" dirty="0">
                  <a:ea typeface="宋体" panose="02010600030101010101" pitchFamily="2" charset="-122"/>
                </a:endParaRPr>
              </a:p>
              <a:p>
                <a:pPr marL="0" indent="0" eaLnBrk="1" hangingPunct="1">
                  <a:buNone/>
                </a:pPr>
                <a14:m>
                  <m:oMath xmlns:m="http://schemas.openxmlformats.org/officeDocument/2006/math">
                    <m:nary>
                      <m:naryPr>
                        <m:chr m:val="∑"/>
                        <m:supHide m:val="on"/>
                        <m:ctrlPr>
                          <a:rPr lang="en-US" altLang="zh-CN" sz="2600" i="1" smtClean="0">
                            <a:latin typeface="Cambria Math" panose="02040503050406030204" pitchFamily="18" charset="0"/>
                            <a:ea typeface="宋体" panose="02010600030101010101" pitchFamily="2" charset="-122"/>
                          </a:rPr>
                        </m:ctrlPr>
                      </m:naryPr>
                      <m:sub>
                        <m:r>
                          <m:rPr>
                            <m:sty m:val="p"/>
                            <m:brk m:alnAt="7"/>
                          </m:rPr>
                          <a:rPr lang="en-US" altLang="zh-CN" sz="2600" i="1">
                            <a:latin typeface="Cambria Math" panose="02040503050406030204" pitchFamily="18" charset="0"/>
                            <a:ea typeface="宋体" panose="02010600030101010101" pitchFamily="2" charset="-122"/>
                          </a:rPr>
                          <m:t>v</m:t>
                        </m:r>
                        <m:r>
                          <a:rPr lang="zh-CN" altLang="en-US" sz="2600" i="1" smtClean="0">
                            <a:latin typeface="Cambria Math" panose="02040503050406030204" pitchFamily="18" charset="0"/>
                            <a:ea typeface="宋体" panose="02010600030101010101" pitchFamily="2" charset="-122"/>
                          </a:rPr>
                          <m:t>∈</m:t>
                        </m:r>
                        <m:r>
                          <a:rPr lang="en-US" altLang="zh-CN" sz="2600" b="0" i="1" smtClean="0">
                            <a:latin typeface="Cambria Math" panose="02040503050406030204" pitchFamily="18" charset="0"/>
                            <a:ea typeface="宋体" panose="02010600030101010101" pitchFamily="2" charset="-122"/>
                          </a:rPr>
                          <m:t>𝑎𝑑𝑗𝑢</m:t>
                        </m:r>
                      </m:sub>
                      <m:sup/>
                      <m:e>
                        <m:sSub>
                          <m:sSubPr>
                            <m:ctrlPr>
                              <a:rPr lang="en-US" altLang="zh-CN" sz="2600" i="1">
                                <a:latin typeface="Cambria Math" panose="02040503050406030204" pitchFamily="18" charset="0"/>
                                <a:ea typeface="宋体" panose="02010600030101010101" pitchFamily="2" charset="-122"/>
                              </a:rPr>
                            </m:ctrlPr>
                          </m:sSubPr>
                          <m:e>
                            <m:r>
                              <m:rPr>
                                <m:sty m:val="p"/>
                              </m:rPr>
                              <a:rPr lang="en-US" altLang="zh-CN" sz="2600" i="1">
                                <a:latin typeface="Cambria Math" panose="02040503050406030204" pitchFamily="18" charset="0"/>
                                <a:ea typeface="宋体" panose="02010600030101010101" pitchFamily="2" charset="-122"/>
                              </a:rPr>
                              <m:t>f</m:t>
                            </m:r>
                          </m:e>
                          <m:sub>
                            <m:r>
                              <a:rPr lang="en-US" altLang="zh-CN" sz="2600" i="1">
                                <a:latin typeface="Cambria Math" panose="02040503050406030204" pitchFamily="18" charset="0"/>
                                <a:ea typeface="宋体" panose="02010600030101010101" pitchFamily="2" charset="-122"/>
                              </a:rPr>
                              <m:t>𝑢𝑣</m:t>
                            </m:r>
                          </m:sub>
                        </m:sSub>
                        <m:r>
                          <a:rPr lang="en-US" altLang="zh-CN" sz="2600" b="0" i="1" smtClean="0">
                            <a:latin typeface="Cambria Math" panose="02040503050406030204" pitchFamily="18" charset="0"/>
                            <a:ea typeface="宋体" panose="02010600030101010101" pitchFamily="2" charset="-122"/>
                          </a:rPr>
                          <m:t>[</m:t>
                        </m:r>
                        <m:r>
                          <a:rPr lang="en-US" altLang="zh-CN" sz="2600" b="0" i="1" smtClean="0">
                            <a:latin typeface="Cambria Math" panose="02040503050406030204" pitchFamily="18" charset="0"/>
                            <a:ea typeface="宋体" panose="02010600030101010101" pitchFamily="2" charset="-122"/>
                          </a:rPr>
                          <m:t>𝑖𝑗</m:t>
                        </m:r>
                        <m:r>
                          <a:rPr lang="en-US" altLang="zh-CN" sz="2600" b="0" i="1" smtClean="0">
                            <a:latin typeface="Cambria Math" panose="02040503050406030204" pitchFamily="18" charset="0"/>
                            <a:ea typeface="宋体" panose="02010600030101010101" pitchFamily="2" charset="-122"/>
                          </a:rPr>
                          <m:t>]</m:t>
                        </m:r>
                      </m:e>
                    </m:nary>
                  </m:oMath>
                </a14:m>
                <a:r>
                  <a:rPr lang="en-US" altLang="zh-CN" sz="2600" dirty="0">
                    <a:ea typeface="宋体" panose="02010600030101010101" pitchFamily="2" charset="-122"/>
                  </a:rPr>
                  <a:t> </a:t>
                </a:r>
                <a:r>
                  <a:rPr lang="zh-CN" altLang="en-US" sz="2600" dirty="0">
                    <a:ea typeface="宋体" panose="02010600030101010101" pitchFamily="2" charset="-122"/>
                  </a:rPr>
                  <a:t>经过物理链路</a:t>
                </a:r>
                <a14:m>
                  <m:oMath xmlns:m="http://schemas.openxmlformats.org/officeDocument/2006/math">
                    <m:sSubSup>
                      <m:sSubSupPr>
                        <m:ctrlPr>
                          <a:rPr lang="en-US" altLang="zh-CN" sz="2600" i="1">
                            <a:latin typeface="Cambria Math" panose="02040503050406030204" pitchFamily="18" charset="0"/>
                            <a:ea typeface="宋体" panose="02010600030101010101" pitchFamily="2" charset="-122"/>
                          </a:rPr>
                        </m:ctrlPr>
                      </m:sSubSupPr>
                      <m:e>
                        <m:r>
                          <a:rPr lang="en-US" altLang="zh-CN" sz="2600" i="1">
                            <a:latin typeface="Cambria Math" panose="02040503050406030204" pitchFamily="18" charset="0"/>
                            <a:ea typeface="宋体" panose="02010600030101010101" pitchFamily="2" charset="-122"/>
                          </a:rPr>
                          <m:t>𝐿</m:t>
                        </m:r>
                      </m:e>
                      <m:sub>
                        <m:r>
                          <a:rPr lang="en-US" altLang="zh-CN" sz="2600" i="1">
                            <a:latin typeface="Cambria Math" panose="02040503050406030204" pitchFamily="18" charset="0"/>
                            <a:ea typeface="宋体" panose="02010600030101010101" pitchFamily="2" charset="-122"/>
                          </a:rPr>
                          <m:t>𝑠</m:t>
                        </m:r>
                      </m:sub>
                      <m:sup>
                        <m:r>
                          <a:rPr lang="en-US" altLang="zh-CN" sz="2600" i="1">
                            <a:latin typeface="Cambria Math" panose="02040503050406030204" pitchFamily="18" charset="0"/>
                            <a:ea typeface="宋体" panose="02010600030101010101" pitchFamily="2" charset="-122"/>
                          </a:rPr>
                          <m:t>𝑖𝑗</m:t>
                        </m:r>
                      </m:sup>
                    </m:sSubSup>
                  </m:oMath>
                </a14:m>
                <a:r>
                  <a:rPr lang="zh-CN" altLang="en-US" sz="2600" dirty="0">
                    <a:ea typeface="宋体" panose="02010600030101010101" pitchFamily="2" charset="-122"/>
                  </a:rPr>
                  <a:t>的所有与虚拟机</a:t>
                </a:r>
                <a:r>
                  <a:rPr lang="en-US" altLang="zh-CN" sz="2600" dirty="0">
                    <a:ea typeface="宋体" panose="02010600030101010101" pitchFamily="2" charset="-122"/>
                  </a:rPr>
                  <a:t>u</a:t>
                </a:r>
                <a:r>
                  <a:rPr lang="zh-CN" altLang="en-US" sz="2600" dirty="0">
                    <a:ea typeface="宋体" panose="02010600030101010101" pitchFamily="2" charset="-122"/>
                  </a:rPr>
                  <a:t>相邻的虚拟链路的流量总和</a:t>
                </a:r>
                <a:endParaRPr lang="en-US" altLang="zh-CN" sz="2600" dirty="0">
                  <a:ea typeface="宋体" panose="02010600030101010101" pitchFamily="2" charset="-122"/>
                </a:endParaRPr>
              </a:p>
              <a:p>
                <a:pPr marL="0" indent="0" eaLnBrk="1" hangingPunct="1">
                  <a:buNone/>
                </a:pPr>
                <a14:m>
                  <m:oMath xmlns:m="http://schemas.openxmlformats.org/officeDocument/2006/math">
                    <m:sSubSup>
                      <m:sSubSupPr>
                        <m:ctrlPr>
                          <a:rPr lang="en-US" altLang="zh-CN" sz="2600" i="1" smtClean="0">
                            <a:latin typeface="Cambria Math" panose="02040503050406030204" pitchFamily="18" charset="0"/>
                            <a:ea typeface="宋体" panose="02010600030101010101" pitchFamily="2" charset="-122"/>
                          </a:rPr>
                        </m:ctrlPr>
                      </m:sSubSupPr>
                      <m:e>
                        <m:r>
                          <m:rPr>
                            <m:sty m:val="p"/>
                          </m:rPr>
                          <a:rPr lang="en-US" altLang="zh-CN" sz="2600" i="1">
                            <a:latin typeface="Cambria Math" panose="02040503050406030204" pitchFamily="18" charset="0"/>
                            <a:ea typeface="宋体" panose="02010600030101010101" pitchFamily="2" charset="-122"/>
                          </a:rPr>
                          <m:t>δ</m:t>
                        </m:r>
                      </m:e>
                      <m:sub>
                        <m:r>
                          <a:rPr lang="en-US" altLang="zh-CN" sz="2600" i="1">
                            <a:latin typeface="Cambria Math" panose="02040503050406030204" pitchFamily="18" charset="0"/>
                            <a:ea typeface="宋体" panose="02010600030101010101" pitchFamily="2" charset="-122"/>
                          </a:rPr>
                          <m:t>𝑢</m:t>
                        </m:r>
                      </m:sub>
                      <m:sup>
                        <m:r>
                          <a:rPr lang="en-US" altLang="zh-CN" sz="2600" b="0" i="1" smtClean="0">
                            <a:latin typeface="Cambria Math" panose="02040503050406030204" pitchFamily="18" charset="0"/>
                            <a:ea typeface="宋体" panose="02010600030101010101" pitchFamily="2" charset="-122"/>
                          </a:rPr>
                          <m:t>1</m:t>
                        </m:r>
                      </m:sup>
                    </m:sSubSup>
                    <m:r>
                      <a:rPr lang="en-US" altLang="zh-CN" sz="2600" b="0" i="1" smtClean="0">
                        <a:latin typeface="Cambria Math" panose="02040503050406030204" pitchFamily="18" charset="0"/>
                        <a:ea typeface="宋体" panose="02010600030101010101" pitchFamily="2" charset="-122"/>
                      </a:rPr>
                      <m:t>[</m:t>
                    </m:r>
                    <m:r>
                      <a:rPr lang="en-US" altLang="zh-CN" sz="2600" b="0" i="1" smtClean="0">
                        <a:latin typeface="Cambria Math" panose="02040503050406030204" pitchFamily="18" charset="0"/>
                        <a:ea typeface="宋体" panose="02010600030101010101" pitchFamily="2" charset="-122"/>
                      </a:rPr>
                      <m:t>𝑖𝑗</m:t>
                    </m:r>
                    <m:r>
                      <a:rPr lang="en-US" altLang="zh-CN" sz="2600" b="0" i="1" smtClean="0">
                        <a:latin typeface="Cambria Math" panose="02040503050406030204" pitchFamily="18" charset="0"/>
                        <a:ea typeface="宋体" panose="02010600030101010101" pitchFamily="2" charset="-122"/>
                      </a:rPr>
                      <m:t>]=</m:t>
                    </m:r>
                    <m:nary>
                      <m:naryPr>
                        <m:chr m:val="∑"/>
                        <m:supHide m:val="on"/>
                        <m:ctrlPr>
                          <a:rPr lang="en-US" altLang="zh-CN" sz="2600" i="1">
                            <a:latin typeface="Cambria Math" panose="02040503050406030204" pitchFamily="18" charset="0"/>
                            <a:ea typeface="宋体" panose="02010600030101010101" pitchFamily="2" charset="-122"/>
                          </a:rPr>
                        </m:ctrlPr>
                      </m:naryPr>
                      <m:sub>
                        <m:r>
                          <m:rPr>
                            <m:sty m:val="p"/>
                            <m:brk m:alnAt="7"/>
                          </m:rPr>
                          <a:rPr lang="en-US" altLang="zh-CN" sz="2600" i="1">
                            <a:latin typeface="Cambria Math" panose="02040503050406030204" pitchFamily="18" charset="0"/>
                            <a:ea typeface="宋体" panose="02010600030101010101" pitchFamily="2" charset="-122"/>
                          </a:rPr>
                          <m:t>v</m:t>
                        </m:r>
                        <m:r>
                          <a:rPr lang="zh-CN" altLang="en-US" sz="2600" i="1">
                            <a:latin typeface="Cambria Math" panose="02040503050406030204" pitchFamily="18" charset="0"/>
                            <a:ea typeface="宋体" panose="02010600030101010101" pitchFamily="2" charset="-122"/>
                          </a:rPr>
                          <m:t>∈</m:t>
                        </m:r>
                        <m:r>
                          <a:rPr lang="en-US" altLang="zh-CN" sz="2600" i="1">
                            <a:latin typeface="Cambria Math" panose="02040503050406030204" pitchFamily="18" charset="0"/>
                            <a:ea typeface="宋体" panose="02010600030101010101" pitchFamily="2" charset="-122"/>
                          </a:rPr>
                          <m:t>𝑎𝑑𝑗𝑢</m:t>
                        </m:r>
                      </m:sub>
                      <m:sup/>
                      <m:e>
                        <m:sSub>
                          <m:sSubPr>
                            <m:ctrlPr>
                              <a:rPr lang="en-US" altLang="zh-CN" sz="2600" i="1">
                                <a:latin typeface="Cambria Math" panose="02040503050406030204" pitchFamily="18" charset="0"/>
                                <a:ea typeface="宋体" panose="02010600030101010101" pitchFamily="2" charset="-122"/>
                              </a:rPr>
                            </m:ctrlPr>
                          </m:sSubPr>
                          <m:e>
                            <m:r>
                              <m:rPr>
                                <m:sty m:val="p"/>
                              </m:rPr>
                              <a:rPr lang="en-US" altLang="zh-CN" sz="2600" i="1">
                                <a:latin typeface="Cambria Math" panose="02040503050406030204" pitchFamily="18" charset="0"/>
                                <a:ea typeface="宋体" panose="02010600030101010101" pitchFamily="2" charset="-122"/>
                              </a:rPr>
                              <m:t>f</m:t>
                            </m:r>
                          </m:e>
                          <m:sub>
                            <m:r>
                              <a:rPr lang="en-US" altLang="zh-CN" sz="2600" i="1">
                                <a:latin typeface="Cambria Math" panose="02040503050406030204" pitchFamily="18" charset="0"/>
                                <a:ea typeface="宋体" panose="02010600030101010101" pitchFamily="2" charset="-122"/>
                              </a:rPr>
                              <m:t>𝑢𝑣</m:t>
                            </m:r>
                          </m:sub>
                        </m:sSub>
                        <m:r>
                          <a:rPr lang="en-US" altLang="zh-CN" sz="2600" i="1">
                            <a:latin typeface="Cambria Math" panose="02040503050406030204" pitchFamily="18" charset="0"/>
                            <a:ea typeface="宋体" panose="02010600030101010101" pitchFamily="2" charset="-122"/>
                          </a:rPr>
                          <m:t>[</m:t>
                        </m:r>
                        <m:r>
                          <a:rPr lang="en-US" altLang="zh-CN" sz="2600" i="1">
                            <a:latin typeface="Cambria Math" panose="02040503050406030204" pitchFamily="18" charset="0"/>
                            <a:ea typeface="宋体" panose="02010600030101010101" pitchFamily="2" charset="-122"/>
                          </a:rPr>
                          <m:t>𝑖𝑗</m:t>
                        </m:r>
                        <m:r>
                          <a:rPr lang="en-US" altLang="zh-CN" sz="2600" i="1">
                            <a:latin typeface="Cambria Math" panose="02040503050406030204" pitchFamily="18" charset="0"/>
                            <a:ea typeface="宋体" panose="02010600030101010101" pitchFamily="2" charset="-122"/>
                          </a:rPr>
                          <m:t>]</m:t>
                        </m:r>
                      </m:e>
                    </m:nary>
                  </m:oMath>
                </a14:m>
                <a:r>
                  <a:rPr lang="en-US" altLang="zh-CN" sz="2600" dirty="0">
                    <a:ea typeface="宋体" panose="02010600030101010101" pitchFamily="2" charset="-122"/>
                  </a:rPr>
                  <a:t> </a:t>
                </a:r>
                <a:r>
                  <a:rPr lang="zh-CN" altLang="en-US" sz="2600" dirty="0">
                    <a:ea typeface="宋体" panose="02010600030101010101" pitchFamily="2" charset="-122"/>
                  </a:rPr>
                  <a:t>当虚拟机</a:t>
                </a:r>
                <a:r>
                  <a:rPr lang="en-US" altLang="zh-CN" sz="2600" dirty="0">
                    <a:ea typeface="宋体" panose="02010600030101010101" pitchFamily="2" charset="-122"/>
                  </a:rPr>
                  <a:t>u</a:t>
                </a:r>
                <a:r>
                  <a:rPr lang="zh-CN" altLang="en-US" sz="2600" dirty="0">
                    <a:ea typeface="宋体" panose="02010600030101010101" pitchFamily="2" charset="-122"/>
                  </a:rPr>
                  <a:t>失效后，物理链路</a:t>
                </a:r>
                <a14:m>
                  <m:oMath xmlns:m="http://schemas.openxmlformats.org/officeDocument/2006/math">
                    <m:sSubSup>
                      <m:sSubSupPr>
                        <m:ctrlPr>
                          <a:rPr lang="en-US" altLang="zh-CN" sz="2600" i="1">
                            <a:latin typeface="Cambria Math" panose="02040503050406030204" pitchFamily="18" charset="0"/>
                            <a:ea typeface="宋体" panose="02010600030101010101" pitchFamily="2" charset="-122"/>
                          </a:rPr>
                        </m:ctrlPr>
                      </m:sSubSupPr>
                      <m:e>
                        <m:r>
                          <a:rPr lang="en-US" altLang="zh-CN" sz="2600" i="1">
                            <a:latin typeface="Cambria Math" panose="02040503050406030204" pitchFamily="18" charset="0"/>
                            <a:ea typeface="宋体" panose="02010600030101010101" pitchFamily="2" charset="-122"/>
                          </a:rPr>
                          <m:t>𝐿</m:t>
                        </m:r>
                      </m:e>
                      <m:sub>
                        <m:r>
                          <m:rPr>
                            <m:sty m:val="p"/>
                          </m:rPr>
                          <a:rPr lang="en-US" altLang="zh-CN" sz="2600" i="1">
                            <a:latin typeface="Cambria Math" panose="02040503050406030204" pitchFamily="18" charset="0"/>
                            <a:ea typeface="宋体" panose="02010600030101010101" pitchFamily="2" charset="-122"/>
                          </a:rPr>
                          <m:t>s</m:t>
                        </m:r>
                      </m:sub>
                      <m:sup>
                        <m:r>
                          <a:rPr lang="en-US" altLang="zh-CN" sz="2600" i="1">
                            <a:latin typeface="Cambria Math" panose="02040503050406030204" pitchFamily="18" charset="0"/>
                            <a:ea typeface="宋体" panose="02010600030101010101" pitchFamily="2" charset="-122"/>
                          </a:rPr>
                          <m:t>𝑖𝑗</m:t>
                        </m:r>
                      </m:sup>
                    </m:sSubSup>
                  </m:oMath>
                </a14:m>
                <a:r>
                  <a:rPr lang="zh-CN" altLang="en-US" sz="2600" dirty="0">
                    <a:ea typeface="宋体" panose="02010600030101010101" pitchFamily="2" charset="-122"/>
                  </a:rPr>
                  <a:t>上所能提供的工作路径共享资源总量</a:t>
                </a:r>
                <a:endParaRPr lang="en-US" altLang="zh-CN" sz="2600" dirty="0">
                  <a:ea typeface="宋体" panose="02010600030101010101" pitchFamily="2" charset="-122"/>
                </a:endParaRPr>
              </a:p>
              <a:p>
                <a:pPr marL="0" indent="0" eaLnBrk="1" hangingPunct="1">
                  <a:buNone/>
                </a:pPr>
                <a:endParaRPr lang="en-US" altLang="zh-CN" sz="2600" dirty="0">
                  <a:ea typeface="宋体" panose="02010600030101010101" pitchFamily="2" charset="-122"/>
                </a:endParaRPr>
              </a:p>
            </p:txBody>
          </p:sp>
        </mc:Choice>
        <mc:Fallback xmlns="">
          <p:sp>
            <p:nvSpPr>
              <p:cNvPr id="14339" name="文本占位符 7170">
                <a:extLst>
                  <a:ext uri="{FF2B5EF4-FFF2-40B4-BE49-F238E27FC236}">
                    <a16:creationId xmlns:a16="http://schemas.microsoft.com/office/drawing/2014/main" id="{0CC26AB6-2E77-4B14-9E6F-B9D1F0ACE1F4}"/>
                  </a:ext>
                </a:extLst>
              </p:cNvPr>
              <p:cNvSpPr>
                <a:spLocks noGrp="1" noRot="1" noChangeAspect="1" noMove="1" noResize="1" noEditPoints="1" noAdjustHandles="1" noChangeArrowheads="1" noChangeShapeType="1" noTextEdit="1"/>
              </p:cNvSpPr>
              <p:nvPr>
                <p:ph type="body" idx="1"/>
              </p:nvPr>
            </p:nvSpPr>
            <p:spPr>
              <a:xfrm>
                <a:off x="457200" y="1143060"/>
                <a:ext cx="8229600" cy="4932293"/>
              </a:xfrm>
              <a:blipFill>
                <a:blip r:embed="rId2"/>
                <a:stretch>
                  <a:fillRect l="-1333" t="-1483" r="-74" b="-34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47893522"/>
      </p:ext>
    </p:extLst>
  </p:cSld>
  <p:clrMapOvr>
    <a:masterClrMapping/>
  </p:clrMapOvr>
  <mc:AlternateContent xmlns:mc="http://schemas.openxmlformats.org/markup-compatibility/2006" xmlns:p14="http://schemas.microsoft.com/office/powerpoint/2010/main">
    <mc:Choice Requires="p14">
      <p:transition spd="slow" p14:dur="2000" advTm="683"/>
    </mc:Choice>
    <mc:Fallback xmlns="">
      <p:transition spd="slow" advTm="683"/>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7169">
            <a:extLst>
              <a:ext uri="{FF2B5EF4-FFF2-40B4-BE49-F238E27FC236}">
                <a16:creationId xmlns:a16="http://schemas.microsoft.com/office/drawing/2014/main" id="{51620299-867C-44F4-900A-681BD04E84EB}"/>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虚拟数据中心虚拟机失效容忍算法</a:t>
            </a:r>
          </a:p>
        </p:txBody>
      </p:sp>
      <p:sp>
        <p:nvSpPr>
          <p:cNvPr id="15363" name="文本占位符 7170">
            <a:extLst>
              <a:ext uri="{FF2B5EF4-FFF2-40B4-BE49-F238E27FC236}">
                <a16:creationId xmlns:a16="http://schemas.microsoft.com/office/drawing/2014/main" id="{122500FF-F1AD-44A3-8268-993C380FBCAA}"/>
              </a:ext>
            </a:extLst>
          </p:cNvPr>
          <p:cNvSpPr>
            <a:spLocks noGrp="1" noChangeArrowheads="1"/>
          </p:cNvSpPr>
          <p:nvPr>
            <p:ph type="body" idx="1"/>
          </p:nvPr>
        </p:nvSpPr>
        <p:spPr>
          <a:xfrm>
            <a:off x="457200" y="1417638"/>
            <a:ext cx="8229600" cy="4530725"/>
          </a:xfrm>
        </p:spPr>
        <p:txBody>
          <a:bodyPr/>
          <a:lstStyle/>
          <a:p>
            <a:pPr eaLnBrk="1" hangingPunct="1"/>
            <a:r>
              <a:rPr lang="zh-CN" altLang="en-US" sz="2600" dirty="0">
                <a:ea typeface="宋体" panose="02010600030101010101" pitchFamily="2" charset="-122"/>
              </a:rPr>
              <a:t>非生存性虚拟数据中心映射是一个</a:t>
            </a:r>
            <a:r>
              <a:rPr lang="en-US" altLang="zh-CN" sz="2600" dirty="0">
                <a:ea typeface="宋体" panose="02010600030101010101" pitchFamily="2" charset="-122"/>
              </a:rPr>
              <a:t>NP</a:t>
            </a:r>
            <a:r>
              <a:rPr lang="zh-CN" altLang="en-US" sz="2600" dirty="0">
                <a:ea typeface="宋体" panose="02010600030101010101" pitchFamily="2" charset="-122"/>
              </a:rPr>
              <a:t>困难问题。</a:t>
            </a:r>
            <a:endParaRPr lang="en-US" altLang="zh-CN" sz="2600" dirty="0">
              <a:ea typeface="宋体" panose="02010600030101010101" pitchFamily="2" charset="-122"/>
            </a:endParaRPr>
          </a:p>
          <a:p>
            <a:pPr eaLnBrk="1" hangingPunct="1"/>
            <a:r>
              <a:rPr lang="zh-CN" altLang="en-US" sz="2600" dirty="0">
                <a:ea typeface="宋体" panose="02010600030101010101" pitchFamily="2" charset="-122"/>
              </a:rPr>
              <a:t>如果考虑生存性，则问题会更加复杂。</a:t>
            </a:r>
            <a:endParaRPr lang="en-US" altLang="zh-CN" sz="2600" dirty="0">
              <a:ea typeface="宋体" panose="02010600030101010101" pitchFamily="2" charset="-122"/>
            </a:endParaRPr>
          </a:p>
          <a:p>
            <a:pPr eaLnBrk="1" hangingPunct="1"/>
            <a:r>
              <a:rPr lang="zh-CN" altLang="en-US" sz="2600" dirty="0">
                <a:ea typeface="宋体" panose="02010600030101010101" pitchFamily="2" charset="-122"/>
              </a:rPr>
              <a:t>对于这样的问题，可采用启发式算法找到问题的近似最优解而非全局最优解。</a:t>
            </a:r>
            <a:endParaRPr lang="en-US" altLang="zh-CN" sz="2600" dirty="0">
              <a:ea typeface="宋体" panose="02010600030101010101" pitchFamily="2" charset="-122"/>
            </a:endParaRPr>
          </a:p>
          <a:p>
            <a:pPr eaLnBrk="1" hangingPunct="1"/>
            <a:r>
              <a:rPr lang="zh-CN" altLang="en-US" sz="2600" dirty="0">
                <a:ea typeface="宋体" panose="02010600030101010101" pitchFamily="2" charset="-122"/>
              </a:rPr>
              <a:t>启发式算法的核心是将增强型虚拟数据中心的工作虚拟机（将原始拓扑中的虚拟机称为工作虚拟机）和备份虚拟机分别进行映射。即先映射工作虚拟机，再处理备份虚拟机的映射。</a:t>
            </a:r>
            <a:endParaRPr lang="en-US" altLang="zh-CN" sz="2600" dirty="0">
              <a:ea typeface="宋体" panose="02010600030101010101" pitchFamily="2" charset="-122"/>
            </a:endParaRPr>
          </a:p>
          <a:p>
            <a:pPr eaLnBrk="1" hangingPunct="1"/>
            <a:r>
              <a:rPr lang="zh-CN" altLang="en-US" sz="2600" dirty="0">
                <a:ea typeface="宋体" panose="02010600030101010101" pitchFamily="2" charset="-122"/>
              </a:rPr>
              <a:t>在映射过程中，要预估它对其邻接虚拟机的影响及它邻接链路的开销，尽量使映射达到整体最优。</a:t>
            </a:r>
            <a:endParaRPr lang="en-US" altLang="zh-CN" sz="2600" dirty="0">
              <a:ea typeface="宋体" panose="02010600030101010101" pitchFamily="2" charset="-122"/>
            </a:endParaRPr>
          </a:p>
        </p:txBody>
      </p:sp>
    </p:spTree>
    <p:extLst>
      <p:ext uri="{BB962C8B-B14F-4D97-AF65-F5344CB8AC3E}">
        <p14:creationId xmlns:p14="http://schemas.microsoft.com/office/powerpoint/2010/main" val="4047738841"/>
      </p:ext>
    </p:extLst>
  </p:cSld>
  <p:clrMapOvr>
    <a:masterClrMapping/>
  </p:clrMapOvr>
  <mc:AlternateContent xmlns:mc="http://schemas.openxmlformats.org/markup-compatibility/2006" xmlns:p14="http://schemas.microsoft.com/office/powerpoint/2010/main">
    <mc:Choice Requires="p14">
      <p:transition spd="slow" p14:dur="2000" advTm="46363"/>
    </mc:Choice>
    <mc:Fallback xmlns="">
      <p:transition spd="slow" advTm="46363"/>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7169">
            <a:extLst>
              <a:ext uri="{FF2B5EF4-FFF2-40B4-BE49-F238E27FC236}">
                <a16:creationId xmlns:a16="http://schemas.microsoft.com/office/drawing/2014/main" id="{51620299-867C-44F4-900A-681BD04E84EB}"/>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虚拟数据中心虚拟机失效容忍算法</a:t>
            </a:r>
          </a:p>
        </p:txBody>
      </p:sp>
      <p:sp>
        <p:nvSpPr>
          <p:cNvPr id="15363" name="文本占位符 7170">
            <a:extLst>
              <a:ext uri="{FF2B5EF4-FFF2-40B4-BE49-F238E27FC236}">
                <a16:creationId xmlns:a16="http://schemas.microsoft.com/office/drawing/2014/main" id="{122500FF-F1AD-44A3-8268-993C380FBCAA}"/>
              </a:ext>
            </a:extLst>
          </p:cNvPr>
          <p:cNvSpPr>
            <a:spLocks noGrp="1" noChangeArrowheads="1"/>
          </p:cNvSpPr>
          <p:nvPr>
            <p:ph type="body" idx="1"/>
          </p:nvPr>
        </p:nvSpPr>
        <p:spPr/>
        <p:txBody>
          <a:bodyPr/>
          <a:lstStyle/>
          <a:p>
            <a:pPr eaLnBrk="1" hangingPunct="1"/>
            <a:r>
              <a:rPr lang="zh-CN" altLang="en-US" sz="2600" dirty="0">
                <a:ea typeface="宋体" panose="02010600030101010101" pitchFamily="2" charset="-122"/>
              </a:rPr>
              <a:t>单节点冗余算法</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为了能够实现进设置一个冗余虚拟机达到虚拟数据中心的生存性要求，需要遍历所有未经历映射的物理服务器</a:t>
            </a:r>
            <a:r>
              <a:rPr lang="en-US" altLang="zh-CN" sz="2600" dirty="0">
                <a:ea typeface="宋体" panose="02010600030101010101" pitchFamily="2" charset="-122"/>
              </a:rPr>
              <a:t>b</a:t>
            </a:r>
            <a:r>
              <a:rPr lang="zh-CN" altLang="en-US" sz="2600" dirty="0">
                <a:ea typeface="宋体" panose="02010600030101010101" pitchFamily="2" charset="-122"/>
              </a:rPr>
              <a:t>，使得映射的开销最小并且资源量能满足生存性要求。</a:t>
            </a:r>
            <a:endParaRPr lang="en-US" altLang="zh-CN" sz="2600" dirty="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46363"/>
    </mc:Choice>
    <mc:Fallback xmlns="">
      <p:transition spd="slow" advTm="46363"/>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7169">
            <a:extLst>
              <a:ext uri="{FF2B5EF4-FFF2-40B4-BE49-F238E27FC236}">
                <a16:creationId xmlns:a16="http://schemas.microsoft.com/office/drawing/2014/main" id="{A92E4ABA-B0E4-43AE-911D-B6C02ACD0F48}"/>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虚拟数据中心虚拟机失效容忍算法</a:t>
            </a:r>
          </a:p>
        </p:txBody>
      </p:sp>
      <p:sp>
        <p:nvSpPr>
          <p:cNvPr id="16387" name="文本占位符 7170">
            <a:extLst>
              <a:ext uri="{FF2B5EF4-FFF2-40B4-BE49-F238E27FC236}">
                <a16:creationId xmlns:a16="http://schemas.microsoft.com/office/drawing/2014/main" id="{AEC45010-9E01-4138-A60F-C624CF6B9F7C}"/>
              </a:ext>
            </a:extLst>
          </p:cNvPr>
          <p:cNvSpPr>
            <a:spLocks noGrp="1" noChangeArrowheads="1"/>
          </p:cNvSpPr>
          <p:nvPr>
            <p:ph type="body" idx="1"/>
          </p:nvPr>
        </p:nvSpPr>
        <p:spPr>
          <a:xfrm>
            <a:off x="457200" y="1219258"/>
            <a:ext cx="8229600" cy="4678292"/>
          </a:xfrm>
        </p:spPr>
        <p:txBody>
          <a:bodyPr/>
          <a:lstStyle/>
          <a:p>
            <a:pPr eaLnBrk="1" hangingPunct="1"/>
            <a:r>
              <a:rPr lang="zh-CN" altLang="en-US" sz="2600" dirty="0">
                <a:ea typeface="宋体" panose="02010600030101010101" pitchFamily="2" charset="-122"/>
              </a:rPr>
              <a:t>单节点冗余算法</a:t>
            </a:r>
            <a:endParaRPr lang="en-US" altLang="zh-CN" sz="2600" dirty="0">
              <a:ea typeface="宋体" panose="02010600030101010101" pitchFamily="2" charset="-122"/>
            </a:endParaRPr>
          </a:p>
        </p:txBody>
      </p:sp>
      <p:pic>
        <p:nvPicPr>
          <p:cNvPr id="3" name="图片 2">
            <a:extLst>
              <a:ext uri="{FF2B5EF4-FFF2-40B4-BE49-F238E27FC236}">
                <a16:creationId xmlns:a16="http://schemas.microsoft.com/office/drawing/2014/main" id="{812DAF70-7FF1-4CD5-BF00-9231935309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951" y="1676446"/>
            <a:ext cx="8458098" cy="4685308"/>
          </a:xfrm>
          <a:prstGeom prst="rect">
            <a:avLst/>
          </a:prstGeom>
        </p:spPr>
      </p:pic>
    </p:spTree>
    <p:extLst>
      <p:ext uri="{BB962C8B-B14F-4D97-AF65-F5344CB8AC3E}">
        <p14:creationId xmlns:p14="http://schemas.microsoft.com/office/powerpoint/2010/main" val="375998336"/>
      </p:ext>
    </p:extLst>
  </p:cSld>
  <p:clrMapOvr>
    <a:masterClrMapping/>
  </p:clrMapOvr>
  <mc:AlternateContent xmlns:mc="http://schemas.openxmlformats.org/markup-compatibility/2006" xmlns:p14="http://schemas.microsoft.com/office/powerpoint/2010/main">
    <mc:Choice Requires="p14">
      <p:transition spd="slow" p14:dur="2000" advTm="179192"/>
    </mc:Choice>
    <mc:Fallback xmlns="">
      <p:transition spd="slow" advTm="179192"/>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7169">
            <a:extLst>
              <a:ext uri="{FF2B5EF4-FFF2-40B4-BE49-F238E27FC236}">
                <a16:creationId xmlns:a16="http://schemas.microsoft.com/office/drawing/2014/main" id="{51620299-867C-44F4-900A-681BD04E84EB}"/>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虚拟数据中心虚拟机失效容忍算法</a:t>
            </a:r>
          </a:p>
        </p:txBody>
      </p:sp>
      <p:sp>
        <p:nvSpPr>
          <p:cNvPr id="15363" name="文本占位符 7170">
            <a:extLst>
              <a:ext uri="{FF2B5EF4-FFF2-40B4-BE49-F238E27FC236}">
                <a16:creationId xmlns:a16="http://schemas.microsoft.com/office/drawing/2014/main" id="{122500FF-F1AD-44A3-8268-993C380FBCAA}"/>
              </a:ext>
            </a:extLst>
          </p:cNvPr>
          <p:cNvSpPr>
            <a:spLocks noGrp="1" noChangeArrowheads="1"/>
          </p:cNvSpPr>
          <p:nvPr>
            <p:ph type="body" idx="1"/>
          </p:nvPr>
        </p:nvSpPr>
        <p:spPr/>
        <p:txBody>
          <a:bodyPr/>
          <a:lstStyle/>
          <a:p>
            <a:pPr eaLnBrk="1" hangingPunct="1"/>
            <a:r>
              <a:rPr lang="zh-CN" altLang="en-US" sz="2600" dirty="0">
                <a:ea typeface="宋体" panose="02010600030101010101" pitchFamily="2" charset="-122"/>
              </a:rPr>
              <a:t>单节点冗余算法</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整个算法最核心的步骤是权重设置，因为单节点冗余策略的备份链路不是在虚拟机</a:t>
            </a:r>
            <a:r>
              <a:rPr lang="en-US" altLang="zh-CN" sz="2600" dirty="0">
                <a:ea typeface="宋体" panose="02010600030101010101" pitchFamily="2" charset="-122"/>
              </a:rPr>
              <a:t>u</a:t>
            </a:r>
            <a:r>
              <a:rPr lang="zh-CN" altLang="en-US" sz="2600" dirty="0">
                <a:ea typeface="宋体" panose="02010600030101010101" pitchFamily="2" charset="-122"/>
              </a:rPr>
              <a:t>失效时使用，而是在虚拟机</a:t>
            </a:r>
            <a:r>
              <a:rPr lang="en-US" altLang="zh-CN" sz="2600" dirty="0">
                <a:ea typeface="宋体" panose="02010600030101010101" pitchFamily="2" charset="-122"/>
              </a:rPr>
              <a:t>u</a:t>
            </a:r>
            <a:r>
              <a:rPr lang="zh-CN" altLang="en-US" sz="2600" dirty="0">
                <a:ea typeface="宋体" panose="02010600030101010101" pitchFamily="2" charset="-122"/>
              </a:rPr>
              <a:t>的邻接虚拟机失效时使用。</a:t>
            </a:r>
            <a:endParaRPr lang="en-US" altLang="zh-CN" sz="2600" dirty="0">
              <a:ea typeface="宋体" panose="02010600030101010101" pitchFamily="2" charset="-122"/>
            </a:endParaRPr>
          </a:p>
        </p:txBody>
      </p:sp>
    </p:spTree>
    <p:extLst>
      <p:ext uri="{BB962C8B-B14F-4D97-AF65-F5344CB8AC3E}">
        <p14:creationId xmlns:p14="http://schemas.microsoft.com/office/powerpoint/2010/main" val="1162860422"/>
      </p:ext>
    </p:extLst>
  </p:cSld>
  <p:clrMapOvr>
    <a:masterClrMapping/>
  </p:clrMapOvr>
  <mc:AlternateContent xmlns:mc="http://schemas.openxmlformats.org/markup-compatibility/2006" xmlns:p14="http://schemas.microsoft.com/office/powerpoint/2010/main">
    <mc:Choice Requires="p14">
      <p:transition spd="slow" p14:dur="2000" advTm="46363"/>
    </mc:Choice>
    <mc:Fallback xmlns="">
      <p:transition spd="slow" advTm="46363"/>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7169">
            <a:extLst>
              <a:ext uri="{FF2B5EF4-FFF2-40B4-BE49-F238E27FC236}">
                <a16:creationId xmlns:a16="http://schemas.microsoft.com/office/drawing/2014/main" id="{A92E4ABA-B0E4-43AE-911D-B6C02ACD0F48}"/>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虚拟数据中心虚拟机失效容忍算法</a:t>
            </a:r>
          </a:p>
        </p:txBody>
      </p:sp>
      <p:sp>
        <p:nvSpPr>
          <p:cNvPr id="16387" name="文本占位符 7170">
            <a:extLst>
              <a:ext uri="{FF2B5EF4-FFF2-40B4-BE49-F238E27FC236}">
                <a16:creationId xmlns:a16="http://schemas.microsoft.com/office/drawing/2014/main" id="{AEC45010-9E01-4138-A60F-C624CF6B9F7C}"/>
              </a:ext>
            </a:extLst>
          </p:cNvPr>
          <p:cNvSpPr>
            <a:spLocks noGrp="1" noChangeArrowheads="1"/>
          </p:cNvSpPr>
          <p:nvPr>
            <p:ph type="body" idx="1"/>
          </p:nvPr>
        </p:nvSpPr>
        <p:spPr>
          <a:xfrm>
            <a:off x="457200" y="1295456"/>
            <a:ext cx="8229600" cy="4678292"/>
          </a:xfrm>
        </p:spPr>
        <p:txBody>
          <a:bodyPr/>
          <a:lstStyle/>
          <a:p>
            <a:pPr eaLnBrk="1" hangingPunct="1"/>
            <a:r>
              <a:rPr lang="en-US" altLang="zh-CN" sz="2600" dirty="0">
                <a:ea typeface="宋体" panose="02010600030101010101" pitchFamily="2" charset="-122"/>
              </a:rPr>
              <a:t>K</a:t>
            </a:r>
            <a:r>
              <a:rPr lang="zh-CN" altLang="en-US" sz="2600" dirty="0">
                <a:ea typeface="宋体" panose="02010600030101010101" pitchFamily="2" charset="-122"/>
              </a:rPr>
              <a:t>节点冗余算法</a:t>
            </a:r>
            <a:endParaRPr lang="en-US" altLang="zh-CN" sz="2600" dirty="0">
              <a:ea typeface="宋体" panose="02010600030101010101" pitchFamily="2" charset="-122"/>
            </a:endParaRPr>
          </a:p>
          <a:p>
            <a:pPr marL="0" indent="0" eaLnBrk="1" hangingPunct="1">
              <a:buNone/>
            </a:pPr>
            <a:r>
              <a:rPr lang="en-US" altLang="zh-CN" sz="2600" dirty="0">
                <a:ea typeface="宋体" panose="02010600030101010101" pitchFamily="2" charset="-122"/>
              </a:rPr>
              <a:t>K</a:t>
            </a:r>
            <a:r>
              <a:rPr lang="zh-CN" altLang="en-US" sz="2600" dirty="0">
                <a:ea typeface="宋体" panose="02010600030101010101" pitchFamily="2" charset="-122"/>
              </a:rPr>
              <a:t>节点冗余算法和单节点冗余算法思想上比较类似，不同之处在于</a:t>
            </a:r>
            <a:r>
              <a:rPr lang="en-US" altLang="zh-CN" sz="2600" dirty="0">
                <a:ea typeface="宋体" panose="02010600030101010101" pitchFamily="2" charset="-122"/>
              </a:rPr>
              <a:t>K</a:t>
            </a:r>
            <a:r>
              <a:rPr lang="zh-CN" altLang="en-US" sz="2600" dirty="0">
                <a:ea typeface="宋体" panose="02010600030101010101" pitchFamily="2" charset="-122"/>
              </a:rPr>
              <a:t>节点冗余算法为每个虚拟机单独设置一个备份虚拟机。</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这样，每一条备份链路只会在一个特定的虚拟机失效的时候启用，只为一条虚拟链路做备份，而单节点冗余情况下，一条备份链路可能为多条虚拟链路做备份。</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另外，由于</a:t>
            </a:r>
            <a:r>
              <a:rPr lang="en-US" altLang="zh-CN" sz="2600" dirty="0">
                <a:ea typeface="宋体" panose="02010600030101010101" pitchFamily="2" charset="-122"/>
              </a:rPr>
              <a:t>K</a:t>
            </a:r>
            <a:r>
              <a:rPr lang="zh-CN" altLang="en-US" sz="2600" dirty="0">
                <a:ea typeface="宋体" panose="02010600030101010101" pitchFamily="2" charset="-122"/>
              </a:rPr>
              <a:t>节点冗余中多个冗余虚拟机可能发生重叠，存在虚拟机资源共享等情况，映射过程中具体需要多少个物理服务器做备份受算法设计、目标函数制定、底层物理拓扑情况、虚拟数据中心请求等诸多因素影响。</a:t>
            </a:r>
            <a:endParaRPr lang="en-US" altLang="zh-CN" sz="2600" dirty="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43390"/>
    </mc:Choice>
    <mc:Fallback xmlns="">
      <p:transition spd="slow" advTm="4339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7169">
            <a:extLst>
              <a:ext uri="{FF2B5EF4-FFF2-40B4-BE49-F238E27FC236}">
                <a16:creationId xmlns:a16="http://schemas.microsoft.com/office/drawing/2014/main" id="{51620299-867C-44F4-900A-681BD04E84EB}"/>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虚拟数据中心虚拟机失效容忍算法</a:t>
            </a:r>
          </a:p>
        </p:txBody>
      </p:sp>
      <p:sp>
        <p:nvSpPr>
          <p:cNvPr id="15363" name="文本占位符 7170">
            <a:extLst>
              <a:ext uri="{FF2B5EF4-FFF2-40B4-BE49-F238E27FC236}">
                <a16:creationId xmlns:a16="http://schemas.microsoft.com/office/drawing/2014/main" id="{122500FF-F1AD-44A3-8268-993C380FBCAA}"/>
              </a:ext>
            </a:extLst>
          </p:cNvPr>
          <p:cNvSpPr>
            <a:spLocks noGrp="1" noChangeArrowheads="1"/>
          </p:cNvSpPr>
          <p:nvPr>
            <p:ph type="body" idx="1"/>
          </p:nvPr>
        </p:nvSpPr>
        <p:spPr/>
        <p:txBody>
          <a:bodyPr/>
          <a:lstStyle/>
          <a:p>
            <a:pPr eaLnBrk="1" hangingPunct="1"/>
            <a:r>
              <a:rPr lang="en-US" altLang="zh-CN" sz="2600" dirty="0">
                <a:ea typeface="宋体" panose="02010600030101010101" pitchFamily="2" charset="-122"/>
              </a:rPr>
              <a:t>K</a:t>
            </a:r>
            <a:r>
              <a:rPr lang="zh-CN" altLang="en-US" sz="2600" dirty="0">
                <a:ea typeface="宋体" panose="02010600030101010101" pitchFamily="2" charset="-122"/>
              </a:rPr>
              <a:t>节点冗余算法</a:t>
            </a:r>
            <a:endParaRPr lang="en-US" altLang="zh-CN" sz="2600" dirty="0">
              <a:ea typeface="宋体" panose="02010600030101010101" pitchFamily="2" charset="-122"/>
            </a:endParaRPr>
          </a:p>
        </p:txBody>
      </p:sp>
      <p:pic>
        <p:nvPicPr>
          <p:cNvPr id="3" name="图片 2">
            <a:extLst>
              <a:ext uri="{FF2B5EF4-FFF2-40B4-BE49-F238E27FC236}">
                <a16:creationId xmlns:a16="http://schemas.microsoft.com/office/drawing/2014/main" id="{FA6E1566-2D04-49D5-894A-CC49ACA4D4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98" y="2438426"/>
            <a:ext cx="9077603" cy="3268247"/>
          </a:xfrm>
          <a:prstGeom prst="rect">
            <a:avLst/>
          </a:prstGeom>
        </p:spPr>
      </p:pic>
    </p:spTree>
    <p:extLst>
      <p:ext uri="{BB962C8B-B14F-4D97-AF65-F5344CB8AC3E}">
        <p14:creationId xmlns:p14="http://schemas.microsoft.com/office/powerpoint/2010/main" val="1417428694"/>
      </p:ext>
    </p:extLst>
  </p:cSld>
  <p:clrMapOvr>
    <a:masterClrMapping/>
  </p:clrMapOvr>
  <mc:AlternateContent xmlns:mc="http://schemas.openxmlformats.org/markup-compatibility/2006" xmlns:p14="http://schemas.microsoft.com/office/powerpoint/2010/main">
    <mc:Choice Requires="p14">
      <p:transition spd="slow" p14:dur="2000" advTm="50182"/>
    </mc:Choice>
    <mc:Fallback xmlns="">
      <p:transition spd="slow" advTm="50182"/>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7169">
            <a:extLst>
              <a:ext uri="{FF2B5EF4-FFF2-40B4-BE49-F238E27FC236}">
                <a16:creationId xmlns:a16="http://schemas.microsoft.com/office/drawing/2014/main" id="{51620299-867C-44F4-900A-681BD04E84EB}"/>
              </a:ext>
            </a:extLst>
          </p:cNvPr>
          <p:cNvSpPr>
            <a:spLocks noGrp="1" noChangeArrowheads="1"/>
          </p:cNvSpPr>
          <p:nvPr>
            <p:ph type="title"/>
          </p:nvPr>
        </p:nvSpPr>
        <p:spPr/>
        <p:txBody>
          <a:bodyPr/>
          <a:lstStyle/>
          <a:p>
            <a:pPr eaLnBrk="1" hangingPunct="1"/>
            <a:r>
              <a:rPr lang="zh-CN" altLang="en-US">
                <a:ea typeface="宋体" panose="02010600030101010101" pitchFamily="2" charset="-122"/>
              </a:rPr>
              <a:t>虚拟数据中心虚拟机失效容忍算法</a:t>
            </a:r>
          </a:p>
        </p:txBody>
      </p:sp>
      <p:sp>
        <p:nvSpPr>
          <p:cNvPr id="15363" name="文本占位符 7170">
            <a:extLst>
              <a:ext uri="{FF2B5EF4-FFF2-40B4-BE49-F238E27FC236}">
                <a16:creationId xmlns:a16="http://schemas.microsoft.com/office/drawing/2014/main" id="{122500FF-F1AD-44A3-8268-993C380FBCAA}"/>
              </a:ext>
            </a:extLst>
          </p:cNvPr>
          <p:cNvSpPr>
            <a:spLocks noGrp="1" noChangeArrowheads="1"/>
          </p:cNvSpPr>
          <p:nvPr>
            <p:ph type="body" idx="1"/>
          </p:nvPr>
        </p:nvSpPr>
        <p:spPr/>
        <p:txBody>
          <a:bodyPr/>
          <a:lstStyle/>
          <a:p>
            <a:pPr eaLnBrk="1" hangingPunct="1"/>
            <a:r>
              <a:rPr lang="en-US" altLang="zh-CN" sz="2600" dirty="0">
                <a:ea typeface="宋体" panose="02010600030101010101" pitchFamily="2" charset="-122"/>
              </a:rPr>
              <a:t>K</a:t>
            </a:r>
            <a:r>
              <a:rPr lang="zh-CN" altLang="en-US" sz="2600" dirty="0">
                <a:ea typeface="宋体" panose="02010600030101010101" pitchFamily="2" charset="-122"/>
              </a:rPr>
              <a:t>节点冗余算法</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最核心的步骤是</a:t>
            </a:r>
            <a:r>
              <a:rPr lang="en-US" altLang="zh-CN" sz="2600" dirty="0">
                <a:ea typeface="宋体" panose="02010600030101010101" pitchFamily="2" charset="-122"/>
              </a:rPr>
              <a:t>3-1</a:t>
            </a:r>
            <a:r>
              <a:rPr lang="zh-CN" altLang="en-US" sz="2600" dirty="0">
                <a:ea typeface="宋体" panose="02010600030101010101" pitchFamily="2" charset="-122"/>
              </a:rPr>
              <a:t>（遍历所有未被映射的物理节点，找出备份节点</a:t>
            </a:r>
            <a:r>
              <a:rPr lang="en-US" altLang="zh-CN" sz="2600" dirty="0">
                <a:ea typeface="宋体" panose="02010600030101010101" pitchFamily="2" charset="-122"/>
              </a:rPr>
              <a:t>b</a:t>
            </a:r>
            <a:r>
              <a:rPr lang="zh-CN" altLang="en-US" sz="2600" dirty="0">
                <a:ea typeface="宋体" panose="02010600030101010101" pitchFamily="2" charset="-122"/>
              </a:rPr>
              <a:t>映射成本最小的物理节点）。</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映射成本包括计算资源开销和带宽资源开销。</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由于多个备份虚拟机可以同时映射到相同的底层物理服务器上，所以计算资源开销会因为映射位置不同而有所差异。</a:t>
            </a:r>
            <a:endParaRPr lang="en-US" altLang="zh-CN" sz="2600" dirty="0">
              <a:ea typeface="宋体" panose="02010600030101010101" pitchFamily="2" charset="-122"/>
            </a:endParaRPr>
          </a:p>
        </p:txBody>
      </p:sp>
    </p:spTree>
    <p:extLst>
      <p:ext uri="{BB962C8B-B14F-4D97-AF65-F5344CB8AC3E}">
        <p14:creationId xmlns:p14="http://schemas.microsoft.com/office/powerpoint/2010/main" val="3791494204"/>
      </p:ext>
    </p:extLst>
  </p:cSld>
  <p:clrMapOvr>
    <a:masterClrMapping/>
  </p:clrMapOvr>
  <mc:AlternateContent xmlns:mc="http://schemas.openxmlformats.org/markup-compatibility/2006" xmlns:p14="http://schemas.microsoft.com/office/powerpoint/2010/main">
    <mc:Choice Requires="p14">
      <p:transition spd="slow" p14:dur="2000" advTm="50182"/>
    </mc:Choice>
    <mc:Fallback xmlns="">
      <p:transition spd="slow" advTm="50182"/>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7169">
            <a:extLst>
              <a:ext uri="{FF2B5EF4-FFF2-40B4-BE49-F238E27FC236}">
                <a16:creationId xmlns:a16="http://schemas.microsoft.com/office/drawing/2014/main" id="{0E4372C3-D65F-40E9-8DF2-36855ED5C3CF}"/>
              </a:ext>
            </a:extLst>
          </p:cNvPr>
          <p:cNvSpPr>
            <a:spLocks noGrp="1" noChangeArrowheads="1"/>
          </p:cNvSpPr>
          <p:nvPr>
            <p:ph type="title"/>
          </p:nvPr>
        </p:nvSpPr>
        <p:spPr/>
        <p:txBody>
          <a:bodyPr/>
          <a:lstStyle/>
          <a:p>
            <a:pPr eaLnBrk="1" hangingPunct="1"/>
            <a:r>
              <a:rPr lang="zh-CN" altLang="en-US">
                <a:ea typeface="宋体" panose="02010600030101010101" pitchFamily="2" charset="-122"/>
              </a:rPr>
              <a:t>仿真结果与分析</a:t>
            </a:r>
          </a:p>
        </p:txBody>
      </p:sp>
      <p:pic>
        <p:nvPicPr>
          <p:cNvPr id="17412" name="图片 4">
            <a:extLst>
              <a:ext uri="{FF2B5EF4-FFF2-40B4-BE49-F238E27FC236}">
                <a16:creationId xmlns:a16="http://schemas.microsoft.com/office/drawing/2014/main" id="{3B1DCD44-C2C8-46FB-8D1B-FFA92B453F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52" y="3032130"/>
            <a:ext cx="8229552" cy="240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0" name="文本占位符 7170">
            <a:extLst>
              <a:ext uri="{FF2B5EF4-FFF2-40B4-BE49-F238E27FC236}">
                <a16:creationId xmlns:a16="http://schemas.microsoft.com/office/drawing/2014/main" id="{4256BD42-A262-471D-B3E2-A963EDF449E7}"/>
              </a:ext>
            </a:extLst>
          </p:cNvPr>
          <p:cNvSpPr>
            <a:spLocks noGrp="1" noChangeArrowheads="1"/>
          </p:cNvSpPr>
          <p:nvPr>
            <p:ph type="body" idx="1"/>
          </p:nvPr>
        </p:nvSpPr>
        <p:spPr>
          <a:xfrm>
            <a:off x="457152" y="1425584"/>
            <a:ext cx="8229600" cy="4530725"/>
          </a:xfrm>
        </p:spPr>
        <p:txBody>
          <a:bodyPr/>
          <a:lstStyle/>
          <a:p>
            <a:pPr eaLnBrk="1" hangingPunct="1">
              <a:defRPr/>
            </a:pPr>
            <a:r>
              <a:rPr lang="zh-CN" altLang="en-US" sz="2600" dirty="0">
                <a:ea typeface="宋体" panose="02010600030101010101" pitchFamily="2" charset="-122"/>
              </a:rPr>
              <a:t>仿真环境设置</a:t>
            </a:r>
            <a:endParaRPr lang="en-US" altLang="zh-CN" sz="2600" dirty="0">
              <a:ea typeface="宋体" panose="02010600030101010101" pitchFamily="2" charset="-122"/>
            </a:endParaRPr>
          </a:p>
          <a:p>
            <a:pPr marL="0" indent="0" eaLnBrk="1" hangingPunct="1">
              <a:buFont typeface="Wingdings" panose="05000000000000000000" pitchFamily="2" charset="2"/>
              <a:buNone/>
              <a:defRPr/>
            </a:pPr>
            <a:r>
              <a:rPr lang="en-US" altLang="zh-CN" sz="2000" dirty="0">
                <a:ea typeface="宋体" panose="02010600030101010101" pitchFamily="2" charset="-122"/>
              </a:rPr>
              <a:t>    Fat-tree</a:t>
            </a:r>
            <a:r>
              <a:rPr lang="zh-CN" altLang="en-US" sz="2000" dirty="0">
                <a:ea typeface="宋体" panose="02010600030101010101" pitchFamily="2" charset="-122"/>
              </a:rPr>
              <a:t>结构数据中心</a:t>
            </a:r>
            <a:endParaRPr lang="en-US" altLang="zh-CN" sz="2000" dirty="0">
              <a:ea typeface="宋体" panose="02010600030101010101" pitchFamily="2" charset="-122"/>
            </a:endParaRPr>
          </a:p>
          <a:p>
            <a:pPr marL="0" indent="0" eaLnBrk="1" hangingPunct="1">
              <a:buFont typeface="Wingdings" panose="05000000000000000000" pitchFamily="2" charset="2"/>
              <a:buNone/>
              <a:defRPr/>
            </a:pPr>
            <a:r>
              <a:rPr lang="en-US" altLang="zh-CN" sz="2000" dirty="0">
                <a:ea typeface="宋体" panose="02010600030101010101" pitchFamily="2" charset="-122"/>
              </a:rPr>
              <a:t>    </a:t>
            </a:r>
            <a:r>
              <a:rPr lang="zh-CN" altLang="en-US" sz="2000" dirty="0">
                <a:ea typeface="宋体" panose="02010600030101010101" pitchFamily="2" charset="-122"/>
              </a:rPr>
              <a:t>服务器</a:t>
            </a:r>
            <a:r>
              <a:rPr lang="en-US" altLang="zh-CN" sz="2000" dirty="0">
                <a:ea typeface="宋体" panose="02010600030101010101" pitchFamily="2" charset="-122"/>
              </a:rPr>
              <a:t>-</a:t>
            </a:r>
            <a:r>
              <a:rPr lang="zh-CN" altLang="en-US" sz="2000" dirty="0">
                <a:ea typeface="宋体" panose="02010600030101010101" pitchFamily="2" charset="-122"/>
              </a:rPr>
              <a:t>交换机</a:t>
            </a:r>
            <a:r>
              <a:rPr lang="en-US" altLang="zh-CN" sz="2000" dirty="0">
                <a:ea typeface="宋体" panose="02010600030101010101" pitchFamily="2" charset="-122"/>
              </a:rPr>
              <a:t>-</a:t>
            </a:r>
            <a:r>
              <a:rPr lang="zh-CN" altLang="en-US" sz="2000" dirty="0">
                <a:ea typeface="宋体" panose="02010600030101010101" pitchFamily="2" charset="-122"/>
              </a:rPr>
              <a:t>核心交换机</a:t>
            </a:r>
            <a:endParaRPr lang="en-US" altLang="zh-CN" sz="2000" dirty="0">
              <a:ea typeface="宋体" panose="02010600030101010101" pitchFamily="2" charset="-122"/>
            </a:endParaRPr>
          </a:p>
        </p:txBody>
      </p:sp>
    </p:spTree>
    <p:extLst>
      <p:ext uri="{BB962C8B-B14F-4D97-AF65-F5344CB8AC3E}">
        <p14:creationId xmlns:p14="http://schemas.microsoft.com/office/powerpoint/2010/main" val="844821497"/>
      </p:ext>
    </p:extLst>
  </p:cSld>
  <p:clrMapOvr>
    <a:masterClrMapping/>
  </p:clrMapOvr>
  <mc:AlternateContent xmlns:mc="http://schemas.openxmlformats.org/markup-compatibility/2006" xmlns:p14="http://schemas.microsoft.com/office/powerpoint/2010/main">
    <mc:Choice Requires="p14">
      <p:transition spd="slow" p14:dur="2000" advTm="29235"/>
    </mc:Choice>
    <mc:Fallback xmlns="">
      <p:transition spd="slow" advTm="29235"/>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7169">
            <a:extLst>
              <a:ext uri="{FF2B5EF4-FFF2-40B4-BE49-F238E27FC236}">
                <a16:creationId xmlns:a16="http://schemas.microsoft.com/office/drawing/2014/main" id="{0E4372C3-D65F-40E9-8DF2-36855ED5C3CF}"/>
              </a:ext>
            </a:extLst>
          </p:cNvPr>
          <p:cNvSpPr>
            <a:spLocks noGrp="1" noChangeArrowheads="1"/>
          </p:cNvSpPr>
          <p:nvPr>
            <p:ph type="title"/>
          </p:nvPr>
        </p:nvSpPr>
        <p:spPr/>
        <p:txBody>
          <a:bodyPr/>
          <a:lstStyle/>
          <a:p>
            <a:pPr eaLnBrk="1" hangingPunct="1"/>
            <a:r>
              <a:rPr lang="zh-CN" altLang="en-US">
                <a:ea typeface="宋体" panose="02010600030101010101" pitchFamily="2" charset="-122"/>
              </a:rPr>
              <a:t>仿真结果与分析</a:t>
            </a:r>
          </a:p>
        </p:txBody>
      </p:sp>
      <p:pic>
        <p:nvPicPr>
          <p:cNvPr id="17411" name="图片 2">
            <a:extLst>
              <a:ext uri="{FF2B5EF4-FFF2-40B4-BE49-F238E27FC236}">
                <a16:creationId xmlns:a16="http://schemas.microsoft.com/office/drawing/2014/main" id="{1C4E1A5E-E4A9-4D3E-9E51-C3E9219EB9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943" y="3505198"/>
            <a:ext cx="8134113" cy="1972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0" name="文本占位符 7170">
            <a:extLst>
              <a:ext uri="{FF2B5EF4-FFF2-40B4-BE49-F238E27FC236}">
                <a16:creationId xmlns:a16="http://schemas.microsoft.com/office/drawing/2014/main" id="{4256BD42-A262-471D-B3E2-A963EDF449E7}"/>
              </a:ext>
            </a:extLst>
          </p:cNvPr>
          <p:cNvSpPr>
            <a:spLocks noGrp="1" noChangeArrowheads="1"/>
          </p:cNvSpPr>
          <p:nvPr>
            <p:ph type="body" idx="1"/>
          </p:nvPr>
        </p:nvSpPr>
        <p:spPr>
          <a:xfrm>
            <a:off x="457200" y="1417638"/>
            <a:ext cx="8229600" cy="4530725"/>
          </a:xfrm>
        </p:spPr>
        <p:txBody>
          <a:bodyPr/>
          <a:lstStyle/>
          <a:p>
            <a:pPr eaLnBrk="1" hangingPunct="1">
              <a:defRPr/>
            </a:pPr>
            <a:r>
              <a:rPr lang="zh-CN" altLang="en-US" sz="2600" dirty="0">
                <a:ea typeface="宋体" panose="02010600030101010101" pitchFamily="2" charset="-122"/>
              </a:rPr>
              <a:t>仿真环境设置</a:t>
            </a:r>
            <a:endParaRPr lang="en-US" altLang="zh-CN" sz="2600" dirty="0">
              <a:ea typeface="宋体" panose="02010600030101010101" pitchFamily="2" charset="-122"/>
            </a:endParaRPr>
          </a:p>
          <a:p>
            <a:pPr marL="0" indent="0" eaLnBrk="1" hangingPunct="1">
              <a:buFont typeface="Wingdings" panose="05000000000000000000" pitchFamily="2" charset="2"/>
              <a:buNone/>
              <a:defRPr/>
            </a:pPr>
            <a:r>
              <a:rPr lang="en-US" altLang="zh-CN" sz="2000" dirty="0">
                <a:ea typeface="宋体" panose="02010600030101010101" pitchFamily="2" charset="-122"/>
              </a:rPr>
              <a:t>    Fat-tree</a:t>
            </a:r>
            <a:r>
              <a:rPr lang="zh-CN" altLang="en-US" sz="2000" dirty="0">
                <a:ea typeface="宋体" panose="02010600030101010101" pitchFamily="2" charset="-122"/>
              </a:rPr>
              <a:t>结构底层拓扑</a:t>
            </a:r>
            <a:endParaRPr lang="en-US" altLang="zh-CN" sz="2000" dirty="0">
              <a:ea typeface="宋体" panose="02010600030101010101" pitchFamily="2" charset="-122"/>
            </a:endParaRPr>
          </a:p>
          <a:p>
            <a:pPr marL="0" indent="0" eaLnBrk="1" hangingPunct="1">
              <a:buFont typeface="Wingdings" panose="05000000000000000000" pitchFamily="2" charset="2"/>
              <a:buNone/>
              <a:defRPr/>
            </a:pPr>
            <a:r>
              <a:rPr lang="en-US" altLang="zh-CN" sz="2000" dirty="0">
                <a:ea typeface="宋体" panose="02010600030101010101" pitchFamily="2" charset="-122"/>
              </a:rPr>
              <a:t>    </a:t>
            </a:r>
            <a:r>
              <a:rPr lang="zh-CN" altLang="en-US" sz="2000" dirty="0">
                <a:ea typeface="宋体" panose="02010600030101010101" pitchFamily="2" charset="-122"/>
              </a:rPr>
              <a:t>不同层次的链路成本不同，在核心交换机之间的链路带宽往往容易形成网络瓶颈。</a:t>
            </a:r>
            <a:endParaRPr lang="en-US" altLang="zh-CN" sz="2000" dirty="0">
              <a:ea typeface="宋体" panose="02010600030101010101" pitchFamily="2" charset="-122"/>
            </a:endParaRPr>
          </a:p>
          <a:p>
            <a:pPr marL="0" indent="0" eaLnBrk="1" hangingPunct="1">
              <a:buFont typeface="Wingdings" panose="05000000000000000000" pitchFamily="2" charset="2"/>
              <a:buNone/>
              <a:defRPr/>
            </a:pPr>
            <a:r>
              <a:rPr lang="en-US" altLang="zh-CN" sz="2000" dirty="0">
                <a:ea typeface="宋体" panose="02010600030101010101" pitchFamily="2" charset="-122"/>
              </a:rPr>
              <a:t>    </a:t>
            </a:r>
            <a:r>
              <a:rPr lang="zh-CN" altLang="en-US" sz="2000" dirty="0">
                <a:ea typeface="宋体" panose="02010600030101010101" pitchFamily="2" charset="-122"/>
              </a:rPr>
              <a:t>第一层的链路单位成本为</a:t>
            </a:r>
            <a:r>
              <a:rPr lang="en-US" altLang="zh-CN" sz="2000" dirty="0">
                <a:ea typeface="宋体" panose="02010600030101010101" pitchFamily="2" charset="-122"/>
              </a:rPr>
              <a:t>3</a:t>
            </a:r>
            <a:r>
              <a:rPr lang="zh-CN" altLang="en-US" sz="2000" dirty="0">
                <a:ea typeface="宋体" panose="02010600030101010101" pitchFamily="2" charset="-122"/>
              </a:rPr>
              <a:t>，第二层为</a:t>
            </a:r>
            <a:r>
              <a:rPr lang="en-US" altLang="zh-CN" sz="2000" dirty="0">
                <a:ea typeface="宋体" panose="02010600030101010101" pitchFamily="2" charset="-122"/>
              </a:rPr>
              <a:t>2</a:t>
            </a:r>
            <a:r>
              <a:rPr lang="zh-CN" altLang="en-US" sz="2000" dirty="0">
                <a:ea typeface="宋体" panose="02010600030101010101" pitchFamily="2" charset="-122"/>
              </a:rPr>
              <a:t>，第三层为</a:t>
            </a:r>
            <a:r>
              <a:rPr lang="en-US" altLang="zh-CN" sz="2000" dirty="0">
                <a:ea typeface="宋体" panose="02010600030101010101" pitchFamily="2" charset="-122"/>
              </a:rPr>
              <a:t>1</a:t>
            </a:r>
            <a:r>
              <a:rPr lang="zh-CN" altLang="en-US" sz="2000" dirty="0">
                <a:ea typeface="宋体" panose="02010600030101010101" pitchFamily="2" charset="-122"/>
              </a:rPr>
              <a:t>。</a:t>
            </a:r>
            <a:endParaRPr lang="en-US" altLang="zh-CN" sz="2000" dirty="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1027"/>
    </mc:Choice>
    <mc:Fallback xmlns="">
      <p:transition spd="slow" advTm="21027"/>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7169">
            <a:extLst>
              <a:ext uri="{FF2B5EF4-FFF2-40B4-BE49-F238E27FC236}">
                <a16:creationId xmlns:a16="http://schemas.microsoft.com/office/drawing/2014/main" id="{0E4372C3-D65F-40E9-8DF2-36855ED5C3CF}"/>
              </a:ext>
            </a:extLst>
          </p:cNvPr>
          <p:cNvSpPr>
            <a:spLocks noGrp="1" noChangeArrowheads="1"/>
          </p:cNvSpPr>
          <p:nvPr>
            <p:ph type="title"/>
          </p:nvPr>
        </p:nvSpPr>
        <p:spPr/>
        <p:txBody>
          <a:bodyPr/>
          <a:lstStyle/>
          <a:p>
            <a:pPr eaLnBrk="1" hangingPunct="1"/>
            <a:r>
              <a:rPr lang="zh-CN" altLang="en-US">
                <a:ea typeface="宋体" panose="02010600030101010101" pitchFamily="2" charset="-122"/>
              </a:rPr>
              <a:t>仿真结果与分析</a:t>
            </a:r>
          </a:p>
        </p:txBody>
      </p:sp>
      <p:sp>
        <p:nvSpPr>
          <p:cNvPr id="7170" name="文本占位符 7170">
            <a:extLst>
              <a:ext uri="{FF2B5EF4-FFF2-40B4-BE49-F238E27FC236}">
                <a16:creationId xmlns:a16="http://schemas.microsoft.com/office/drawing/2014/main" id="{4256BD42-A262-471D-B3E2-A963EDF449E7}"/>
              </a:ext>
            </a:extLst>
          </p:cNvPr>
          <p:cNvSpPr>
            <a:spLocks noGrp="1" noChangeArrowheads="1"/>
          </p:cNvSpPr>
          <p:nvPr>
            <p:ph type="body" idx="1"/>
          </p:nvPr>
        </p:nvSpPr>
        <p:spPr/>
        <p:txBody>
          <a:bodyPr/>
          <a:lstStyle/>
          <a:p>
            <a:pPr eaLnBrk="1" hangingPunct="1">
              <a:defRPr/>
            </a:pPr>
            <a:r>
              <a:rPr lang="zh-CN" altLang="en-US" sz="2600" dirty="0">
                <a:ea typeface="宋体" panose="02010600030101010101" pitchFamily="2" charset="-122"/>
              </a:rPr>
              <a:t>仿真环境设置</a:t>
            </a:r>
            <a:endParaRPr lang="en-US" altLang="zh-CN" sz="2600" dirty="0">
              <a:ea typeface="宋体" panose="02010600030101010101" pitchFamily="2" charset="-122"/>
            </a:endParaRPr>
          </a:p>
          <a:p>
            <a:pPr eaLnBrk="1" hangingPunct="1">
              <a:defRPr/>
            </a:pPr>
            <a:r>
              <a:rPr lang="zh-CN" altLang="en-US" sz="2000" dirty="0">
                <a:ea typeface="宋体" panose="02010600030101010101" pitchFamily="2" charset="-122"/>
              </a:rPr>
              <a:t>租户的虚拟数据中心请求的拓扑中虚拟机数量从</a:t>
            </a:r>
            <a:r>
              <a:rPr lang="en-US" altLang="zh-CN" sz="2000" dirty="0">
                <a:ea typeface="宋体" panose="02010600030101010101" pitchFamily="2" charset="-122"/>
              </a:rPr>
              <a:t>4</a:t>
            </a:r>
            <a:r>
              <a:rPr lang="zh-CN" altLang="en-US" sz="2000" dirty="0">
                <a:ea typeface="宋体" panose="02010600030101010101" pitchFamily="2" charset="-122"/>
              </a:rPr>
              <a:t>逐渐增大到</a:t>
            </a:r>
            <a:r>
              <a:rPr lang="en-US" altLang="zh-CN" sz="2000" dirty="0">
                <a:ea typeface="宋体" panose="02010600030101010101" pitchFamily="2" charset="-122"/>
              </a:rPr>
              <a:t>14</a:t>
            </a:r>
          </a:p>
          <a:p>
            <a:pPr eaLnBrk="1" hangingPunct="1">
              <a:defRPr/>
            </a:pPr>
            <a:r>
              <a:rPr lang="zh-CN" altLang="en-US" sz="2000" dirty="0">
                <a:ea typeface="宋体" panose="02010600030101010101" pitchFamily="2" charset="-122"/>
              </a:rPr>
              <a:t>每对虚拟机之间以</a:t>
            </a:r>
            <a:r>
              <a:rPr lang="en-US" altLang="zh-CN" sz="2000" dirty="0">
                <a:ea typeface="宋体" panose="02010600030101010101" pitchFamily="2" charset="-122"/>
              </a:rPr>
              <a:t>0.5</a:t>
            </a:r>
            <a:r>
              <a:rPr lang="zh-CN" altLang="en-US" sz="2000" dirty="0">
                <a:ea typeface="宋体" panose="02010600030101010101" pitchFamily="2" charset="-122"/>
              </a:rPr>
              <a:t>的概率有边连接</a:t>
            </a:r>
            <a:endParaRPr lang="en-US" altLang="zh-CN" sz="2000" dirty="0">
              <a:ea typeface="宋体" panose="02010600030101010101" pitchFamily="2" charset="-122"/>
            </a:endParaRPr>
          </a:p>
          <a:p>
            <a:pPr eaLnBrk="1" hangingPunct="1">
              <a:defRPr/>
            </a:pPr>
            <a:r>
              <a:rPr lang="zh-CN" altLang="en-US" sz="2000" dirty="0">
                <a:ea typeface="宋体" panose="02010600030101010101" pitchFamily="2" charset="-122"/>
              </a:rPr>
              <a:t>每台虚拟机所需要的计算资源量为</a:t>
            </a:r>
            <a:r>
              <a:rPr lang="en-US" altLang="zh-CN" sz="2000" dirty="0">
                <a:ea typeface="宋体" panose="02010600030101010101" pitchFamily="2" charset="-122"/>
              </a:rPr>
              <a:t>10~30</a:t>
            </a:r>
            <a:r>
              <a:rPr lang="zh-CN" altLang="en-US" sz="2000" dirty="0">
                <a:ea typeface="宋体" panose="02010600030101010101" pitchFamily="2" charset="-122"/>
              </a:rPr>
              <a:t>的均匀分布整数</a:t>
            </a:r>
            <a:endParaRPr lang="en-US" altLang="zh-CN" sz="2000" dirty="0">
              <a:ea typeface="宋体" panose="02010600030101010101" pitchFamily="2" charset="-122"/>
            </a:endParaRPr>
          </a:p>
          <a:p>
            <a:pPr eaLnBrk="1" hangingPunct="1">
              <a:defRPr/>
            </a:pPr>
            <a:r>
              <a:rPr lang="zh-CN" altLang="en-US" sz="2000" dirty="0">
                <a:ea typeface="宋体" panose="02010600030101010101" pitchFamily="2" charset="-122"/>
              </a:rPr>
              <a:t>虚拟机之间链路需求的带宽资源为</a:t>
            </a:r>
            <a:r>
              <a:rPr lang="en-US" altLang="zh-CN" sz="2000" dirty="0">
                <a:ea typeface="宋体" panose="02010600030101010101" pitchFamily="2" charset="-122"/>
              </a:rPr>
              <a:t>10~50</a:t>
            </a:r>
            <a:r>
              <a:rPr lang="zh-CN" altLang="en-US" sz="2000" dirty="0">
                <a:ea typeface="宋体" panose="02010600030101010101" pitchFamily="2" charset="-122"/>
              </a:rPr>
              <a:t>的均匀分布整数</a:t>
            </a:r>
            <a:endParaRPr lang="en-US" altLang="zh-CN" sz="2000" dirty="0">
              <a:ea typeface="宋体" panose="02010600030101010101" pitchFamily="2" charset="-122"/>
            </a:endParaRPr>
          </a:p>
          <a:p>
            <a:pPr eaLnBrk="1" hangingPunct="1">
              <a:defRPr/>
            </a:pPr>
            <a:r>
              <a:rPr lang="zh-CN" altLang="en-US" sz="2000" dirty="0">
                <a:ea typeface="宋体" panose="02010600030101010101" pitchFamily="2" charset="-122"/>
              </a:rPr>
              <a:t>每种网络规模的虚拟数据中心请求均运行</a:t>
            </a:r>
            <a:r>
              <a:rPr lang="en-US" altLang="zh-CN" sz="2000" dirty="0">
                <a:ea typeface="宋体" panose="02010600030101010101" pitchFamily="2" charset="-122"/>
              </a:rPr>
              <a:t>1000</a:t>
            </a:r>
            <a:r>
              <a:rPr lang="zh-CN" altLang="en-US" sz="2000">
                <a:ea typeface="宋体" panose="02010600030101010101" pitchFamily="2" charset="-122"/>
              </a:rPr>
              <a:t>次后取平均值</a:t>
            </a:r>
            <a:r>
              <a:rPr lang="en-US" altLang="zh-CN" sz="2000">
                <a:ea typeface="宋体" panose="02010600030101010101" pitchFamily="2" charset="-122"/>
              </a:rPr>
              <a:t>   </a:t>
            </a:r>
            <a:endParaRPr lang="en-US" altLang="zh-CN" sz="2000" dirty="0">
              <a:ea typeface="宋体" panose="02010600030101010101" pitchFamily="2" charset="-122"/>
            </a:endParaRPr>
          </a:p>
        </p:txBody>
      </p:sp>
    </p:spTree>
    <p:extLst>
      <p:ext uri="{BB962C8B-B14F-4D97-AF65-F5344CB8AC3E}">
        <p14:creationId xmlns:p14="http://schemas.microsoft.com/office/powerpoint/2010/main" val="724783805"/>
      </p:ext>
    </p:extLst>
  </p:cSld>
  <p:clrMapOvr>
    <a:masterClrMapping/>
  </p:clrMapOvr>
  <mc:AlternateContent xmlns:mc="http://schemas.openxmlformats.org/markup-compatibility/2006" xmlns:p14="http://schemas.microsoft.com/office/powerpoint/2010/main">
    <mc:Choice Requires="p14">
      <p:transition spd="slow" p14:dur="2000" advTm="31301"/>
    </mc:Choice>
    <mc:Fallback xmlns="">
      <p:transition spd="slow" advTm="31301"/>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7169">
            <a:extLst>
              <a:ext uri="{FF2B5EF4-FFF2-40B4-BE49-F238E27FC236}">
                <a16:creationId xmlns:a16="http://schemas.microsoft.com/office/drawing/2014/main" id="{8965E636-DFA2-4A53-9884-902647DC1F66}"/>
              </a:ext>
            </a:extLst>
          </p:cNvPr>
          <p:cNvSpPr>
            <a:spLocks noGrp="1" noChangeArrowheads="1"/>
          </p:cNvSpPr>
          <p:nvPr>
            <p:ph type="title"/>
          </p:nvPr>
        </p:nvSpPr>
        <p:spPr/>
        <p:txBody>
          <a:bodyPr/>
          <a:lstStyle/>
          <a:p>
            <a:pPr eaLnBrk="1" hangingPunct="1"/>
            <a:r>
              <a:rPr lang="zh-CN" altLang="en-US">
                <a:ea typeface="宋体" panose="02010600030101010101" pitchFamily="2" charset="-122"/>
              </a:rPr>
              <a:t>仿真结果与分析</a:t>
            </a:r>
          </a:p>
        </p:txBody>
      </p:sp>
      <mc:AlternateContent xmlns:mc="http://schemas.openxmlformats.org/markup-compatibility/2006" xmlns:a14="http://schemas.microsoft.com/office/drawing/2010/main">
        <mc:Choice Requires="a14">
          <p:sp>
            <p:nvSpPr>
              <p:cNvPr id="18435" name="文本占位符 7170">
                <a:extLst>
                  <a:ext uri="{FF2B5EF4-FFF2-40B4-BE49-F238E27FC236}">
                    <a16:creationId xmlns:a16="http://schemas.microsoft.com/office/drawing/2014/main" id="{790FAFA0-E21A-42EC-92B9-30E8D594EA32}"/>
                  </a:ext>
                </a:extLst>
              </p:cNvPr>
              <p:cNvSpPr>
                <a:spLocks noGrp="1" noChangeArrowheads="1"/>
              </p:cNvSpPr>
              <p:nvPr>
                <p:ph type="body" idx="1"/>
              </p:nvPr>
            </p:nvSpPr>
            <p:spPr/>
            <p:txBody>
              <a:bodyPr/>
              <a:lstStyle/>
              <a:p>
                <a:pPr eaLnBrk="1" hangingPunct="1"/>
                <a:r>
                  <a:rPr lang="zh-CN" altLang="en-US" sz="2600" dirty="0">
                    <a:ea typeface="宋体" panose="02010600030101010101" pitchFamily="2" charset="-122"/>
                  </a:rPr>
                  <a:t>仿真参数说明</a:t>
                </a:r>
                <a:endParaRPr lang="en-US" altLang="zh-CN" sz="2600" dirty="0">
                  <a:ea typeface="宋体" panose="02010600030101010101" pitchFamily="2" charset="-122"/>
                </a:endParaRPr>
              </a:p>
              <a:p>
                <a:pPr marL="0" indent="0" eaLnBrk="1" hangingPunct="1">
                  <a:buNone/>
                </a:pPr>
                <a:r>
                  <a:rPr lang="zh-CN" altLang="en-US" sz="2600" dirty="0">
                    <a:ea typeface="宋体" panose="02010600030101010101" pitchFamily="2" charset="-122"/>
                  </a:rPr>
                  <a:t>定义变量</a:t>
                </a:r>
                <a:r>
                  <a:rPr lang="en-US" altLang="zh-CN" sz="2600" dirty="0">
                    <a:ea typeface="宋体" panose="02010600030101010101" pitchFamily="2" charset="-122"/>
                  </a:rPr>
                  <a:t>g</a:t>
                </a:r>
                <a:r>
                  <a:rPr lang="zh-CN" altLang="en-US" sz="2600" dirty="0">
                    <a:ea typeface="宋体" panose="02010600030101010101" pitchFamily="2" charset="-122"/>
                  </a:rPr>
                  <a:t>，表示计算资源和带宽资源的不同权重。</a:t>
                </a:r>
                <a:endParaRPr lang="en-US" altLang="zh-CN" sz="2600" dirty="0">
                  <a:ea typeface="宋体" panose="02010600030101010101" pitchFamily="2" charset="-122"/>
                </a:endParaRPr>
              </a:p>
              <a:p>
                <a:pPr marL="0" indent="0" eaLnBrk="1" hangingPunct="1">
                  <a:buNone/>
                </a:pPr>
                <a:r>
                  <a:rPr lang="en-US" altLang="zh-CN" sz="2600" dirty="0">
                    <a:ea typeface="宋体" panose="02010600030101010101" pitchFamily="2" charset="-122"/>
                  </a:rPr>
                  <a:t>g=0.2</a:t>
                </a:r>
                <a:r>
                  <a:rPr lang="zh-CN" altLang="en-US" sz="2600" dirty="0">
                    <a:ea typeface="宋体" panose="02010600030101010101" pitchFamily="2" charset="-122"/>
                  </a:rPr>
                  <a:t>意味着计算资源的单位成本是带宽资源的</a:t>
                </a:r>
                <a14:m>
                  <m:oMath xmlns:m="http://schemas.openxmlformats.org/officeDocument/2006/math">
                    <m:f>
                      <m:fPr>
                        <m:ctrlPr>
                          <a:rPr lang="en-US" altLang="zh-CN" sz="2600" i="1" smtClean="0">
                            <a:latin typeface="Cambria Math" panose="02040503050406030204" pitchFamily="18" charset="0"/>
                            <a:ea typeface="宋体" panose="02010600030101010101" pitchFamily="2" charset="-122"/>
                          </a:rPr>
                        </m:ctrlPr>
                      </m:fPr>
                      <m:num>
                        <m:r>
                          <a:rPr lang="en-US" altLang="zh-CN" sz="2600" b="0" i="1" smtClean="0">
                            <a:latin typeface="Cambria Math" panose="02040503050406030204" pitchFamily="18" charset="0"/>
                            <a:ea typeface="宋体" panose="02010600030101010101" pitchFamily="2" charset="-122"/>
                          </a:rPr>
                          <m:t>1</m:t>
                        </m:r>
                      </m:num>
                      <m:den>
                        <m:r>
                          <a:rPr lang="en-US" altLang="zh-CN" sz="2600" b="0" i="1" smtClean="0">
                            <a:latin typeface="Cambria Math" panose="02040503050406030204" pitchFamily="18" charset="0"/>
                            <a:ea typeface="宋体" panose="02010600030101010101" pitchFamily="2" charset="-122"/>
                          </a:rPr>
                          <m:t>5</m:t>
                        </m:r>
                      </m:den>
                    </m:f>
                  </m:oMath>
                </a14:m>
                <a:r>
                  <a:rPr lang="zh-CN" altLang="en-US" sz="2600" dirty="0">
                    <a:ea typeface="宋体" panose="02010600030101010101" pitchFamily="2" charset="-122"/>
                  </a:rPr>
                  <a:t>倍</a:t>
                </a:r>
                <a:endParaRPr lang="en-US" altLang="zh-CN" sz="2600" dirty="0">
                  <a:ea typeface="宋体" panose="02010600030101010101" pitchFamily="2" charset="-122"/>
                </a:endParaRPr>
              </a:p>
              <a:p>
                <a:pPr marL="0" indent="0" eaLnBrk="1" hangingPunct="1">
                  <a:buNone/>
                </a:pPr>
                <a:r>
                  <a:rPr lang="en-US" altLang="zh-CN" sz="2600" dirty="0">
                    <a:ea typeface="宋体" panose="02010600030101010101" pitchFamily="2" charset="-122"/>
                  </a:rPr>
                  <a:t>g=5</a:t>
                </a:r>
                <a:r>
                  <a:rPr lang="zh-CN" altLang="en-US" sz="2600" dirty="0">
                    <a:ea typeface="宋体" panose="02010600030101010101" pitchFamily="2" charset="-122"/>
                  </a:rPr>
                  <a:t>意味着计算资源的单位成本是带宽资源的</a:t>
                </a:r>
                <a:r>
                  <a:rPr lang="en-US" altLang="zh-CN" sz="2600" dirty="0">
                    <a:ea typeface="宋体" panose="02010600030101010101" pitchFamily="2" charset="-122"/>
                  </a:rPr>
                  <a:t>5</a:t>
                </a:r>
                <a:r>
                  <a:rPr lang="zh-CN" altLang="en-US" sz="2600" dirty="0">
                    <a:ea typeface="宋体" panose="02010600030101010101" pitchFamily="2" charset="-122"/>
                  </a:rPr>
                  <a:t>倍</a:t>
                </a:r>
                <a:endParaRPr lang="en-US" altLang="zh-CN" sz="2600" dirty="0">
                  <a:ea typeface="宋体" panose="02010600030101010101" pitchFamily="2" charset="-122"/>
                </a:endParaRPr>
              </a:p>
            </p:txBody>
          </p:sp>
        </mc:Choice>
        <mc:Fallback xmlns="">
          <p:sp>
            <p:nvSpPr>
              <p:cNvPr id="18435" name="文本占位符 7170">
                <a:extLst>
                  <a:ext uri="{FF2B5EF4-FFF2-40B4-BE49-F238E27FC236}">
                    <a16:creationId xmlns:a16="http://schemas.microsoft.com/office/drawing/2014/main" id="{790FAFA0-E21A-42EC-92B9-30E8D594EA32}"/>
                  </a:ext>
                </a:extLst>
              </p:cNvPr>
              <p:cNvSpPr>
                <a:spLocks noGrp="1" noRot="1" noChangeAspect="1" noMove="1" noResize="1" noEditPoints="1" noAdjustHandles="1" noChangeArrowheads="1" noChangeShapeType="1" noTextEdit="1"/>
              </p:cNvSpPr>
              <p:nvPr>
                <p:ph type="body" idx="1"/>
              </p:nvPr>
            </p:nvSpPr>
            <p:spPr>
              <a:blipFill>
                <a:blip r:embed="rId2"/>
                <a:stretch>
                  <a:fillRect l="-1333" t="-1615"/>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2000" advTm="40520"/>
    </mc:Choice>
    <mc:Fallback xmlns="">
      <p:transition spd="slow" advTm="4052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7169">
            <a:extLst>
              <a:ext uri="{FF2B5EF4-FFF2-40B4-BE49-F238E27FC236}">
                <a16:creationId xmlns:a16="http://schemas.microsoft.com/office/drawing/2014/main" id="{DE622616-6D4D-4389-B358-DC5414232210}"/>
              </a:ext>
            </a:extLst>
          </p:cNvPr>
          <p:cNvSpPr>
            <a:spLocks noGrp="1" noChangeArrowheads="1"/>
          </p:cNvSpPr>
          <p:nvPr>
            <p:ph type="title"/>
          </p:nvPr>
        </p:nvSpPr>
        <p:spPr/>
        <p:txBody>
          <a:bodyPr/>
          <a:lstStyle/>
          <a:p>
            <a:pPr eaLnBrk="1" hangingPunct="1"/>
            <a:r>
              <a:rPr lang="zh-CN" altLang="en-US">
                <a:ea typeface="宋体" panose="02010600030101010101" pitchFamily="2" charset="-122"/>
              </a:rPr>
              <a:t>仿真结果与分析</a:t>
            </a:r>
          </a:p>
        </p:txBody>
      </p:sp>
      <p:pic>
        <p:nvPicPr>
          <p:cNvPr id="19460" name="图片 2">
            <a:extLst>
              <a:ext uri="{FF2B5EF4-FFF2-40B4-BE49-F238E27FC236}">
                <a16:creationId xmlns:a16="http://schemas.microsoft.com/office/drawing/2014/main" id="{E745B995-B14C-4524-916E-DD699E1475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8974" y="2537818"/>
            <a:ext cx="4975163" cy="3482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文本占位符 7170">
            <a:extLst>
              <a:ext uri="{FF2B5EF4-FFF2-40B4-BE49-F238E27FC236}">
                <a16:creationId xmlns:a16="http://schemas.microsoft.com/office/drawing/2014/main" id="{230D567B-0936-4DCF-B10B-7C10AC6B182C}"/>
              </a:ext>
            </a:extLst>
          </p:cNvPr>
          <p:cNvSpPr>
            <a:spLocks noGrp="1" noChangeArrowheads="1"/>
          </p:cNvSpPr>
          <p:nvPr>
            <p:ph type="body" idx="1"/>
          </p:nvPr>
        </p:nvSpPr>
        <p:spPr>
          <a:xfrm>
            <a:off x="457200" y="1066862"/>
            <a:ext cx="8229600" cy="4530725"/>
          </a:xfrm>
        </p:spPr>
        <p:txBody>
          <a:bodyPr/>
          <a:lstStyle/>
          <a:p>
            <a:pPr eaLnBrk="1" hangingPunct="1"/>
            <a:r>
              <a:rPr lang="zh-CN" altLang="en-US" sz="2600" dirty="0">
                <a:ea typeface="宋体" panose="02010600030101010101" pitchFamily="2" charset="-122"/>
              </a:rPr>
              <a:t>仿真性能对比与分析</a:t>
            </a:r>
            <a:endParaRPr lang="en-US" altLang="zh-CN" sz="2600" dirty="0">
              <a:ea typeface="宋体" panose="02010600030101010101" pitchFamily="2" charset="-122"/>
            </a:endParaRPr>
          </a:p>
          <a:p>
            <a:pPr marL="0" indent="0" eaLnBrk="1" hangingPunct="1">
              <a:buNone/>
            </a:pPr>
            <a:r>
              <a:rPr lang="zh-CN" altLang="en-US" sz="2000" dirty="0">
                <a:ea typeface="宋体" panose="02010600030101010101" pitchFamily="2" charset="-122"/>
              </a:rPr>
              <a:t>    节点冗余算法资源开销</a:t>
            </a:r>
            <a:endParaRPr lang="en-US" altLang="zh-CN" sz="2000" dirty="0">
              <a:ea typeface="宋体" panose="02010600030101010101" pitchFamily="2" charset="-122"/>
            </a:endParaRPr>
          </a:p>
          <a:p>
            <a:pPr marL="0" indent="0" eaLnBrk="1" hangingPunct="1">
              <a:buNone/>
            </a:pPr>
            <a:r>
              <a:rPr lang="zh-CN" altLang="en-US" sz="2000" dirty="0">
                <a:ea typeface="宋体" panose="02010600030101010101" pitchFamily="2" charset="-122"/>
              </a:rPr>
              <a:t>在虚拟机数量较少时，差距不大</a:t>
            </a:r>
            <a:endParaRPr lang="en-US" altLang="zh-CN" sz="2000" dirty="0">
              <a:ea typeface="宋体" panose="02010600030101010101" pitchFamily="2" charset="-122"/>
            </a:endParaRPr>
          </a:p>
          <a:p>
            <a:pPr marL="0" indent="0" eaLnBrk="1" hangingPunct="1">
              <a:buNone/>
            </a:pPr>
            <a:r>
              <a:rPr lang="zh-CN" altLang="en-US" sz="2000" dirty="0">
                <a:ea typeface="宋体" panose="02010600030101010101" pitchFamily="2" charset="-122"/>
              </a:rPr>
              <a:t>随着虚拟数据中心规模的增大，两种算法的资源利用率优势逐渐显现，</a:t>
            </a:r>
            <a:r>
              <a:rPr lang="en-US" altLang="zh-CN" sz="2000" dirty="0">
                <a:ea typeface="宋体" panose="02010600030101010101" pitchFamily="2" charset="-122"/>
              </a:rPr>
              <a:t>K</a:t>
            </a:r>
            <a:r>
              <a:rPr lang="zh-CN" altLang="en-US" sz="2000" dirty="0">
                <a:ea typeface="宋体" panose="02010600030101010101" pitchFamily="2" charset="-122"/>
              </a:rPr>
              <a:t>节点冗余更佳</a:t>
            </a:r>
            <a:endParaRPr lang="en-US" altLang="zh-CN" sz="2000" dirty="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59750"/>
    </mc:Choice>
    <mc:Fallback xmlns="">
      <p:transition spd="slow" advTm="5975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7169">
            <a:extLst>
              <a:ext uri="{FF2B5EF4-FFF2-40B4-BE49-F238E27FC236}">
                <a16:creationId xmlns:a16="http://schemas.microsoft.com/office/drawing/2014/main" id="{B0912EB8-7DC3-49F4-9C03-352455F904AF}"/>
              </a:ext>
            </a:extLst>
          </p:cNvPr>
          <p:cNvSpPr>
            <a:spLocks noGrp="1" noChangeArrowheads="1"/>
          </p:cNvSpPr>
          <p:nvPr>
            <p:ph type="title"/>
          </p:nvPr>
        </p:nvSpPr>
        <p:spPr/>
        <p:txBody>
          <a:bodyPr/>
          <a:lstStyle/>
          <a:p>
            <a:pPr eaLnBrk="1" hangingPunct="1"/>
            <a:r>
              <a:rPr lang="zh-CN" altLang="en-US">
                <a:ea typeface="宋体" panose="02010600030101010101" pitchFamily="2" charset="-122"/>
              </a:rPr>
              <a:t>仿真结果与分析</a:t>
            </a:r>
          </a:p>
        </p:txBody>
      </p:sp>
      <p:pic>
        <p:nvPicPr>
          <p:cNvPr id="20484" name="图片 2">
            <a:extLst>
              <a:ext uri="{FF2B5EF4-FFF2-40B4-BE49-F238E27FC236}">
                <a16:creationId xmlns:a16="http://schemas.microsoft.com/office/drawing/2014/main" id="{EBE9E882-973B-4BB7-AD11-7F36B2B4EB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3588" y="2286030"/>
            <a:ext cx="5676824" cy="3703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文本占位符 7170">
            <a:extLst>
              <a:ext uri="{FF2B5EF4-FFF2-40B4-BE49-F238E27FC236}">
                <a16:creationId xmlns:a16="http://schemas.microsoft.com/office/drawing/2014/main" id="{A4E1C1F4-71BD-4C41-8692-17864407914F}"/>
              </a:ext>
            </a:extLst>
          </p:cNvPr>
          <p:cNvSpPr>
            <a:spLocks noGrp="1" noChangeArrowheads="1"/>
          </p:cNvSpPr>
          <p:nvPr>
            <p:ph type="body" idx="1"/>
          </p:nvPr>
        </p:nvSpPr>
        <p:spPr/>
        <p:txBody>
          <a:bodyPr/>
          <a:lstStyle/>
          <a:p>
            <a:pPr eaLnBrk="1" hangingPunct="1"/>
            <a:r>
              <a:rPr lang="zh-CN" altLang="en-US" sz="2600" dirty="0">
                <a:ea typeface="宋体" panose="02010600030101010101" pitchFamily="2" charset="-122"/>
              </a:rPr>
              <a:t>仿真性能对比与分析</a:t>
            </a:r>
            <a:endParaRPr lang="en-US" altLang="zh-CN" sz="2600" dirty="0">
              <a:ea typeface="宋体" panose="02010600030101010101" pitchFamily="2" charset="-122"/>
            </a:endParaRPr>
          </a:p>
          <a:p>
            <a:pPr marL="0" indent="0" eaLnBrk="1" hangingPunct="1">
              <a:buNone/>
            </a:pPr>
            <a:r>
              <a:rPr lang="en-US" altLang="zh-CN" sz="2000" dirty="0">
                <a:ea typeface="宋体" panose="02010600030101010101" pitchFamily="2" charset="-122"/>
              </a:rPr>
              <a:t>    </a:t>
            </a:r>
            <a:r>
              <a:rPr lang="zh-CN" altLang="en-US" sz="2000" dirty="0">
                <a:ea typeface="宋体" panose="02010600030101010101" pitchFamily="2" charset="-122"/>
              </a:rPr>
              <a:t>不同</a:t>
            </a:r>
            <a:r>
              <a:rPr lang="en-US" altLang="zh-CN" sz="2000" dirty="0">
                <a:ea typeface="宋体" panose="02010600030101010101" pitchFamily="2" charset="-122"/>
              </a:rPr>
              <a:t>g</a:t>
            </a:r>
            <a:r>
              <a:rPr lang="zh-CN" altLang="en-US" sz="2000" dirty="0">
                <a:ea typeface="宋体" panose="02010600030101010101" pitchFamily="2" charset="-122"/>
              </a:rPr>
              <a:t>值时</a:t>
            </a:r>
            <a:r>
              <a:rPr lang="en-US" altLang="zh-CN" sz="2000" dirty="0">
                <a:ea typeface="宋体" panose="02010600030101010101" pitchFamily="2" charset="-122"/>
              </a:rPr>
              <a:t>K</a:t>
            </a:r>
            <a:r>
              <a:rPr lang="zh-CN" altLang="en-US" sz="2000" dirty="0">
                <a:ea typeface="宋体" panose="02010600030101010101" pitchFamily="2" charset="-122"/>
              </a:rPr>
              <a:t>节点冗余算法的备份工作资源比</a:t>
            </a:r>
            <a:endParaRPr lang="en-US" altLang="zh-CN" sz="2000" dirty="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52647"/>
    </mc:Choice>
    <mc:Fallback xmlns="">
      <p:transition spd="slow" advTm="52647"/>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7169">
            <a:extLst>
              <a:ext uri="{FF2B5EF4-FFF2-40B4-BE49-F238E27FC236}">
                <a16:creationId xmlns:a16="http://schemas.microsoft.com/office/drawing/2014/main" id="{6FB2CD06-1F58-4B93-B16E-0EC07312706A}"/>
              </a:ext>
            </a:extLst>
          </p:cNvPr>
          <p:cNvSpPr>
            <a:spLocks noGrp="1" noChangeArrowheads="1"/>
          </p:cNvSpPr>
          <p:nvPr>
            <p:ph type="title"/>
          </p:nvPr>
        </p:nvSpPr>
        <p:spPr/>
        <p:txBody>
          <a:bodyPr/>
          <a:lstStyle/>
          <a:p>
            <a:pPr eaLnBrk="1" hangingPunct="1"/>
            <a:r>
              <a:rPr lang="zh-CN" altLang="en-US">
                <a:ea typeface="宋体" panose="02010600030101010101" pitchFamily="2" charset="-122"/>
              </a:rPr>
              <a:t>仿真结果与分析</a:t>
            </a:r>
          </a:p>
        </p:txBody>
      </p:sp>
      <p:sp>
        <p:nvSpPr>
          <p:cNvPr id="21507" name="文本占位符 7170">
            <a:extLst>
              <a:ext uri="{FF2B5EF4-FFF2-40B4-BE49-F238E27FC236}">
                <a16:creationId xmlns:a16="http://schemas.microsoft.com/office/drawing/2014/main" id="{D2CB8EA1-A06E-4DB7-B931-F5C1913D0F32}"/>
              </a:ext>
            </a:extLst>
          </p:cNvPr>
          <p:cNvSpPr>
            <a:spLocks noGrp="1" noChangeArrowheads="1"/>
          </p:cNvSpPr>
          <p:nvPr>
            <p:ph type="body" idx="1"/>
          </p:nvPr>
        </p:nvSpPr>
        <p:spPr>
          <a:xfrm>
            <a:off x="457200" y="1066862"/>
            <a:ext cx="8229600" cy="4530725"/>
          </a:xfrm>
        </p:spPr>
        <p:txBody>
          <a:bodyPr/>
          <a:lstStyle/>
          <a:p>
            <a:pPr eaLnBrk="1" hangingPunct="1"/>
            <a:r>
              <a:rPr lang="zh-CN" altLang="en-US" sz="2600" dirty="0">
                <a:ea typeface="宋体" panose="02010600030101010101" pitchFamily="2" charset="-122"/>
              </a:rPr>
              <a:t>仿真性能对比与分析</a:t>
            </a:r>
            <a:endParaRPr lang="en-US" altLang="zh-CN" sz="2600" dirty="0">
              <a:ea typeface="宋体" panose="02010600030101010101" pitchFamily="2" charset="-122"/>
            </a:endParaRPr>
          </a:p>
          <a:p>
            <a:pPr marL="0" indent="0" eaLnBrk="1" hangingPunct="1">
              <a:buNone/>
            </a:pPr>
            <a:r>
              <a:rPr lang="en-US" altLang="zh-CN" sz="2000" dirty="0">
                <a:ea typeface="宋体" panose="02010600030101010101" pitchFamily="2" charset="-122"/>
              </a:rPr>
              <a:t>    Fat-tree</a:t>
            </a:r>
            <a:r>
              <a:rPr lang="zh-CN" altLang="en-US" sz="2000" dirty="0">
                <a:ea typeface="宋体" panose="02010600030101010101" pitchFamily="2" charset="-122"/>
              </a:rPr>
              <a:t>结构拓扑下资源使用情况</a:t>
            </a:r>
            <a:endParaRPr lang="en-US" altLang="zh-CN" sz="2000" dirty="0">
              <a:ea typeface="宋体" panose="02010600030101010101" pitchFamily="2" charset="-122"/>
            </a:endParaRPr>
          </a:p>
          <a:p>
            <a:pPr marL="0" indent="0" eaLnBrk="1" hangingPunct="1">
              <a:buNone/>
            </a:pPr>
            <a:r>
              <a:rPr lang="zh-CN" altLang="en-US" sz="2000" dirty="0">
                <a:ea typeface="宋体" panose="02010600030101010101" pitchFamily="2" charset="-122"/>
              </a:rPr>
              <a:t>随着节点规模的增大，备份路径共享策略和工作路径共享策略减少的资源开销增大，资源共享率逐渐增大，从而使得实际使用的备份资源变化不大。</a:t>
            </a:r>
            <a:endParaRPr lang="en-US" altLang="zh-CN" sz="2000" dirty="0">
              <a:ea typeface="宋体" panose="02010600030101010101" pitchFamily="2" charset="-122"/>
            </a:endParaRPr>
          </a:p>
          <a:p>
            <a:pPr marL="0" indent="0" eaLnBrk="1" hangingPunct="1">
              <a:buNone/>
            </a:pPr>
            <a:endParaRPr lang="en-US" altLang="zh-CN" sz="2600" dirty="0">
              <a:ea typeface="宋体" panose="02010600030101010101" pitchFamily="2" charset="-122"/>
            </a:endParaRPr>
          </a:p>
          <a:p>
            <a:pPr marL="0" indent="0" eaLnBrk="1" hangingPunct="1">
              <a:buNone/>
            </a:pPr>
            <a:endParaRPr lang="en-US" altLang="zh-CN" sz="2600" dirty="0">
              <a:ea typeface="宋体" panose="02010600030101010101" pitchFamily="2" charset="-122"/>
            </a:endParaRPr>
          </a:p>
        </p:txBody>
      </p:sp>
      <p:pic>
        <p:nvPicPr>
          <p:cNvPr id="21508" name="图片 2">
            <a:extLst>
              <a:ext uri="{FF2B5EF4-FFF2-40B4-BE49-F238E27FC236}">
                <a16:creationId xmlns:a16="http://schemas.microsoft.com/office/drawing/2014/main" id="{DE071394-1E21-4086-98B3-CE57515DA7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9929" y="2514624"/>
            <a:ext cx="5744141" cy="352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165328"/>
    </mc:Choice>
    <mc:Fallback xmlns="">
      <p:transition spd="slow" advTm="165328"/>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文本占位符 7170">
            <a:extLst>
              <a:ext uri="{FF2B5EF4-FFF2-40B4-BE49-F238E27FC236}">
                <a16:creationId xmlns:a16="http://schemas.microsoft.com/office/drawing/2014/main" id="{A4E1C1F4-71BD-4C41-8692-17864407914F}"/>
              </a:ext>
            </a:extLst>
          </p:cNvPr>
          <p:cNvSpPr>
            <a:spLocks noGrp="1" noChangeArrowheads="1"/>
          </p:cNvSpPr>
          <p:nvPr>
            <p:ph type="body" idx="1"/>
          </p:nvPr>
        </p:nvSpPr>
        <p:spPr/>
        <p:txBody>
          <a:bodyPr/>
          <a:lstStyle/>
          <a:p>
            <a:pPr eaLnBrk="1" hangingPunct="1"/>
            <a:r>
              <a:rPr lang="zh-CN" altLang="en-US" sz="2600" dirty="0">
                <a:ea typeface="宋体" panose="02010600030101010101" pitchFamily="2" charset="-122"/>
              </a:rPr>
              <a:t>本次汇报讨论了虚拟机失效的情况下虚拟数据中心的可靠性设计问题，通过设计单节点冗余算法和</a:t>
            </a:r>
            <a:r>
              <a:rPr lang="en-US" altLang="zh-CN" sz="2600" dirty="0">
                <a:ea typeface="宋体" panose="02010600030101010101" pitchFamily="2" charset="-122"/>
              </a:rPr>
              <a:t>K</a:t>
            </a:r>
            <a:r>
              <a:rPr lang="zh-CN" altLang="en-US" sz="2600" dirty="0">
                <a:ea typeface="宋体" panose="02010600030101010101" pitchFamily="2" charset="-122"/>
              </a:rPr>
              <a:t>节点冗余算法，保证在出现任意单一虚拟机失效（可能是虚拟机自身发生失效，也可能是虚拟机所在的服务器发生故障）时虚拟数据中心仍然可用。</a:t>
            </a:r>
            <a:endParaRPr lang="en-US" altLang="zh-CN" sz="2600" dirty="0">
              <a:ea typeface="宋体" panose="02010600030101010101" pitchFamily="2" charset="-122"/>
            </a:endParaRPr>
          </a:p>
          <a:p>
            <a:pPr eaLnBrk="1" hangingPunct="1"/>
            <a:r>
              <a:rPr lang="zh-CN" altLang="en-US" sz="2600" dirty="0">
                <a:ea typeface="宋体" panose="02010600030101010101" pitchFamily="2" charset="-122"/>
              </a:rPr>
              <a:t>通过仿真对比分析，说明两种算法都能很好地实现虚拟数据中心可靠性增强。对于单节点冗余算法，</a:t>
            </a:r>
            <a:r>
              <a:rPr lang="en-US" altLang="zh-CN" sz="2600" dirty="0">
                <a:ea typeface="宋体" panose="02010600030101010101" pitchFamily="2" charset="-122"/>
              </a:rPr>
              <a:t>K</a:t>
            </a:r>
            <a:r>
              <a:rPr lang="zh-CN" altLang="en-US" sz="2600" dirty="0">
                <a:ea typeface="宋体" panose="02010600030101010101" pitchFamily="2" charset="-122"/>
              </a:rPr>
              <a:t>节点冗余算法更加高效，特别是随着虚拟数据中心规模的不断增大，</a:t>
            </a:r>
            <a:r>
              <a:rPr lang="en-US" altLang="zh-CN" sz="2600" dirty="0">
                <a:ea typeface="宋体" panose="02010600030101010101" pitchFamily="2" charset="-122"/>
              </a:rPr>
              <a:t>K</a:t>
            </a:r>
            <a:r>
              <a:rPr lang="zh-CN" altLang="en-US" sz="2600" dirty="0">
                <a:ea typeface="宋体" panose="02010600030101010101" pitchFamily="2" charset="-122"/>
              </a:rPr>
              <a:t>节点冗余算法的弹性映射优势将更加明显。</a:t>
            </a:r>
            <a:endParaRPr lang="en-US" altLang="zh-CN" sz="2600" dirty="0">
              <a:ea typeface="宋体" panose="02010600030101010101" pitchFamily="2" charset="-122"/>
            </a:endParaRPr>
          </a:p>
        </p:txBody>
      </p:sp>
      <p:sp>
        <p:nvSpPr>
          <p:cNvPr id="20482" name="标题 7169">
            <a:extLst>
              <a:ext uri="{FF2B5EF4-FFF2-40B4-BE49-F238E27FC236}">
                <a16:creationId xmlns:a16="http://schemas.microsoft.com/office/drawing/2014/main" id="{B0912EB8-7DC3-49F4-9C03-352455F904AF}"/>
              </a:ext>
            </a:extLst>
          </p:cNvPr>
          <p:cNvSpPr>
            <a:spLocks noGrp="1" noChangeArrowheads="1"/>
          </p:cNvSpPr>
          <p:nvPr>
            <p:ph type="title"/>
          </p:nvPr>
        </p:nvSpPr>
        <p:spPr/>
        <p:txBody>
          <a:bodyPr/>
          <a:lstStyle/>
          <a:p>
            <a:pPr eaLnBrk="1" hangingPunct="1"/>
            <a:r>
              <a:rPr lang="zh-CN" altLang="en-US" dirty="0">
                <a:ea typeface="宋体" panose="02010600030101010101" pitchFamily="2" charset="-122"/>
              </a:rPr>
              <a:t>内容小结</a:t>
            </a:r>
          </a:p>
        </p:txBody>
      </p:sp>
    </p:spTree>
    <p:extLst>
      <p:ext uri="{BB962C8B-B14F-4D97-AF65-F5344CB8AC3E}">
        <p14:creationId xmlns:p14="http://schemas.microsoft.com/office/powerpoint/2010/main" val="381674399"/>
      </p:ext>
    </p:extLst>
  </p:cSld>
  <p:clrMapOvr>
    <a:masterClrMapping/>
  </p:clrMapOvr>
  <mc:AlternateContent xmlns:mc="http://schemas.openxmlformats.org/markup-compatibility/2006" xmlns:p14="http://schemas.microsoft.com/office/powerpoint/2010/main">
    <mc:Choice Requires="p14">
      <p:transition spd="slow" p14:dur="2000" advTm="52647"/>
    </mc:Choice>
    <mc:Fallback xmlns="">
      <p:transition spd="slow" advTm="52647"/>
    </mc:Fallback>
  </mc:AlternateContent>
</p:sld>
</file>

<file path=ppt/theme/theme1.xml><?xml version="1.0" encoding="utf-8"?>
<a:theme xmlns:a="http://schemas.openxmlformats.org/drawingml/2006/main" name="Edge">
  <a:themeElements>
    <a:clrScheme name="">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47329"/>
      </a:accent6>
      <a:hlink>
        <a:srgbClr val="996600"/>
      </a:hlink>
      <a:folHlink>
        <a:srgbClr val="AFBF39"/>
      </a:folHlink>
    </a:clrScheme>
    <a:fontScheme name="">
      <a:majorFont>
        <a:latin typeface="Garamond"/>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966</TotalTime>
  <Pages>0</Pages>
  <Words>2826</Words>
  <Characters>0</Characters>
  <Application>Microsoft Office PowerPoint</Application>
  <DocSecurity>0</DocSecurity>
  <PresentationFormat>全屏显示(4:3)</PresentationFormat>
  <Lines>0</Lines>
  <Paragraphs>218</Paragraphs>
  <Slides>40</Slides>
  <Notes>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40</vt:i4>
      </vt:variant>
    </vt:vector>
  </HeadingPairs>
  <TitlesOfParts>
    <vt:vector size="46" baseType="lpstr">
      <vt:lpstr>宋体</vt:lpstr>
      <vt:lpstr>Arial</vt:lpstr>
      <vt:lpstr>Cambria Math</vt:lpstr>
      <vt:lpstr>Garamond</vt:lpstr>
      <vt:lpstr>Wingdings</vt:lpstr>
      <vt:lpstr>Edge</vt:lpstr>
      <vt:lpstr>面向虚拟机失效的可靠虚拟数据中心映射</vt:lpstr>
      <vt:lpstr>目录</vt:lpstr>
      <vt:lpstr>参考文献 </vt:lpstr>
      <vt:lpstr>参考文献 </vt:lpstr>
      <vt:lpstr>背景及研究现状</vt:lpstr>
      <vt:lpstr>背景及研究现状</vt:lpstr>
      <vt:lpstr>背景及研究现状</vt:lpstr>
      <vt:lpstr>网络模型及问题描述</vt:lpstr>
      <vt:lpstr>网络模型及问题描述</vt:lpstr>
      <vt:lpstr>网络模型及问题描述</vt:lpstr>
      <vt:lpstr>网络模型及问题描述</vt:lpstr>
      <vt:lpstr>网络模型及问题描述</vt:lpstr>
      <vt:lpstr>网络模型及问题描述</vt:lpstr>
      <vt:lpstr>虚拟数据中心的可靠增强策略</vt:lpstr>
      <vt:lpstr>虚拟数据中心的可靠增强策略</vt:lpstr>
      <vt:lpstr>虚拟数据中心的可靠增强策略</vt:lpstr>
      <vt:lpstr>虚拟数据中心的可靠增强策略</vt:lpstr>
      <vt:lpstr>虚拟数据中心的可靠增强策略</vt:lpstr>
      <vt:lpstr>虚拟数据中心的可靠增强策略</vt:lpstr>
      <vt:lpstr>虚拟数据中心的可靠增强策略</vt:lpstr>
      <vt:lpstr>虚拟数据中心的可靠增强策略</vt:lpstr>
      <vt:lpstr>虚拟数据中心的可靠增强策略</vt:lpstr>
      <vt:lpstr>虚拟数据中心的可靠增强策略</vt:lpstr>
      <vt:lpstr>虚拟数据中心虚拟机失效容忍算法</vt:lpstr>
      <vt:lpstr>虚拟数据中心虚拟机失效容忍算法</vt:lpstr>
      <vt:lpstr>虚拟数据中心虚拟机失效容忍算法</vt:lpstr>
      <vt:lpstr>虚拟数据中心虚拟机失效容忍算法</vt:lpstr>
      <vt:lpstr>虚拟数据中心虚拟机失效容忍算法</vt:lpstr>
      <vt:lpstr>虚拟数据中心虚拟机失效容忍算法</vt:lpstr>
      <vt:lpstr>虚拟数据中心虚拟机失效容忍算法</vt:lpstr>
      <vt:lpstr>虚拟数据中心虚拟机失效容忍算法</vt:lpstr>
      <vt:lpstr>虚拟数据中心虚拟机失效容忍算法</vt:lpstr>
      <vt:lpstr>仿真结果与分析</vt:lpstr>
      <vt:lpstr>仿真结果与分析</vt:lpstr>
      <vt:lpstr>仿真结果与分析</vt:lpstr>
      <vt:lpstr>仿真结果与分析</vt:lpstr>
      <vt:lpstr>仿真结果与分析</vt:lpstr>
      <vt:lpstr>仿真结果与分析</vt:lpstr>
      <vt:lpstr>仿真结果与分析</vt:lpstr>
      <vt:lpstr>内容小结</vt:lpstr>
    </vt:vector>
  </TitlesOfParts>
  <Manager/>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面向虚拟机失效的可靠虚拟数据中心映射</dc:title>
  <dc:subject/>
  <dc:creator>Blank Space</dc:creator>
  <cp:keywords/>
  <dc:description/>
  <cp:lastModifiedBy>1916344726@qq.com</cp:lastModifiedBy>
  <cp:revision>322</cp:revision>
  <dcterms:created xsi:type="dcterms:W3CDTF">2007-06-24T06:30:24Z</dcterms:created>
  <dcterms:modified xsi:type="dcterms:W3CDTF">2020-12-15T09:40:02Z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2052-10.1.0.6029</vt:lpwstr>
  </property>
</Properties>
</file>